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art-001.svg" ContentType="image/svg+xml"/>
  <Override PartName="/ppt/media/art-002.svg" ContentType="image/svg+xml"/>
  <Override PartName="/ppt/media/art-003.svg" ContentType="image/svg+xml"/>
  <Override PartName="/ppt/media/art-004.svg" ContentType="image/svg+xml"/>
  <Override PartName="/ppt/media/art-005.svg" ContentType="image/svg+xml"/>
  <Override PartName="/ppt/media/art-006.svg" ContentType="image/svg+xml"/>
  <Override PartName="/ppt/media/art-007.svg" ContentType="image/svg+xml"/>
  <Override PartName="/ppt/media/art-008.svg" ContentType="image/svg+xml"/>
  <Override PartName="/ppt/media/art-00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[10초]</a:t>
            </a:r>
          </a:p>
          <a:p>
            <a:r>
              <a:t>안녕하십니까. FloodOps를 발표할 박소영입니다.</a:t>
            </a:r>
          </a:p>
          <a:p>
            <a:r>
              <a:t>FloodOps는 과거 홍수 사건을 지도와 시간축에서 다시 재생하고, 통제나 경보가 몇 분 빨랐다면 무엇이 달라졌을지를 근거와 가정과 함께 보여주는 서비스입니다.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[15초]</a:t>
            </a:r>
          </a:p>
          <a:p>
            <a:r>
              <a:t>발표는 다섯 단계입니다. 왜 «시간»을 보는지와 무엇이 비어 있는지, 기록을 어떻게 연결했고 어떤 숫자가 나왔는지, 무엇을 계산하지 않았는지, 누가 어떤 화면으로 쓰는지, 그리고 검증과 확장입니다.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2023년 7월 15일 아침 오송입니다. 궁평2지하차도에 물이 들어온 08시 27분부터 완전히 잠긴 08시 40분까지 13분이었습니다. 임시제방이 무너진 08시 09분부터 세면 31분, 홍수경보가 난 새벽 4시 10분부터 세면 네 시간 반입니다.</a:t>
            </a:r>
          </a:p>
          <a:p>
            <a:r>
              <a:t>시간은 있었습니다. 문제는 그 시간이 어디에 얼마나 있는지가 당시에는 보이지 않았다는 점입니다. 서울 신림동 반지하, 포항 지하주차장도 같은 질문이 사고 뒤에야 나왔습니다.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[40초]</a:t>
            </a:r>
          </a:p>
          <a:p>
            <a:r>
              <a:t>오송 사건을 일곱 단계로 재구성했습니다. 새벽 4시 10분 홍수경보, 6시 40분 미호강 계획홍수위 도달, 7시 50분 월류, 8시 9분 임시제방 붕괴, 8시 27분 유입, 8시 35분 차량 통행 위험, 8시 40분 완전 침수입니다.</a:t>
            </a:r>
          </a:p>
          <a:p>
            <a:r>
              <a:t>국무조정실은 6시 40분을 통제 요건이 갖춰진 시각으로 봤습니다. 거기서 유입까지 107분, 제방 붕괴에서 유입까지 18분, 유입에서 완전 침수까지 13분입니다. 이 시각들은 재구성 자료라 원문 쪽수 증빙을 보완하는 중입니다.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[30초]</a:t>
            </a:r>
          </a:p>
          <a:p>
            <a:r>
              <a:t>그래서 «언제 막았어야 했나»를 물으면, 비는 기상청, 수위는 홍수통제소, 지형은 DEM과 하천망, 주변 건물은 건물통합정보, 사건 진행은 감찰 발표와 CCTV로 답이 흩어져 있습니다.</a:t>
            </a:r>
          </a:p>
          <a:p>
            <a:r>
              <a:t>기관마다 시간 기준도 다릅니다. 어느 자료도 혼자서는 답하지 못하고, 겹쳐 봐야 비로소 «그때 통제했다면 몇 분이 있었나»가 나옵니다. 병목은 자료가 없는 게 아니라 연결되지 않은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[40초]</a:t>
            </a:r>
          </a:p>
          <a:p>
            <a:r>
              <a:t>그래서 새 모형을 만들기 전에, 있는 기록을 한 시간축과 한 지도에 올렸습니다.</a:t>
            </a:r>
          </a:p>
          <a:p>
            <a:r>
              <a:t>강우와 수위 10분 자료를 사건 시각에 맞추고, 하천·건물·도로·지형은 사건일 기준 스냅샷으로 고정해 출처와 시점을 기록합니다. 사건 7단계에는 출처와 확신도를 붙이고, 관측 수위 상승분을 임계로 하천과 연결된 낮은 셀을 단계마다 고릅니다. 반사실은 통제 시각이나 유입 지연을 바꿔 기록된 시각 사이의 분을 세는 산술입니다.</a:t>
            </a:r>
          </a:p>
          <a:p>
            <a:r>
              <a:t>이 과정이 스크립트로 다시 돌고, 결과는 사건 스냅샷과 화면, API로 나갑니다.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[45초]</a:t>
            </a:r>
          </a:p>
          <a:p>
            <a:r>
              <a:t>첫 번째 결과입니다. 통제 시각 하나만 바꿔 봅니다. 제방이 무너진 8시 9분에 통제했다면 유입 18분 전, 완전 침수 31분 전입니다. 8시 20분이면 7분 전, 8시 25분이면 2분 전, 8시 35분은 이미 유입 8분 뒤입니다.</a:t>
            </a:r>
          </a:p>
          <a:p>
            <a:r>
              <a:t>이 숫자에는 세 가정이 붙습니다. 새 진입만 막는다, 사건 진행은 그대로다, 피해는 세지 않는다. 그래서 이 값을 인명피해 감소로 읽으면 안 되고, 화면에서도 결과와 가정을 항상 같이 보여줍니다.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지도도 같이 움직입니다. 관측 수위 상승분을 임계로, 미호강과 격자로 이어진 낮은 셀만 단계마다 고릅니다. 6시 40분 152개 셀에서 완전 침수 때 352개 셀로 늘어납니다.</a:t>
            </a:r>
          </a:p>
          <a:p>
            <a:r>
              <a:t>다만 마지막 단계가 분석 범위의 38퍼센트를 덮습니다. 이 범위로 침수 건물 수를 세면 근거 없는 숫자가 되므로, 노출 지표로는 쓰지 않고 화면 범례에도 «HAND 근사»라고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[40초]</a:t>
            </a:r>
          </a:p>
          <a:p>
            <a:r>
              <a:t>같은 계산을 네 사례로 넓혔습니다. 오송은 실제 통제가 없었고, 계획홍수위 도달 시각에 통제했다면 유입 107분 전입니다. 서울은 첫 문자가 첫 구조 신고보다 20분 늦었고, 설계강우를 넘은 순간 경보했다면 10분 전입니다. 포항은 7분이 37분으로, 안동은 30분이 50분으로 늘어납니다.</a:t>
            </a:r>
          </a:p>
          <a:p>
            <a:r>
              <a:t>숫자가 큰 사례가 더 잘한 것이 아닙니다. 기준 사건과 근거 수준이 사례마다 달라서, 순위가 아니라 각 사례 안에서의 차이로만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네 사례의 완성도는 같지 않습니다. 오송은 강우·수위 관측과 DEM, 서울은 강우계와 공식 침수흔적이 있지만 포항·안동은 보도 시각과 OSM뿐입니다.</a:t>
            </a:r>
          </a:p>
          <a:p>
            <a:r>
              <a:t>그래서 화면도 자료 수준만큼만 보여줍니다. 관측이 없으면 «보도 순서»라고 적고, 익산처럼 시각 근거조차 없으면 목록에 두되 잠급니다. 관측이 연결되는 순간 같은 규칙으로 올라갑니다.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[40초]</a:t>
            </a:r>
          </a:p>
          <a:p>
            <a:r>
              <a:t>근거와 한계입니다. 저희는 계산하지 않을 것을 먼저 정했습니다.</a:t>
            </a:r>
          </a:p>
          <a:p>
            <a:r>
              <a:t>공식 침수범위가 없어서 침수 건물 수 같은 노출 지표를 내지 않습니다. 사망자나 피해액을 묻는 질문은 Agent가 모델을 부르기 전에 거절합니다. 서울의 지형 띠는 공식 침수흔적과 대조하니 회랑 평균과 같아서, 재생용 도식으로만 두고 근거로는 쓰지 않습니다.</a:t>
            </a:r>
          </a:p>
          <a:p>
            <a:r>
              <a:t>대신 자료 품질 이슈 열두 건을 문서로 관리하고, API와 화면이 상태값을 같이 돌려줍니다.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[25초]</a:t>
            </a:r>
          </a:p>
          <a:p>
            <a:r>
              <a:t>이것이 출처·한계 화면입니다. 자료 일곱 개의 역할과 출처, 자료 시점을 사건 연도와 분리해 보여주고, 재구성의 한계 다섯 개를 같이 둡니다. 사건 단계마다 관측인지 보도인지 확신도가 붙고, API 응답에도 같은 상태값이 들어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[45초]</a:t>
            </a:r>
          </a:p>
          <a:p>
            <a:r>
              <a:t>Agent의 역할은 계산이 아니라 선택입니다. 질문이 들어오면 먼저 사망자·피해액 같은 질문을 거절하고, 사례에 등록된 도구 중 하나를 골라 값을 뽑습니다. 서버가 그 값을 다시 검증한 뒤 분석 API와 같은 결정론 함수를 부르고, 어떤 도구를 어떤 입력으로 불렀는지 근거와 함께 답합니다.</a:t>
            </a:r>
          </a:p>
          <a:p>
            <a:r>
              <a:t>포항 질문은 37분, 45분으로 답하고, 제방을 올리면 어떻게 되냐는 질문은 자료가 없다고 말하며 대안을 제안합니다. 모델이 숫자를 지어내지 못하게 값의 출처를 제한한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[40초]</a:t>
            </a:r>
          </a:p>
          <a:p>
            <a:r>
              <a:t>서비스는 공개 주소에서 바로 열립니다. 화면은 넷입니다. 사례 선택과 사례 간 비교, 관제 화면, 시나리오 비교, 출처·한계입니다.</a:t>
            </a:r>
          </a:p>
          <a:p>
            <a:r>
              <a:t>구성은 단순합니다. 브라우저는 React와 MapLibre로 그리고, 서버는 FastAPI 하나를 EC2 한 대의 컨테이너로 돌립니다. 사건 자료는 출처와 시점을 기록한 스냅샷이고, Agent는 도구 선택만 맡습니다. 지도 레이어는 필요한 속성만 보내 1메가 안팎으로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관제 화면입니다. 왼쪽 위에 대응 시점과 공간 상태가 판단 우선순위로 먼저 보이고, 아래에 사건 7단계가 출처와 확신도와 함께 있습니다. 단계를 바꾸면 지도의 붉은 셀이 바뀌고, 오른쪽에는 그 셀의 단면과 관측 수위, HAND 임계가 보입니다. 위쪽 Agent 입력창에서 바로 질문할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[30초]</a:t>
            </a:r>
          </a:p>
          <a:p>
            <a:r>
              <a:t>시나리오 비교 화면입니다. 왼쪽이 관측된 사건 경과, 오른쪽이 가정한 통제 시각입니다. 슬라이더나 사건 단계 버튼으로 8시 9분을 고르면 «18분 전 통제»와 함께, 가정에서 바꾸는 것과 그대로인 기록이 세 칸으로 나뉘어 보입니다. 아래 공간 비교는 같은 단계의 두 지도를 두고 침수 진행이 바뀌지 않음을 보여줍니다.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[30초]</a:t>
            </a:r>
          </a:p>
          <a:p>
            <a:r>
              <a:t>다른 사례도 같은 틀입니다. 세 사례 모두 하천을 따라 넓어졌다 줄어드는 붉은 띠로 단계를 보여주고, 서울은 그 위에 공식 침수흔적을 설계강우를 넘은 뒤 깊은 곳부터 드러냅니다. 띠의 근거는 서울은 강우 비율, 포항·안동은 보도 순서이며 범례에 그렇게 적습니다. 시나리오 비교 탭은 같은 자리에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같은 결과를 세 업무가 다르게 씁니다. 지자체 재난·도로 담당은 훈련과 통제 기준 검토에, 사후 검토와 감사는 사건 재구성과 근거 추적에, 교육과 연구는 사례 비교와 확장에 씁니다.</a:t>
            </a:r>
          </a:p>
          <a:p>
            <a:r>
              <a:t>어디까지나 과거 사건으로 «언제»를 반복 검토하는 도구이고, 인터뷰와 파일럿은 아직 계획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검증한 것만 숫자로 적었습니다. 백엔드 테스트 154개, 브라우저 E2E 9개가 통과하고, 다섯 사례 중 넷이 관제 가능합니다. 분석 API와 화면, 공개 서버, 오류 상태는 확인했습니다.</a:t>
            </a:r>
          </a:p>
          <a:p>
            <a:r>
              <a:t>아직인 것도 분명합니다. Agent의 실제 모델 성공률, 사건 시각의 원문 증빙, 실무 효과는 측정 전입니다.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지속성입니다. 자료가 갱신되면 처리 스크립트가 스냅샷을 다시 만들고, 검증 JSON에 셀 수와 면적을 남기고, 테스트와 빌드를 거쳐 배포합니다.</a:t>
            </a:r>
          </a:p>
          <a:p>
            <a:r>
              <a:t>자료 아홉 종의 출처와 시점, 해시는 매니페스트에, 자료 품질 이슈는 번호를 붙여 문서에 둡니다. 서버는 한 대이고 요청마다 모형을 돌리지 않아 운영비가 낮습니다.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확장입니다. 사례 하나를 더하는 계약이 정해져 있습니다. 사건 단계, 개입, 레이어, 상태 네 가지만 맞추면 같은 화면과 Agent가 동작합니다. 10월 3일에 이 계약으로 서울·포항·안동 세 사례를 추가했고, 익산은 자료가 없어 잠가 두었습니다.</a:t>
            </a:r>
          </a:p>
          <a:p>
            <a:r>
              <a:t>관측이 붙으면 사례가 올라가고, 초점 시설을 바꾸면 대상이 넓어지고, API와 Agent 도구로 다른 시스템이 같은 계산을 가져갈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[20초]</a:t>
            </a:r>
          </a:p>
          <a:p>
            <a:r>
              <a:t>정리하겠습니다. 저희는 새 모형을 만들기 전에 흩어진 기록을 한 시간축과 한 지도에 올렸습니다. 제방이 무너진 시점에 통제했다면 유입 전 18분이 있었습니다. 피해가 얼마나 줄었는지는 말하지 않지만, 몇 분이 어디에 있었는지는 보여줄 수 있습니다.</a:t>
            </a:r>
          </a:p>
          <a:p>
            <a:r>
              <a:t>물이 들어오기 전에 몇 분이 있었는지, 그 질문을 반복해서 검토하는 데 쓰이기를 바랍니다.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백업]</a:t>
            </a:r>
          </a:p>
          <a:p>
            <a:r>
              <a:t>자료 출처와 이용 조건을 묻는 질문에 이 장을 띄웁니다. 자료별 SHA-256과 취득일은 매니페스트에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백업]</a:t>
            </a:r>
          </a:p>
          <a:p>
            <a:r>
              <a:t>장마다 쓴 자료와 화면 캡처의 기준을 모았습니다.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art-001.sv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art-002.sv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art-003.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art-004.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art-005.svg"/><Relationship Id="rId4" Type="http://schemas.openxmlformats.org/officeDocument/2006/relationships/image" Target="../media/image11.png"/><Relationship Id="rId5" Type="http://schemas.openxmlformats.org/officeDocument/2006/relationships/image" Target="../media/art-006.svg"/><Relationship Id="rId6" Type="http://schemas.openxmlformats.org/officeDocument/2006/relationships/image" Target="../media/image12.png"/><Relationship Id="rId7" Type="http://schemas.openxmlformats.org/officeDocument/2006/relationships/image" Target="../media/art-007.svg"/><Relationship Id="rId8" Type="http://schemas.openxmlformats.org/officeDocument/2006/relationships/image" Target="../media/image3.png"/><Relationship Id="rId9" Type="http://schemas.openxmlformats.org/officeDocument/2006/relationships/image" Target="../media/art-008.svg"/><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art-009.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D1A"/>
        </a:solidFill>
        <a:effectLst/>
      </p:bgPr>
    </p:bg>
    <p:spTree>
      <p:nvGrpSpPr>
        <p:cNvPr id="1" name=""/>
        <p:cNvGrpSpPr/>
        <p:nvPr/>
      </p:nvGrpSpPr>
      <p:grpSpPr/>
      <p:sp>
        <p:nvSpPr>
          <p:cNvPr id="2" name="Oval 1"/>
          <p:cNvSpPr/>
          <p:nvPr/>
        </p:nvSpPr>
        <p:spPr>
          <a:xfrm>
            <a:off x="754380" y="1074420"/>
            <a:ext cx="76200" cy="76200"/>
          </a:xfrm>
          <a:prstGeom prst="ellipse">
            <a:avLst/>
          </a:prstGeom>
          <a:solidFill>
            <a:srgbClr val="991B1B"/>
          </a:solidFill>
          <a:ln>
            <a:noFill/>
          </a:ln>
        </p:spPr>
        <p:txBody>
          <a:bodyPr rtlCol="0" anchor="ctr"/>
          <a:lstStyle/>
          <a:p>
            <a:pPr algn="ctr"/>
          </a:p>
        </p:txBody>
      </p:sp>
      <p:sp>
        <p:nvSpPr>
          <p:cNvPr id="3" name="글 FloodOps 최종발표 · 홍수 대응 의사"/>
          <p:cNvSpPr txBox="1"/>
          <p:nvPr/>
        </p:nvSpPr>
        <p:spPr>
          <a:xfrm>
            <a:off x="914400" y="1026566"/>
            <a:ext cx="3165866" cy="205740"/>
          </a:xfrm>
          <a:prstGeom prst="rect">
            <a:avLst/>
          </a:prstGeom>
          <a:noFill/>
        </p:spPr>
        <p:txBody>
          <a:bodyPr wrap="none" anchor="t" lIns="0" rIns="0" tIns="0" bIns="0">
            <a:noAutofit/>
          </a:bodyPr>
          <a:lstStyle/>
          <a:p>
            <a:pPr algn="l" eaLnBrk="0" latinLnBrk="0"/>
            <a:r>
              <a:rPr sz="1080" b="1">
                <a:solidFill>
                  <a:srgbClr val="AEBBCB"/>
                </a:solidFill>
                <a:latin typeface="Noto Sans KR"/>
                <a:ea typeface="Noto Sans KR"/>
                <a:cs typeface="Noto Sans KR"/>
              </a:rPr>
              <a:t>FloodOps 최종발표 · 홍수 대응 의사결정 디지털 트윈</a:t>
            </a:r>
          </a:p>
        </p:txBody>
      </p:sp>
      <p:sp>
        <p:nvSpPr>
          <p:cNvPr id="4" name="글 FloodOps"/>
          <p:cNvSpPr txBox="1"/>
          <p:nvPr/>
        </p:nvSpPr>
        <p:spPr>
          <a:xfrm>
            <a:off x="731520" y="1464259"/>
            <a:ext cx="3804818" cy="1188720"/>
          </a:xfrm>
          <a:prstGeom prst="rect">
            <a:avLst/>
          </a:prstGeom>
          <a:noFill/>
        </p:spPr>
        <p:txBody>
          <a:bodyPr wrap="none" anchor="t" lIns="0" rIns="0" tIns="0" bIns="0">
            <a:noAutofit/>
          </a:bodyPr>
          <a:lstStyle/>
          <a:p>
            <a:pPr algn="l" eaLnBrk="0" latinLnBrk="0"/>
            <a:r>
              <a:rPr sz="6240" b="1">
                <a:solidFill>
                  <a:srgbClr val="FFFFFF"/>
                </a:solidFill>
                <a:latin typeface="Noto Sans KR"/>
                <a:ea typeface="Noto Sans KR"/>
                <a:cs typeface="Noto Sans KR"/>
              </a:rPr>
              <a:t>FloodOps</a:t>
            </a:r>
          </a:p>
        </p:txBody>
      </p:sp>
      <p:sp>
        <p:nvSpPr>
          <p:cNvPr id="5" name="글 과거 홍수를 재생하고, 대응 시점을 비교합니"/>
          <p:cNvSpPr txBox="1"/>
          <p:nvPr/>
        </p:nvSpPr>
        <p:spPr>
          <a:xfrm>
            <a:off x="762000" y="2509723"/>
            <a:ext cx="4983175" cy="388620"/>
          </a:xfrm>
          <a:prstGeom prst="rect">
            <a:avLst/>
          </a:prstGeom>
          <a:noFill/>
        </p:spPr>
        <p:txBody>
          <a:bodyPr wrap="none" anchor="t" lIns="0" rIns="0" tIns="0" bIns="0">
            <a:noAutofit/>
          </a:bodyPr>
          <a:lstStyle/>
          <a:p>
            <a:pPr algn="l" eaLnBrk="0" latinLnBrk="0"/>
            <a:r>
              <a:rPr sz="2039" b="1">
                <a:solidFill>
                  <a:srgbClr val="E2E8F0"/>
                </a:solidFill>
                <a:latin typeface="Noto Sans KR"/>
                <a:ea typeface="Noto Sans KR"/>
                <a:cs typeface="Noto Sans KR"/>
              </a:rPr>
              <a:t>과거 홍수를 재생하고, 대응 시점을 비교합니다</a:t>
            </a:r>
          </a:p>
        </p:txBody>
      </p:sp>
      <p:sp>
        <p:nvSpPr>
          <p:cNvPr id="6" name="글 관측·공간·사건 기록을 한 시간축과 한 지도"/>
          <p:cNvSpPr txBox="1"/>
          <p:nvPr/>
        </p:nvSpPr>
        <p:spPr>
          <a:xfrm>
            <a:off x="762000" y="3079090"/>
            <a:ext cx="3574176" cy="854964"/>
          </a:xfrm>
          <a:prstGeom prst="rect">
            <a:avLst/>
          </a:prstGeom>
          <a:noFill/>
        </p:spPr>
        <p:txBody>
          <a:bodyPr wrap="none" anchor="t" lIns="0" rIns="0" tIns="0" bIns="0">
            <a:noAutofit/>
          </a:bodyPr>
          <a:lstStyle/>
          <a:p>
            <a:pPr algn="l" eaLnBrk="0" latinLnBrk="0">
              <a:lnSpc>
                <a:spcPct val="133333"/>
              </a:lnSpc>
            </a:pPr>
            <a:r>
              <a:rPr sz="1320" b="0">
                <a:solidFill>
                  <a:srgbClr val="9DB2C6"/>
                </a:solidFill>
                <a:latin typeface="Noto Sans KR"/>
                <a:ea typeface="Noto Sans KR"/>
                <a:cs typeface="Noto Sans KR"/>
              </a:rPr>
              <a:t>관측·공간·사건 기록을 한 시간축과 한 지도에 올려</a:t>
            </a:r>
          </a:p>
          <a:p>
            <a:pPr algn="l" eaLnBrk="0" latinLnBrk="0">
              <a:lnSpc>
                <a:spcPct val="133333"/>
              </a:lnSpc>
            </a:pPr>
            <a:r>
              <a:rPr sz="1320" b="0">
                <a:solidFill>
                  <a:srgbClr val="9DB2C6"/>
                </a:solidFill>
                <a:latin typeface="Noto Sans KR"/>
                <a:ea typeface="Noto Sans KR"/>
                <a:cs typeface="Noto Sans KR"/>
              </a:rPr>
              <a:t>통제가 몇 분 빨랐다면 무엇이 달라졌을지</a:t>
            </a:r>
          </a:p>
          <a:p>
            <a:pPr algn="l" eaLnBrk="0" latinLnBrk="0">
              <a:lnSpc>
                <a:spcPct val="133333"/>
              </a:lnSpc>
            </a:pPr>
            <a:r>
              <a:rPr sz="1320" b="0">
                <a:solidFill>
                  <a:srgbClr val="9DB2C6"/>
                </a:solidFill>
                <a:latin typeface="Noto Sans KR"/>
                <a:ea typeface="Noto Sans KR"/>
                <a:cs typeface="Noto Sans KR"/>
              </a:rPr>
              <a:t>근거와 가정을 함께 보여주는 서비스입니다</a:t>
            </a:r>
          </a:p>
        </p:txBody>
      </p:sp>
      <p:sp>
        <p:nvSpPr>
          <p:cNvPr id="7" name="Rounded Rectangle 6"/>
          <p:cNvSpPr/>
          <p:nvPr/>
        </p:nvSpPr>
        <p:spPr>
          <a:xfrm>
            <a:off x="762000" y="4663440"/>
            <a:ext cx="1798320" cy="289560"/>
          </a:xfrm>
          <a:prstGeom prst="roundRect">
            <a:avLst>
              <a:gd name="adj" fmla="val 50000"/>
            </a:avLst>
          </a:prstGeom>
          <a:noFill/>
          <a:ln w="11430">
            <a:solidFill>
              <a:srgbClr val="991B1B"/>
            </a:solidFill>
          </a:ln>
        </p:spPr>
        <p:txBody>
          <a:bodyPr rtlCol="0" anchor="ctr"/>
          <a:lstStyle/>
          <a:p>
            <a:pPr algn="ctr"/>
          </a:p>
        </p:txBody>
      </p:sp>
      <p:sp>
        <p:nvSpPr>
          <p:cNvPr id="8" name="글 반사실 사건 디지털 트윈"/>
          <p:cNvSpPr txBox="1"/>
          <p:nvPr/>
        </p:nvSpPr>
        <p:spPr>
          <a:xfrm>
            <a:off x="983068" y="4737202"/>
            <a:ext cx="1356185" cy="194310"/>
          </a:xfrm>
          <a:prstGeom prst="rect">
            <a:avLst/>
          </a:prstGeom>
          <a:noFill/>
        </p:spPr>
        <p:txBody>
          <a:bodyPr wrap="none" anchor="t" lIns="0" rIns="0" tIns="0" bIns="0">
            <a:noAutofit/>
          </a:bodyPr>
          <a:lstStyle/>
          <a:p>
            <a:pPr algn="ctr" eaLnBrk="0" latinLnBrk="0"/>
            <a:r>
              <a:rPr sz="1019" b="1">
                <a:solidFill>
                  <a:srgbClr val="F87171"/>
                </a:solidFill>
                <a:latin typeface="Noto Sans KR"/>
                <a:ea typeface="Noto Sans KR"/>
                <a:cs typeface="Noto Sans KR"/>
              </a:rPr>
              <a:t>반사실 사건 디지털 트윈</a:t>
            </a:r>
          </a:p>
        </p:txBody>
      </p:sp>
      <p:sp>
        <p:nvSpPr>
          <p:cNvPr id="9" name="글 팀 「만약에, 침수」 · 발표 박소영"/>
          <p:cNvSpPr txBox="1"/>
          <p:nvPr/>
        </p:nvSpPr>
        <p:spPr>
          <a:xfrm>
            <a:off x="762000" y="5280965"/>
            <a:ext cx="2883957" cy="297180"/>
          </a:xfrm>
          <a:prstGeom prst="rect">
            <a:avLst/>
          </a:prstGeom>
          <a:noFill/>
        </p:spPr>
        <p:txBody>
          <a:bodyPr wrap="none" anchor="t" lIns="0" rIns="0" tIns="0" bIns="0">
            <a:noAutofit/>
          </a:bodyPr>
          <a:lstStyle/>
          <a:p>
            <a:pPr algn="l" eaLnBrk="0" latinLnBrk="0"/>
            <a:r>
              <a:rPr sz="1560" b="1">
                <a:solidFill>
                  <a:srgbClr val="FFFFFF"/>
                </a:solidFill>
                <a:latin typeface="Noto Sans KR"/>
                <a:ea typeface="Noto Sans KR"/>
                <a:cs typeface="Noto Sans KR"/>
              </a:rPr>
              <a:t>팀 「만약에, 침수」 · 발표 박소영</a:t>
            </a:r>
          </a:p>
        </p:txBody>
      </p:sp>
      <p:sp>
        <p:nvSpPr>
          <p:cNvPr id="10" name="글 최종발표 · 2026. 12."/>
          <p:cNvSpPr txBox="1"/>
          <p:nvPr/>
        </p:nvSpPr>
        <p:spPr>
          <a:xfrm>
            <a:off x="762000" y="5621731"/>
            <a:ext cx="1350119" cy="217170"/>
          </a:xfrm>
          <a:prstGeom prst="rect">
            <a:avLst/>
          </a:prstGeom>
          <a:noFill/>
        </p:spPr>
        <p:txBody>
          <a:bodyPr wrap="none" anchor="t" lIns="0" rIns="0" tIns="0" bIns="0">
            <a:noAutofit/>
          </a:bodyPr>
          <a:lstStyle/>
          <a:p>
            <a:pPr algn="l" eaLnBrk="0" latinLnBrk="0"/>
            <a:r>
              <a:rPr sz="1140" b="0">
                <a:solidFill>
                  <a:srgbClr val="8FA0B3"/>
                </a:solidFill>
                <a:latin typeface="Noto Sans KR"/>
                <a:ea typeface="Noto Sans KR"/>
                <a:cs typeface="Noto Sans KR"/>
              </a:rPr>
              <a:t>최종발표 · 2026. 12.</a:t>
            </a:r>
          </a:p>
        </p:txBody>
      </p:sp>
      <p:sp>
        <p:nvSpPr>
          <p:cNvPr id="11" name="글 floodops.duckdns.org"/>
          <p:cNvSpPr txBox="1"/>
          <p:nvPr/>
        </p:nvSpPr>
        <p:spPr>
          <a:xfrm>
            <a:off x="762000" y="6072226"/>
            <a:ext cx="1895094" cy="251460"/>
          </a:xfrm>
          <a:prstGeom prst="rect">
            <a:avLst/>
          </a:prstGeom>
          <a:noFill/>
        </p:spPr>
        <p:txBody>
          <a:bodyPr wrap="none" anchor="t" lIns="0" rIns="0" tIns="0" bIns="0">
            <a:noAutofit/>
          </a:bodyPr>
          <a:lstStyle/>
          <a:p>
            <a:pPr algn="l" eaLnBrk="0" latinLnBrk="0"/>
            <a:r>
              <a:rPr sz="1320" b="1">
                <a:solidFill>
                  <a:srgbClr val="F87171"/>
                </a:solidFill>
                <a:latin typeface="Noto Sans KR"/>
                <a:ea typeface="Noto Sans KR"/>
                <a:cs typeface="Noto Sans KR"/>
              </a:rPr>
              <a:t>floodops.duckdns.org</a:t>
            </a:r>
          </a:p>
        </p:txBody>
      </p:sp>
      <p:pic>
        <p:nvPicPr>
          <p:cNvPr id="12" name="사건 단계 재생 패널" descr="01-cover-1.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05600" y="685800"/>
            <a:ext cx="4876800" cy="5486400"/>
          </a:xfrm>
          <a:prstGeom prst="rect">
            <a:avLst/>
          </a:prstGeom>
        </p:spPr>
      </p:pic>
      <p:sp>
        <p:nvSpPr>
          <p:cNvPr id="13" name="글 STAGE REPLAY"/>
          <p:cNvSpPr txBox="1"/>
          <p:nvPr/>
        </p:nvSpPr>
        <p:spPr>
          <a:xfrm>
            <a:off x="6949440" y="834542"/>
            <a:ext cx="790621" cy="148590"/>
          </a:xfrm>
          <a:prstGeom prst="rect">
            <a:avLst/>
          </a:prstGeom>
          <a:noFill/>
        </p:spPr>
        <p:txBody>
          <a:bodyPr wrap="none" anchor="t" lIns="0" rIns="0" tIns="0" bIns="0">
            <a:noAutofit/>
          </a:bodyPr>
          <a:lstStyle/>
          <a:p>
            <a:pPr algn="l" eaLnBrk="0" latinLnBrk="0"/>
            <a:r>
              <a:rPr sz="780" b="1">
                <a:solidFill>
                  <a:srgbClr val="F87171"/>
                </a:solidFill>
                <a:latin typeface="Noto Sans KR"/>
                <a:ea typeface="Noto Sans KR"/>
                <a:cs typeface="Noto Sans KR"/>
              </a:rPr>
              <a:t>STAGE REPLAY</a:t>
            </a:r>
          </a:p>
        </p:txBody>
      </p:sp>
      <p:sp>
        <p:nvSpPr>
          <p:cNvPr id="14" name="글 사건 단계 재생 · 2023 오송 궁평2지하"/>
          <p:cNvSpPr txBox="1"/>
          <p:nvPr/>
        </p:nvSpPr>
        <p:spPr>
          <a:xfrm>
            <a:off x="6949440" y="988162"/>
            <a:ext cx="2379939" cy="194310"/>
          </a:xfrm>
          <a:prstGeom prst="rect">
            <a:avLst/>
          </a:prstGeom>
          <a:noFill/>
        </p:spPr>
        <p:txBody>
          <a:bodyPr wrap="none" anchor="t" lIns="0" rIns="0" tIns="0" bIns="0">
            <a:noAutofit/>
          </a:bodyPr>
          <a:lstStyle/>
          <a:p>
            <a:pPr algn="l" eaLnBrk="0" latinLnBrk="0"/>
            <a:r>
              <a:rPr sz="1019" b="1">
                <a:solidFill>
                  <a:srgbClr val="E2E8F0"/>
                </a:solidFill>
                <a:latin typeface="Noto Sans KR"/>
                <a:ea typeface="Noto Sans KR"/>
                <a:cs typeface="Noto Sans KR"/>
              </a:rPr>
              <a:t>사건 단계 재생 · 2023 오송 궁평2지하차도</a:t>
            </a:r>
          </a:p>
        </p:txBody>
      </p:sp>
      <p:sp>
        <p:nvSpPr>
          <p:cNvPr id="15" name="글 OSONG · HAND"/>
          <p:cNvSpPr txBox="1"/>
          <p:nvPr/>
        </p:nvSpPr>
        <p:spPr>
          <a:xfrm>
            <a:off x="10599603" y="1024738"/>
            <a:ext cx="738957" cy="137160"/>
          </a:xfrm>
          <a:prstGeom prst="rect">
            <a:avLst/>
          </a:prstGeom>
          <a:noFill/>
        </p:spPr>
        <p:txBody>
          <a:bodyPr wrap="none" anchor="t" lIns="0" rIns="0" tIns="0" bIns="0">
            <a:noAutofit/>
          </a:bodyPr>
          <a:lstStyle/>
          <a:p>
            <a:pPr algn="r" eaLnBrk="0" latinLnBrk="0"/>
            <a:r>
              <a:rPr sz="719" b="0">
                <a:solidFill>
                  <a:srgbClr val="6F8197"/>
                </a:solidFill>
                <a:latin typeface="Noto Sans KR"/>
                <a:ea typeface="Noto Sans KR"/>
                <a:cs typeface="Noto Sans KR"/>
              </a:rPr>
              <a:t>OSONG · HAND</a:t>
            </a:r>
          </a:p>
        </p:txBody>
      </p:sp>
      <p:sp>
        <p:nvSpPr>
          <p:cNvPr id="16" name="글 궁평2지하차도"/>
          <p:cNvSpPr txBox="1"/>
          <p:nvPr/>
        </p:nvSpPr>
        <p:spPr>
          <a:xfrm>
            <a:off x="7537399" y="3188665"/>
            <a:ext cx="728015" cy="160020"/>
          </a:xfrm>
          <a:prstGeom prst="rect">
            <a:avLst/>
          </a:prstGeom>
          <a:noFill/>
        </p:spPr>
        <p:txBody>
          <a:bodyPr wrap="none" anchor="t" lIns="0" rIns="0" tIns="0" bIns="0">
            <a:noAutofit/>
          </a:bodyPr>
          <a:lstStyle/>
          <a:p>
            <a:pPr algn="r" eaLnBrk="0" latinLnBrk="0"/>
            <a:r>
              <a:rPr sz="840" b="1">
                <a:solidFill>
                  <a:srgbClr val="FFFFFF"/>
                </a:solidFill>
                <a:latin typeface="Noto Sans KR"/>
                <a:ea typeface="Noto Sans KR"/>
                <a:cs typeface="Noto Sans KR"/>
              </a:rPr>
              <a:t>궁평2지하차도</a:t>
            </a:r>
          </a:p>
        </p:txBody>
      </p:sp>
      <p:sp>
        <p:nvSpPr>
          <p:cNvPr id="17" name="글 미호강"/>
          <p:cNvSpPr txBox="1"/>
          <p:nvPr/>
        </p:nvSpPr>
        <p:spPr>
          <a:xfrm>
            <a:off x="10789920" y="1650187"/>
            <a:ext cx="370637" cy="160020"/>
          </a:xfrm>
          <a:prstGeom prst="rect">
            <a:avLst/>
          </a:prstGeom>
          <a:noFill/>
        </p:spPr>
        <p:txBody>
          <a:bodyPr wrap="none" anchor="t" lIns="0" rIns="0" tIns="0" bIns="0">
            <a:noAutofit/>
          </a:bodyPr>
          <a:lstStyle/>
          <a:p>
            <a:pPr algn="l" eaLnBrk="0" latinLnBrk="0"/>
            <a:r>
              <a:rPr sz="840" b="1">
                <a:solidFill>
                  <a:srgbClr val="7DD3FC"/>
                </a:solidFill>
                <a:latin typeface="Noto Sans KR"/>
                <a:ea typeface="Noto Sans KR"/>
                <a:cs typeface="Noto Sans KR"/>
              </a:rPr>
              <a:t>미호강</a:t>
            </a:r>
          </a:p>
        </p:txBody>
      </p:sp>
      <p:sp>
        <p:nvSpPr>
          <p:cNvPr id="18" name="글 04:10"/>
          <p:cNvSpPr txBox="1"/>
          <p:nvPr/>
        </p:nvSpPr>
        <p:spPr>
          <a:xfrm>
            <a:off x="70866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04:10</a:t>
            </a:r>
          </a:p>
        </p:txBody>
      </p:sp>
      <p:sp>
        <p:nvSpPr>
          <p:cNvPr id="19" name="글 06:40"/>
          <p:cNvSpPr txBox="1"/>
          <p:nvPr/>
        </p:nvSpPr>
        <p:spPr>
          <a:xfrm>
            <a:off x="79248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06:40</a:t>
            </a:r>
          </a:p>
        </p:txBody>
      </p:sp>
      <p:sp>
        <p:nvSpPr>
          <p:cNvPr id="20" name="글 07:50"/>
          <p:cNvSpPr txBox="1"/>
          <p:nvPr/>
        </p:nvSpPr>
        <p:spPr>
          <a:xfrm>
            <a:off x="90678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07:50</a:t>
            </a:r>
          </a:p>
        </p:txBody>
      </p:sp>
      <p:sp>
        <p:nvSpPr>
          <p:cNvPr id="21" name="글 08:09"/>
          <p:cNvSpPr txBox="1"/>
          <p:nvPr/>
        </p:nvSpPr>
        <p:spPr>
          <a:xfrm>
            <a:off x="96012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08:09</a:t>
            </a:r>
          </a:p>
        </p:txBody>
      </p:sp>
      <p:sp>
        <p:nvSpPr>
          <p:cNvPr id="22" name="글 08:27"/>
          <p:cNvSpPr txBox="1"/>
          <p:nvPr/>
        </p:nvSpPr>
        <p:spPr>
          <a:xfrm>
            <a:off x="10202342" y="5352898"/>
            <a:ext cx="321716" cy="137160"/>
          </a:xfrm>
          <a:prstGeom prst="rect">
            <a:avLst/>
          </a:prstGeom>
          <a:noFill/>
        </p:spPr>
        <p:txBody>
          <a:bodyPr wrap="none" anchor="t" lIns="0" rIns="0" tIns="0" bIns="0">
            <a:noAutofit/>
          </a:bodyPr>
          <a:lstStyle/>
          <a:p>
            <a:pPr algn="ctr" eaLnBrk="0" latinLnBrk="0"/>
            <a:r>
              <a:rPr sz="719" b="1">
                <a:solidFill>
                  <a:srgbClr val="F87171"/>
                </a:solidFill>
                <a:latin typeface="Noto Sans KR"/>
                <a:ea typeface="Noto Sans KR"/>
                <a:cs typeface="Noto Sans KR"/>
              </a:rPr>
              <a:t>08:27</a:t>
            </a:r>
          </a:p>
        </p:txBody>
      </p:sp>
      <p:sp>
        <p:nvSpPr>
          <p:cNvPr id="23" name="글 08:35"/>
          <p:cNvSpPr txBox="1"/>
          <p:nvPr/>
        </p:nvSpPr>
        <p:spPr>
          <a:xfrm>
            <a:off x="105156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08:35</a:t>
            </a:r>
          </a:p>
        </p:txBody>
      </p:sp>
      <p:sp>
        <p:nvSpPr>
          <p:cNvPr id="24" name="글 08:40"/>
          <p:cNvSpPr txBox="1"/>
          <p:nvPr/>
        </p:nvSpPr>
        <p:spPr>
          <a:xfrm>
            <a:off x="108966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08:40</a:t>
            </a:r>
          </a:p>
        </p:txBody>
      </p:sp>
      <p:sp>
        <p:nvSpPr>
          <p:cNvPr id="25" name="글 지하차도 유입 시작 · 08:27"/>
          <p:cNvSpPr txBox="1"/>
          <p:nvPr/>
        </p:nvSpPr>
        <p:spPr>
          <a:xfrm>
            <a:off x="7239000" y="4850587"/>
            <a:ext cx="1307821" cy="160020"/>
          </a:xfrm>
          <a:prstGeom prst="rect">
            <a:avLst/>
          </a:prstGeom>
          <a:noFill/>
        </p:spPr>
        <p:txBody>
          <a:bodyPr wrap="none" anchor="t" lIns="0" rIns="0" tIns="0" bIns="0">
            <a:noAutofit/>
          </a:bodyPr>
          <a:lstStyle/>
          <a:p>
            <a:pPr algn="l" eaLnBrk="0" latinLnBrk="0"/>
            <a:r>
              <a:rPr sz="840" b="1">
                <a:solidFill>
                  <a:srgbClr val="E2E8F0"/>
                </a:solidFill>
                <a:latin typeface="Noto Sans KR"/>
                <a:ea typeface="Noto Sans KR"/>
                <a:cs typeface="Noto Sans KR"/>
              </a:rPr>
              <a:t>지하차도 유입 시작 · 08:27</a:t>
            </a:r>
          </a:p>
        </p:txBody>
      </p:sp>
      <p:sp>
        <p:nvSpPr>
          <p:cNvPr id="26" name="글 완전 침수까지 13분"/>
          <p:cNvSpPr txBox="1"/>
          <p:nvPr/>
        </p:nvSpPr>
        <p:spPr>
          <a:xfrm>
            <a:off x="10111466" y="4850587"/>
            <a:ext cx="937534" cy="160020"/>
          </a:xfrm>
          <a:prstGeom prst="rect">
            <a:avLst/>
          </a:prstGeom>
          <a:noFill/>
        </p:spPr>
        <p:txBody>
          <a:bodyPr wrap="none" anchor="t" lIns="0" rIns="0" tIns="0" bIns="0">
            <a:noAutofit/>
          </a:bodyPr>
          <a:lstStyle/>
          <a:p>
            <a:pPr algn="r" eaLnBrk="0" latinLnBrk="0"/>
            <a:r>
              <a:rPr sz="840" b="1">
                <a:solidFill>
                  <a:srgbClr val="F87171"/>
                </a:solidFill>
                <a:latin typeface="Noto Sans KR"/>
                <a:ea typeface="Noto Sans KR"/>
                <a:cs typeface="Noto Sans KR"/>
              </a:rPr>
              <a:t>완전 침수까지 13분</a:t>
            </a:r>
          </a:p>
        </p:txBody>
      </p:sp>
      <p:sp>
        <p:nvSpPr>
          <p:cNvPr id="27" name="글 침수 추정 범위(HAND 근사)"/>
          <p:cNvSpPr txBox="1"/>
          <p:nvPr/>
        </p:nvSpPr>
        <p:spPr>
          <a:xfrm>
            <a:off x="7330440" y="5757062"/>
            <a:ext cx="1210932" cy="148590"/>
          </a:xfrm>
          <a:prstGeom prst="rect">
            <a:avLst/>
          </a:prstGeom>
          <a:noFill/>
        </p:spPr>
        <p:txBody>
          <a:bodyPr wrap="none" anchor="t" lIns="0" rIns="0" tIns="0" bIns="0">
            <a:noAutofit/>
          </a:bodyPr>
          <a:lstStyle/>
          <a:p>
            <a:pPr algn="l" eaLnBrk="0" latinLnBrk="0"/>
            <a:r>
              <a:rPr sz="780" b="0">
                <a:solidFill>
                  <a:srgbClr val="AEBBCB"/>
                </a:solidFill>
                <a:latin typeface="Noto Sans KR"/>
                <a:ea typeface="Noto Sans KR"/>
                <a:cs typeface="Noto Sans KR"/>
              </a:rPr>
              <a:t>침수 추정 범위(HAND 근사)</a:t>
            </a:r>
          </a:p>
        </p:txBody>
      </p:sp>
      <p:sp>
        <p:nvSpPr>
          <p:cNvPr id="28" name="글 관측 수위 기준 하천"/>
          <p:cNvSpPr txBox="1"/>
          <p:nvPr/>
        </p:nvSpPr>
        <p:spPr>
          <a:xfrm>
            <a:off x="8702040" y="5757062"/>
            <a:ext cx="871850" cy="148590"/>
          </a:xfrm>
          <a:prstGeom prst="rect">
            <a:avLst/>
          </a:prstGeom>
          <a:noFill/>
        </p:spPr>
        <p:txBody>
          <a:bodyPr wrap="none" anchor="t" lIns="0" rIns="0" tIns="0" bIns="0">
            <a:noAutofit/>
          </a:bodyPr>
          <a:lstStyle/>
          <a:p>
            <a:pPr algn="l" eaLnBrk="0" latinLnBrk="0"/>
            <a:r>
              <a:rPr sz="780" b="0">
                <a:solidFill>
                  <a:srgbClr val="AEBBCB"/>
                </a:solidFill>
                <a:latin typeface="Noto Sans KR"/>
                <a:ea typeface="Noto Sans KR"/>
                <a:cs typeface="Noto Sans KR"/>
              </a:rPr>
              <a:t>관측 수위 기준 하천</a:t>
            </a:r>
          </a:p>
        </p:txBody>
      </p:sp>
      <p:sp>
        <p:nvSpPr>
          <p:cNvPr id="29" name="글 통제 판단 지점"/>
          <p:cNvSpPr txBox="1"/>
          <p:nvPr/>
        </p:nvSpPr>
        <p:spPr>
          <a:xfrm>
            <a:off x="9814560" y="5757062"/>
            <a:ext cx="667390" cy="148590"/>
          </a:xfrm>
          <a:prstGeom prst="rect">
            <a:avLst/>
          </a:prstGeom>
          <a:noFill/>
        </p:spPr>
        <p:txBody>
          <a:bodyPr wrap="none" anchor="t" lIns="0" rIns="0" tIns="0" bIns="0">
            <a:noAutofit/>
          </a:bodyPr>
          <a:lstStyle/>
          <a:p>
            <a:pPr algn="l" eaLnBrk="0" latinLnBrk="0"/>
            <a:r>
              <a:rPr sz="780" b="0">
                <a:solidFill>
                  <a:srgbClr val="AEBBCB"/>
                </a:solidFill>
                <a:latin typeface="Noto Sans KR"/>
                <a:ea typeface="Noto Sans KR"/>
                <a:cs typeface="Noto Sans KR"/>
              </a:rPr>
              <a:t>통제 판단 지점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2"/>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02</a:t>
            </a:r>
          </a:p>
        </p:txBody>
      </p:sp>
      <p:sp>
        <p:nvSpPr>
          <p:cNvPr id="3" name="글 목차"/>
          <p:cNvSpPr txBox="1"/>
          <p:nvPr/>
        </p:nvSpPr>
        <p:spPr>
          <a:xfrm>
            <a:off x="896112" y="509016"/>
            <a:ext cx="356616"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목차</a:t>
            </a:r>
          </a:p>
        </p:txBody>
      </p:sp>
      <p:sp>
        <p:nvSpPr>
          <p:cNvPr id="4" name="글 사건에서 서비스까지, 다섯 단계로 설명합니다"/>
          <p:cNvSpPr txBox="1"/>
          <p:nvPr/>
        </p:nvSpPr>
        <p:spPr>
          <a:xfrm>
            <a:off x="609600" y="853440"/>
            <a:ext cx="7205853"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사건에서 서비스까지, 다섯 단계로 설명합니다</a:t>
            </a:r>
          </a:p>
        </p:txBody>
      </p:sp>
      <p:sp>
        <p:nvSpPr>
          <p:cNvPr id="5" name="글 각 단계가 답하는 질문을 함께 적었습니다"/>
          <p:cNvSpPr txBox="1"/>
          <p:nvPr/>
        </p:nvSpPr>
        <p:spPr>
          <a:xfrm>
            <a:off x="609600" y="1409395"/>
            <a:ext cx="3141269"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각 단계가 답하는 질문을 함께 적었습니다</a:t>
            </a:r>
          </a:p>
        </p:txBody>
      </p:sp>
      <p:sp>
        <p:nvSpPr>
          <p:cNvPr id="6" name="글 01"/>
          <p:cNvSpPr txBox="1"/>
          <p:nvPr/>
        </p:nvSpPr>
        <p:spPr>
          <a:xfrm>
            <a:off x="609600" y="2132381"/>
            <a:ext cx="489814" cy="525780"/>
          </a:xfrm>
          <a:prstGeom prst="rect">
            <a:avLst/>
          </a:prstGeom>
          <a:noFill/>
        </p:spPr>
        <p:txBody>
          <a:bodyPr wrap="none" anchor="t" lIns="0" rIns="0" tIns="0" bIns="0">
            <a:noAutofit/>
          </a:bodyPr>
          <a:lstStyle/>
          <a:p>
            <a:pPr algn="l" eaLnBrk="0" latinLnBrk="0"/>
            <a:r>
              <a:rPr sz="2760" b="1">
                <a:solidFill>
                  <a:srgbClr val="0B8577"/>
                </a:solidFill>
                <a:latin typeface="Noto Sans KR"/>
                <a:ea typeface="Noto Sans KR"/>
                <a:cs typeface="Noto Sans KR"/>
              </a:rPr>
              <a:t>01</a:t>
            </a:r>
          </a:p>
        </p:txBody>
      </p:sp>
      <p:sp>
        <p:nvSpPr>
          <p:cNvPr id="7" name="글 배경과 문제"/>
          <p:cNvSpPr txBox="1"/>
          <p:nvPr/>
        </p:nvSpPr>
        <p:spPr>
          <a:xfrm>
            <a:off x="1447800" y="2141525"/>
            <a:ext cx="103252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배경과 문제</a:t>
            </a:r>
          </a:p>
        </p:txBody>
      </p:sp>
      <p:sp>
        <p:nvSpPr>
          <p:cNvPr id="8" name="글 왜 시간이고, 무엇이 비어 있나"/>
          <p:cNvSpPr txBox="1"/>
          <p:nvPr/>
        </p:nvSpPr>
        <p:spPr>
          <a:xfrm>
            <a:off x="1447800" y="2443886"/>
            <a:ext cx="1751472" cy="205740"/>
          </a:xfrm>
          <a:prstGeom prst="rect">
            <a:avLst/>
          </a:prstGeom>
          <a:noFill/>
        </p:spPr>
        <p:txBody>
          <a:bodyPr wrap="none" anchor="t" lIns="0" rIns="0" tIns="0" bIns="0">
            <a:noAutofit/>
          </a:bodyPr>
          <a:lstStyle/>
          <a:p>
            <a:pPr algn="l" eaLnBrk="0" latinLnBrk="0"/>
            <a:r>
              <a:rPr sz="1080" b="0">
                <a:solidFill>
                  <a:srgbClr val="0B8577"/>
                </a:solidFill>
                <a:latin typeface="Noto Sans KR"/>
                <a:ea typeface="Noto Sans KR"/>
                <a:cs typeface="Noto Sans KR"/>
              </a:rPr>
              <a:t>왜 시간이고, 무엇이 비어 있나</a:t>
            </a:r>
          </a:p>
        </p:txBody>
      </p:sp>
      <p:sp>
        <p:nvSpPr>
          <p:cNvPr id="9" name="글 2023년 7월 오송 · 유입에서 완전 침수"/>
          <p:cNvSpPr txBox="1"/>
          <p:nvPr/>
        </p:nvSpPr>
        <p:spPr>
          <a:xfrm>
            <a:off x="1447800" y="2663952"/>
            <a:ext cx="3792436"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2023년 7월 오송 · 유입에서 완전 침수까지 13분 · 흩어진 관측·공간·사건 기록</a:t>
            </a:r>
          </a:p>
        </p:txBody>
      </p:sp>
      <p:sp>
        <p:nvSpPr>
          <p:cNvPr id="10" name="Rounded Rectangle 9"/>
          <p:cNvSpPr/>
          <p:nvPr/>
        </p:nvSpPr>
        <p:spPr>
          <a:xfrm>
            <a:off x="11061924" y="2225040"/>
            <a:ext cx="520476" cy="251460"/>
          </a:xfrm>
          <a:prstGeom prst="roundRect">
            <a:avLst>
              <a:gd name="adj" fmla="val 50000"/>
            </a:avLst>
          </a:prstGeom>
          <a:solidFill>
            <a:srgbClr val="F2F5F8"/>
          </a:solidFill>
          <a:ln>
            <a:noFill/>
          </a:ln>
        </p:spPr>
        <p:txBody>
          <a:bodyPr rtlCol="0" anchor="ctr"/>
          <a:lstStyle/>
          <a:p>
            <a:pPr algn="ctr"/>
          </a:p>
        </p:txBody>
      </p:sp>
      <p:sp>
        <p:nvSpPr>
          <p:cNvPr id="11" name="글 3–5장"/>
          <p:cNvSpPr txBox="1"/>
          <p:nvPr/>
        </p:nvSpPr>
        <p:spPr>
          <a:xfrm>
            <a:off x="11160984" y="2277618"/>
            <a:ext cx="398556"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3–5장</a:t>
            </a:r>
          </a:p>
        </p:txBody>
      </p:sp>
      <p:cxnSp>
        <p:nvCxnSpPr>
          <p:cNvPr id="12" name="Connector 11"/>
          <p:cNvCxnSpPr/>
          <p:nvPr/>
        </p:nvCxnSpPr>
        <p:spPr>
          <a:xfrm>
            <a:off x="609600" y="2865120"/>
            <a:ext cx="10972800" cy="0"/>
          </a:xfrm>
          <a:prstGeom prst="line">
            <a:avLst/>
          </a:prstGeom>
          <a:ln w="11430">
            <a:solidFill>
              <a:srgbClr val="D6DEE6"/>
            </a:solidFill>
          </a:ln>
        </p:spPr>
      </p:cxnSp>
      <p:sp>
        <p:nvSpPr>
          <p:cNvPr id="13" name="글 02"/>
          <p:cNvSpPr txBox="1"/>
          <p:nvPr/>
        </p:nvSpPr>
        <p:spPr>
          <a:xfrm>
            <a:off x="609600" y="3001061"/>
            <a:ext cx="489814" cy="525780"/>
          </a:xfrm>
          <a:prstGeom prst="rect">
            <a:avLst/>
          </a:prstGeom>
          <a:noFill/>
        </p:spPr>
        <p:txBody>
          <a:bodyPr wrap="none" anchor="t" lIns="0" rIns="0" tIns="0" bIns="0">
            <a:noAutofit/>
          </a:bodyPr>
          <a:lstStyle/>
          <a:p>
            <a:pPr algn="l" eaLnBrk="0" latinLnBrk="0"/>
            <a:r>
              <a:rPr sz="2760" b="1">
                <a:solidFill>
                  <a:srgbClr val="0B8577"/>
                </a:solidFill>
                <a:latin typeface="Noto Sans KR"/>
                <a:ea typeface="Noto Sans KR"/>
                <a:cs typeface="Noto Sans KR"/>
              </a:rPr>
              <a:t>02</a:t>
            </a:r>
          </a:p>
        </p:txBody>
      </p:sp>
      <p:sp>
        <p:nvSpPr>
          <p:cNvPr id="14" name="글 해결과 결과"/>
          <p:cNvSpPr txBox="1"/>
          <p:nvPr/>
        </p:nvSpPr>
        <p:spPr>
          <a:xfrm>
            <a:off x="1447800" y="3010205"/>
            <a:ext cx="103252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해결과 결과</a:t>
            </a:r>
          </a:p>
        </p:txBody>
      </p:sp>
      <p:sp>
        <p:nvSpPr>
          <p:cNvPr id="15" name="글 무엇을 연결했고, 무엇이 나왔나"/>
          <p:cNvSpPr txBox="1"/>
          <p:nvPr/>
        </p:nvSpPr>
        <p:spPr>
          <a:xfrm>
            <a:off x="1447800" y="3312566"/>
            <a:ext cx="1846936" cy="205740"/>
          </a:xfrm>
          <a:prstGeom prst="rect">
            <a:avLst/>
          </a:prstGeom>
          <a:noFill/>
        </p:spPr>
        <p:txBody>
          <a:bodyPr wrap="none" anchor="t" lIns="0" rIns="0" tIns="0" bIns="0">
            <a:noAutofit/>
          </a:bodyPr>
          <a:lstStyle/>
          <a:p>
            <a:pPr algn="l" eaLnBrk="0" latinLnBrk="0"/>
            <a:r>
              <a:rPr sz="1080" b="0">
                <a:solidFill>
                  <a:srgbClr val="0B8577"/>
                </a:solidFill>
                <a:latin typeface="Noto Sans KR"/>
                <a:ea typeface="Noto Sans KR"/>
                <a:cs typeface="Noto Sans KR"/>
              </a:rPr>
              <a:t>무엇을 연결했고, 무엇이 나왔나</a:t>
            </a:r>
          </a:p>
        </p:txBody>
      </p:sp>
      <p:sp>
        <p:nvSpPr>
          <p:cNvPr id="16" name="글 한 시간축·한 지도 · 통제 18분 전 · "/>
          <p:cNvSpPr txBox="1"/>
          <p:nvPr/>
        </p:nvSpPr>
        <p:spPr>
          <a:xfrm>
            <a:off x="1447800" y="3532632"/>
            <a:ext cx="3603269"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한 시간축·한 지도 · 통제 18분 전 · 단계별 침수 추정 셀 · 네 사례 선행 시간</a:t>
            </a:r>
          </a:p>
        </p:txBody>
      </p:sp>
      <p:sp>
        <p:nvSpPr>
          <p:cNvPr id="17" name="Rounded Rectangle 16"/>
          <p:cNvSpPr/>
          <p:nvPr/>
        </p:nvSpPr>
        <p:spPr>
          <a:xfrm>
            <a:off x="10989991" y="3093720"/>
            <a:ext cx="592409" cy="251460"/>
          </a:xfrm>
          <a:prstGeom prst="roundRect">
            <a:avLst>
              <a:gd name="adj" fmla="val 50000"/>
            </a:avLst>
          </a:prstGeom>
          <a:solidFill>
            <a:srgbClr val="F2F5F8"/>
          </a:solidFill>
          <a:ln>
            <a:noFill/>
          </a:ln>
        </p:spPr>
        <p:txBody>
          <a:bodyPr rtlCol="0" anchor="ctr"/>
          <a:lstStyle/>
          <a:p>
            <a:pPr algn="ctr"/>
          </a:p>
        </p:txBody>
      </p:sp>
      <p:sp>
        <p:nvSpPr>
          <p:cNvPr id="18" name="글 6–10장"/>
          <p:cNvSpPr txBox="1"/>
          <p:nvPr/>
        </p:nvSpPr>
        <p:spPr>
          <a:xfrm>
            <a:off x="11089051" y="3146298"/>
            <a:ext cx="470489"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6–10장</a:t>
            </a:r>
          </a:p>
        </p:txBody>
      </p:sp>
      <p:cxnSp>
        <p:nvCxnSpPr>
          <p:cNvPr id="19" name="Connector 18"/>
          <p:cNvCxnSpPr/>
          <p:nvPr/>
        </p:nvCxnSpPr>
        <p:spPr>
          <a:xfrm>
            <a:off x="609600" y="3733800"/>
            <a:ext cx="10972800" cy="0"/>
          </a:xfrm>
          <a:prstGeom prst="line">
            <a:avLst/>
          </a:prstGeom>
          <a:ln w="11430">
            <a:solidFill>
              <a:srgbClr val="D6DEE6"/>
            </a:solidFill>
          </a:ln>
        </p:spPr>
      </p:cxnSp>
      <p:sp>
        <p:nvSpPr>
          <p:cNvPr id="20" name="글 03"/>
          <p:cNvSpPr txBox="1"/>
          <p:nvPr/>
        </p:nvSpPr>
        <p:spPr>
          <a:xfrm>
            <a:off x="609600" y="3869741"/>
            <a:ext cx="489814" cy="525780"/>
          </a:xfrm>
          <a:prstGeom prst="rect">
            <a:avLst/>
          </a:prstGeom>
          <a:noFill/>
        </p:spPr>
        <p:txBody>
          <a:bodyPr wrap="none" anchor="t" lIns="0" rIns="0" tIns="0" bIns="0">
            <a:noAutofit/>
          </a:bodyPr>
          <a:lstStyle/>
          <a:p>
            <a:pPr algn="l" eaLnBrk="0" latinLnBrk="0"/>
            <a:r>
              <a:rPr sz="2760" b="1">
                <a:solidFill>
                  <a:srgbClr val="0B8577"/>
                </a:solidFill>
                <a:latin typeface="Noto Sans KR"/>
                <a:ea typeface="Noto Sans KR"/>
                <a:cs typeface="Noto Sans KR"/>
              </a:rPr>
              <a:t>03</a:t>
            </a:r>
          </a:p>
        </p:txBody>
      </p:sp>
      <p:sp>
        <p:nvSpPr>
          <p:cNvPr id="21" name="글 근거와 한계"/>
          <p:cNvSpPr txBox="1"/>
          <p:nvPr/>
        </p:nvSpPr>
        <p:spPr>
          <a:xfrm>
            <a:off x="1447800" y="3878885"/>
            <a:ext cx="103252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근거와 한계</a:t>
            </a:r>
          </a:p>
        </p:txBody>
      </p:sp>
      <p:sp>
        <p:nvSpPr>
          <p:cNvPr id="22" name="글 무엇을 계산하지 않았나"/>
          <p:cNvSpPr txBox="1"/>
          <p:nvPr/>
        </p:nvSpPr>
        <p:spPr>
          <a:xfrm>
            <a:off x="1447800" y="4181246"/>
            <a:ext cx="1399520" cy="205740"/>
          </a:xfrm>
          <a:prstGeom prst="rect">
            <a:avLst/>
          </a:prstGeom>
          <a:noFill/>
        </p:spPr>
        <p:txBody>
          <a:bodyPr wrap="none" anchor="t" lIns="0" rIns="0" tIns="0" bIns="0">
            <a:noAutofit/>
          </a:bodyPr>
          <a:lstStyle/>
          <a:p>
            <a:pPr algn="l" eaLnBrk="0" latinLnBrk="0"/>
            <a:r>
              <a:rPr sz="1080" b="0">
                <a:solidFill>
                  <a:srgbClr val="0B8577"/>
                </a:solidFill>
                <a:latin typeface="Noto Sans KR"/>
                <a:ea typeface="Noto Sans KR"/>
                <a:cs typeface="Noto Sans KR"/>
              </a:rPr>
              <a:t>무엇을 계산하지 않았나</a:t>
            </a:r>
          </a:p>
        </p:txBody>
      </p:sp>
      <p:sp>
        <p:nvSpPr>
          <p:cNvPr id="23" name="글 공식 침수범위 없이 노출 KPI 없음 · 서"/>
          <p:cNvSpPr txBox="1"/>
          <p:nvPr/>
        </p:nvSpPr>
        <p:spPr>
          <a:xfrm>
            <a:off x="1447800" y="4401312"/>
            <a:ext cx="3544405"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공식 침수범위 없이 노출 KPI 없음 · 서울 DSM 근사 기각 · 출처·한계 화면</a:t>
            </a:r>
          </a:p>
        </p:txBody>
      </p:sp>
      <p:sp>
        <p:nvSpPr>
          <p:cNvPr id="24" name="Rounded Rectangle 23"/>
          <p:cNvSpPr/>
          <p:nvPr/>
        </p:nvSpPr>
        <p:spPr>
          <a:xfrm>
            <a:off x="10918058" y="3962400"/>
            <a:ext cx="664342" cy="251460"/>
          </a:xfrm>
          <a:prstGeom prst="roundRect">
            <a:avLst>
              <a:gd name="adj" fmla="val 50000"/>
            </a:avLst>
          </a:prstGeom>
          <a:solidFill>
            <a:srgbClr val="F2F5F8"/>
          </a:solidFill>
          <a:ln>
            <a:noFill/>
          </a:ln>
        </p:spPr>
        <p:txBody>
          <a:bodyPr rtlCol="0" anchor="ctr"/>
          <a:lstStyle/>
          <a:p>
            <a:pPr algn="ctr"/>
          </a:p>
        </p:txBody>
      </p:sp>
      <p:sp>
        <p:nvSpPr>
          <p:cNvPr id="25" name="글 11–13장"/>
          <p:cNvSpPr txBox="1"/>
          <p:nvPr/>
        </p:nvSpPr>
        <p:spPr>
          <a:xfrm>
            <a:off x="11017118" y="4014978"/>
            <a:ext cx="542422"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11–13장</a:t>
            </a:r>
          </a:p>
        </p:txBody>
      </p:sp>
      <p:cxnSp>
        <p:nvCxnSpPr>
          <p:cNvPr id="26" name="Connector 25"/>
          <p:cNvCxnSpPr/>
          <p:nvPr/>
        </p:nvCxnSpPr>
        <p:spPr>
          <a:xfrm>
            <a:off x="609600" y="4602480"/>
            <a:ext cx="10972800" cy="0"/>
          </a:xfrm>
          <a:prstGeom prst="line">
            <a:avLst/>
          </a:prstGeom>
          <a:ln w="11430">
            <a:solidFill>
              <a:srgbClr val="D6DEE6"/>
            </a:solidFill>
          </a:ln>
        </p:spPr>
      </p:cxnSp>
      <p:sp>
        <p:nvSpPr>
          <p:cNvPr id="27" name="글 04"/>
          <p:cNvSpPr txBox="1"/>
          <p:nvPr/>
        </p:nvSpPr>
        <p:spPr>
          <a:xfrm>
            <a:off x="609600" y="4738421"/>
            <a:ext cx="489814" cy="525780"/>
          </a:xfrm>
          <a:prstGeom prst="rect">
            <a:avLst/>
          </a:prstGeom>
          <a:noFill/>
        </p:spPr>
        <p:txBody>
          <a:bodyPr wrap="none" anchor="t" lIns="0" rIns="0" tIns="0" bIns="0">
            <a:noAutofit/>
          </a:bodyPr>
          <a:lstStyle/>
          <a:p>
            <a:pPr algn="l" eaLnBrk="0" latinLnBrk="0"/>
            <a:r>
              <a:rPr sz="2760" b="1">
                <a:solidFill>
                  <a:srgbClr val="0B8577"/>
                </a:solidFill>
                <a:latin typeface="Noto Sans KR"/>
                <a:ea typeface="Noto Sans KR"/>
                <a:cs typeface="Noto Sans KR"/>
              </a:rPr>
              <a:t>04</a:t>
            </a:r>
          </a:p>
        </p:txBody>
      </p:sp>
      <p:sp>
        <p:nvSpPr>
          <p:cNvPr id="28" name="글 서비스와 활용"/>
          <p:cNvSpPr txBox="1"/>
          <p:nvPr/>
        </p:nvSpPr>
        <p:spPr>
          <a:xfrm>
            <a:off x="1447800" y="4747565"/>
            <a:ext cx="1214796"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서비스와 활용</a:t>
            </a:r>
          </a:p>
        </p:txBody>
      </p:sp>
      <p:sp>
        <p:nvSpPr>
          <p:cNvPr id="29" name="글 누가, 어떤 화면으로 쓰나"/>
          <p:cNvSpPr txBox="1"/>
          <p:nvPr/>
        </p:nvSpPr>
        <p:spPr>
          <a:xfrm>
            <a:off x="1447800" y="5049926"/>
            <a:ext cx="1468374" cy="205740"/>
          </a:xfrm>
          <a:prstGeom prst="rect">
            <a:avLst/>
          </a:prstGeom>
          <a:noFill/>
        </p:spPr>
        <p:txBody>
          <a:bodyPr wrap="none" anchor="t" lIns="0" rIns="0" tIns="0" bIns="0">
            <a:noAutofit/>
          </a:bodyPr>
          <a:lstStyle/>
          <a:p>
            <a:pPr algn="l" eaLnBrk="0" latinLnBrk="0"/>
            <a:r>
              <a:rPr sz="1080" b="0">
                <a:solidFill>
                  <a:srgbClr val="0B8577"/>
                </a:solidFill>
                <a:latin typeface="Noto Sans KR"/>
                <a:ea typeface="Noto Sans KR"/>
                <a:cs typeface="Noto Sans KR"/>
              </a:rPr>
              <a:t>누가, 어떤 화면으로 쓰나</a:t>
            </a:r>
          </a:p>
        </p:txBody>
      </p:sp>
      <p:sp>
        <p:nvSpPr>
          <p:cNvPr id="30" name="글 화면 4개 · 관제 · 시나리오 비교 · 네"/>
          <p:cNvSpPr txBox="1"/>
          <p:nvPr/>
        </p:nvSpPr>
        <p:spPr>
          <a:xfrm>
            <a:off x="1447800" y="5269992"/>
            <a:ext cx="2937243"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화면 4개 · 관제 · 시나리오 비교 · 네 사례 · 훈련과 사후 검토</a:t>
            </a:r>
          </a:p>
        </p:txBody>
      </p:sp>
      <p:sp>
        <p:nvSpPr>
          <p:cNvPr id="31" name="Rounded Rectangle 30"/>
          <p:cNvSpPr/>
          <p:nvPr/>
        </p:nvSpPr>
        <p:spPr>
          <a:xfrm>
            <a:off x="10918058" y="4831080"/>
            <a:ext cx="664342" cy="251460"/>
          </a:xfrm>
          <a:prstGeom prst="roundRect">
            <a:avLst>
              <a:gd name="adj" fmla="val 50000"/>
            </a:avLst>
          </a:prstGeom>
          <a:solidFill>
            <a:srgbClr val="F2F5F8"/>
          </a:solidFill>
          <a:ln>
            <a:noFill/>
          </a:ln>
        </p:spPr>
        <p:txBody>
          <a:bodyPr rtlCol="0" anchor="ctr"/>
          <a:lstStyle/>
          <a:p>
            <a:pPr algn="ctr"/>
          </a:p>
        </p:txBody>
      </p:sp>
      <p:sp>
        <p:nvSpPr>
          <p:cNvPr id="32" name="글 14–18장"/>
          <p:cNvSpPr txBox="1"/>
          <p:nvPr/>
        </p:nvSpPr>
        <p:spPr>
          <a:xfrm>
            <a:off x="11017118" y="4883658"/>
            <a:ext cx="542422"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14–18장</a:t>
            </a:r>
          </a:p>
        </p:txBody>
      </p:sp>
      <p:cxnSp>
        <p:nvCxnSpPr>
          <p:cNvPr id="33" name="Connector 32"/>
          <p:cNvCxnSpPr/>
          <p:nvPr/>
        </p:nvCxnSpPr>
        <p:spPr>
          <a:xfrm>
            <a:off x="609600" y="5471160"/>
            <a:ext cx="10972800" cy="0"/>
          </a:xfrm>
          <a:prstGeom prst="line">
            <a:avLst/>
          </a:prstGeom>
          <a:ln w="11430">
            <a:solidFill>
              <a:srgbClr val="D6DEE6"/>
            </a:solidFill>
          </a:ln>
        </p:spPr>
      </p:cxnSp>
      <p:sp>
        <p:nvSpPr>
          <p:cNvPr id="34" name="글 05"/>
          <p:cNvSpPr txBox="1"/>
          <p:nvPr/>
        </p:nvSpPr>
        <p:spPr>
          <a:xfrm>
            <a:off x="609600" y="5607101"/>
            <a:ext cx="489814" cy="525780"/>
          </a:xfrm>
          <a:prstGeom prst="rect">
            <a:avLst/>
          </a:prstGeom>
          <a:noFill/>
        </p:spPr>
        <p:txBody>
          <a:bodyPr wrap="none" anchor="t" lIns="0" rIns="0" tIns="0" bIns="0">
            <a:noAutofit/>
          </a:bodyPr>
          <a:lstStyle/>
          <a:p>
            <a:pPr algn="l" eaLnBrk="0" latinLnBrk="0"/>
            <a:r>
              <a:rPr sz="2760" b="1">
                <a:solidFill>
                  <a:srgbClr val="0B8577"/>
                </a:solidFill>
                <a:latin typeface="Noto Sans KR"/>
                <a:ea typeface="Noto Sans KR"/>
                <a:cs typeface="Noto Sans KR"/>
              </a:rPr>
              <a:t>05</a:t>
            </a:r>
          </a:p>
        </p:txBody>
      </p:sp>
      <p:sp>
        <p:nvSpPr>
          <p:cNvPr id="35" name="글 실현과 확장"/>
          <p:cNvSpPr txBox="1"/>
          <p:nvPr/>
        </p:nvSpPr>
        <p:spPr>
          <a:xfrm>
            <a:off x="1447800" y="5616245"/>
            <a:ext cx="103252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실현과 확장</a:t>
            </a:r>
          </a:p>
        </p:txBody>
      </p:sp>
      <p:sp>
        <p:nvSpPr>
          <p:cNvPr id="36" name="글 검증됐고, 넓힐 수 있나"/>
          <p:cNvSpPr txBox="1"/>
          <p:nvPr/>
        </p:nvSpPr>
        <p:spPr>
          <a:xfrm>
            <a:off x="1447800" y="5918606"/>
            <a:ext cx="1342187" cy="205740"/>
          </a:xfrm>
          <a:prstGeom prst="rect">
            <a:avLst/>
          </a:prstGeom>
          <a:noFill/>
        </p:spPr>
        <p:txBody>
          <a:bodyPr wrap="none" anchor="t" lIns="0" rIns="0" tIns="0" bIns="0">
            <a:noAutofit/>
          </a:bodyPr>
          <a:lstStyle/>
          <a:p>
            <a:pPr algn="l" eaLnBrk="0" latinLnBrk="0"/>
            <a:r>
              <a:rPr sz="1080" b="0">
                <a:solidFill>
                  <a:srgbClr val="0B8577"/>
                </a:solidFill>
                <a:latin typeface="Noto Sans KR"/>
                <a:ea typeface="Noto Sans KR"/>
                <a:cs typeface="Noto Sans KR"/>
              </a:rPr>
              <a:t>검증됐고, 넓힐 수 있나</a:t>
            </a:r>
          </a:p>
        </p:txBody>
      </p:sp>
      <p:sp>
        <p:nvSpPr>
          <p:cNvPr id="37" name="글 테스트 154개 · 서버 한 대 · 같은 명"/>
          <p:cNvSpPr txBox="1"/>
          <p:nvPr/>
        </p:nvSpPr>
        <p:spPr>
          <a:xfrm>
            <a:off x="1447800" y="6138672"/>
            <a:ext cx="3210306"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테스트 154개 · 서버 한 대 · 같은 명령으로 재생성 · 사례 추가 계약</a:t>
            </a:r>
          </a:p>
        </p:txBody>
      </p:sp>
      <p:sp>
        <p:nvSpPr>
          <p:cNvPr id="38" name="Rounded Rectangle 37"/>
          <p:cNvSpPr/>
          <p:nvPr/>
        </p:nvSpPr>
        <p:spPr>
          <a:xfrm>
            <a:off x="10918058" y="5699760"/>
            <a:ext cx="664342" cy="251460"/>
          </a:xfrm>
          <a:prstGeom prst="roundRect">
            <a:avLst>
              <a:gd name="adj" fmla="val 50000"/>
            </a:avLst>
          </a:prstGeom>
          <a:solidFill>
            <a:srgbClr val="F2F5F8"/>
          </a:solidFill>
          <a:ln>
            <a:noFill/>
          </a:ln>
        </p:spPr>
        <p:txBody>
          <a:bodyPr rtlCol="0" anchor="ctr"/>
          <a:lstStyle/>
          <a:p>
            <a:pPr algn="ctr"/>
          </a:p>
        </p:txBody>
      </p:sp>
      <p:sp>
        <p:nvSpPr>
          <p:cNvPr id="39" name="글 19–21장"/>
          <p:cNvSpPr txBox="1"/>
          <p:nvPr/>
        </p:nvSpPr>
        <p:spPr>
          <a:xfrm>
            <a:off x="11017118" y="5752338"/>
            <a:ext cx="542422"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19–21장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3"/>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03</a:t>
            </a:r>
          </a:p>
        </p:txBody>
      </p:sp>
      <p:sp>
        <p:nvSpPr>
          <p:cNvPr id="3" name="글 배경과 문제"/>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배경과 문제</a:t>
            </a:r>
          </a:p>
        </p:txBody>
      </p:sp>
      <p:sp>
        <p:nvSpPr>
          <p:cNvPr id="4" name="글 2023년 7월 15일 아침, 오송"/>
          <p:cNvSpPr txBox="1"/>
          <p:nvPr/>
        </p:nvSpPr>
        <p:spPr>
          <a:xfrm>
            <a:off x="609600" y="853440"/>
            <a:ext cx="4573143"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2023년 7월 15일 아침, 오송</a:t>
            </a:r>
          </a:p>
        </p:txBody>
      </p:sp>
      <p:sp>
        <p:nvSpPr>
          <p:cNvPr id="5" name="글 물이 들어온 뒤 완전히 잠기기까지, 판단할 "/>
          <p:cNvSpPr txBox="1"/>
          <p:nvPr/>
        </p:nvSpPr>
        <p:spPr>
          <a:xfrm>
            <a:off x="609600" y="1409395"/>
            <a:ext cx="4997501"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물이 들어온 뒤 완전히 잠기기까지, 판단할 시간은 몇 분이었을까요</a:t>
            </a:r>
          </a:p>
        </p:txBody>
      </p:sp>
      <p:sp>
        <p:nvSpPr>
          <p:cNvPr id="6" name="글 13"/>
          <p:cNvSpPr txBox="1"/>
          <p:nvPr/>
        </p:nvSpPr>
        <p:spPr>
          <a:xfrm>
            <a:off x="579120" y="2103120"/>
            <a:ext cx="1424940" cy="1714500"/>
          </a:xfrm>
          <a:prstGeom prst="rect">
            <a:avLst/>
          </a:prstGeom>
          <a:noFill/>
        </p:spPr>
        <p:txBody>
          <a:bodyPr wrap="none" anchor="t" lIns="0" rIns="0" tIns="0" bIns="0">
            <a:noAutofit/>
          </a:bodyPr>
          <a:lstStyle/>
          <a:p>
            <a:pPr algn="l" eaLnBrk="0" latinLnBrk="0"/>
            <a:r>
              <a:rPr sz="9000" b="1">
                <a:solidFill>
                  <a:srgbClr val="0B8577"/>
                </a:solidFill>
                <a:latin typeface="Noto Sans KR"/>
                <a:ea typeface="Noto Sans KR"/>
                <a:cs typeface="Noto Sans KR"/>
              </a:rPr>
              <a:t>13</a:t>
            </a:r>
          </a:p>
        </p:txBody>
      </p:sp>
      <p:sp>
        <p:nvSpPr>
          <p:cNvPr id="7" name="글 분"/>
          <p:cNvSpPr txBox="1"/>
          <p:nvPr/>
        </p:nvSpPr>
        <p:spPr>
          <a:xfrm>
            <a:off x="2019300" y="2878531"/>
            <a:ext cx="384658" cy="502920"/>
          </a:xfrm>
          <a:prstGeom prst="rect">
            <a:avLst/>
          </a:prstGeom>
          <a:noFill/>
        </p:spPr>
        <p:txBody>
          <a:bodyPr wrap="none" anchor="t" lIns="0" rIns="0" tIns="0" bIns="0">
            <a:noAutofit/>
          </a:bodyPr>
          <a:lstStyle/>
          <a:p>
            <a:pPr algn="l" eaLnBrk="0" latinLnBrk="0"/>
            <a:r>
              <a:rPr sz="2640" b="1">
                <a:solidFill>
                  <a:srgbClr val="0B8577"/>
                </a:solidFill>
                <a:latin typeface="Noto Sans KR"/>
                <a:ea typeface="Noto Sans KR"/>
                <a:cs typeface="Noto Sans KR"/>
              </a:rPr>
              <a:t>분</a:t>
            </a:r>
          </a:p>
        </p:txBody>
      </p:sp>
      <p:sp>
        <p:nvSpPr>
          <p:cNvPr id="8" name="글 궁평2지하차도 유입(08:27) → 완전 침"/>
          <p:cNvSpPr txBox="1"/>
          <p:nvPr/>
        </p:nvSpPr>
        <p:spPr>
          <a:xfrm>
            <a:off x="624840" y="3467405"/>
            <a:ext cx="4121810"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궁평2지하차도 유입(08:27) → 완전 침수(08:40)</a:t>
            </a:r>
          </a:p>
        </p:txBody>
      </p:sp>
      <p:sp>
        <p:nvSpPr>
          <p:cNvPr id="9" name="글 제방 붕괴(08:09)부터는 31분,"/>
          <p:cNvSpPr txBox="1"/>
          <p:nvPr/>
        </p:nvSpPr>
        <p:spPr>
          <a:xfrm>
            <a:off x="624840" y="3787216"/>
            <a:ext cx="2879865" cy="463296"/>
          </a:xfrm>
          <a:prstGeom prst="rect">
            <a:avLst/>
          </a:prstGeom>
          <a:noFill/>
        </p:spPr>
        <p:txBody>
          <a:bodyPr wrap="none" anchor="t" lIns="0" rIns="0" tIns="0" bIns="0">
            <a:noAutofit/>
          </a:bodyPr>
          <a:lstStyle/>
          <a:p>
            <a:pPr algn="l" eaLnBrk="0" latinLnBrk="0">
              <a:lnSpc>
                <a:spcPct val="120833"/>
              </a:lnSpc>
            </a:pPr>
            <a:r>
              <a:rPr sz="1140" b="0">
                <a:solidFill>
                  <a:srgbClr val="566676"/>
                </a:solidFill>
                <a:latin typeface="Noto Sans KR"/>
                <a:ea typeface="Noto Sans KR"/>
                <a:cs typeface="Noto Sans KR"/>
              </a:rPr>
              <a:t>제방 붕괴(08:09)부터는 31분,</a:t>
            </a:r>
          </a:p>
          <a:p>
            <a:pPr algn="l" eaLnBrk="0" latinLnBrk="0">
              <a:lnSpc>
                <a:spcPct val="120833"/>
              </a:lnSpc>
            </a:pPr>
            <a:r>
              <a:rPr sz="1140" b="0">
                <a:solidFill>
                  <a:srgbClr val="566676"/>
                </a:solidFill>
                <a:latin typeface="Noto Sans KR"/>
                <a:ea typeface="Noto Sans KR"/>
                <a:cs typeface="Noto Sans KR"/>
              </a:rPr>
              <a:t>홍수경보(04:10)부터는 4시간 30분이었습니다.</a:t>
            </a:r>
          </a:p>
        </p:txBody>
      </p:sp>
      <p:cxnSp>
        <p:nvCxnSpPr>
          <p:cNvPr id="10" name="Connector 9"/>
          <p:cNvCxnSpPr/>
          <p:nvPr/>
        </p:nvCxnSpPr>
        <p:spPr>
          <a:xfrm>
            <a:off x="624840" y="4572000"/>
            <a:ext cx="4251960" cy="0"/>
          </a:xfrm>
          <a:prstGeom prst="line">
            <a:avLst/>
          </a:prstGeom>
          <a:ln w="11430">
            <a:solidFill>
              <a:srgbClr val="D6DEE6"/>
            </a:solidFill>
          </a:ln>
        </p:spPr>
      </p:cxnSp>
      <p:sp>
        <p:nvSpPr>
          <p:cNvPr id="11" name="글 시간은 있었습니다. 다만 어디에, 얼마나 있"/>
          <p:cNvSpPr txBox="1"/>
          <p:nvPr/>
        </p:nvSpPr>
        <p:spPr>
          <a:xfrm>
            <a:off x="624840" y="4761586"/>
            <a:ext cx="4670207"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시간은 있었습니다. 다만 어디에, 얼마나 있는지 보이지 않았습니다.</a:t>
            </a:r>
          </a:p>
        </p:txBody>
      </p:sp>
      <p:sp>
        <p:nvSpPr>
          <p:cNvPr id="12" name="Rounded Rectangle 11"/>
          <p:cNvSpPr/>
          <p:nvPr/>
        </p:nvSpPr>
        <p:spPr>
          <a:xfrm>
            <a:off x="5486400" y="1996440"/>
            <a:ext cx="6096000" cy="899160"/>
          </a:xfrm>
          <a:prstGeom prst="roundRect">
            <a:avLst>
              <a:gd name="adj" fmla="val 11864"/>
            </a:avLst>
          </a:prstGeom>
          <a:solidFill>
            <a:srgbClr val="F2F5F8"/>
          </a:solidFill>
          <a:ln>
            <a:noFill/>
          </a:ln>
        </p:spPr>
        <p:txBody>
          <a:bodyPr rtlCol="0" anchor="ctr"/>
          <a:lstStyle/>
          <a:p>
            <a:pPr algn="ctr"/>
          </a:p>
        </p:txBody>
      </p:sp>
      <p:sp>
        <p:nvSpPr>
          <p:cNvPr id="13" name="글 2023. 7. 15. 08:40경"/>
          <p:cNvSpPr txBox="1"/>
          <p:nvPr/>
        </p:nvSpPr>
        <p:spPr>
          <a:xfrm>
            <a:off x="5730240" y="2153717"/>
            <a:ext cx="1221151"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2023. 7. 15. 08:40경</a:t>
            </a:r>
          </a:p>
        </p:txBody>
      </p:sp>
      <p:sp>
        <p:nvSpPr>
          <p:cNvPr id="14" name="글 청주 오송 궁평2지하차도"/>
          <p:cNvSpPr txBox="1"/>
          <p:nvPr/>
        </p:nvSpPr>
        <p:spPr>
          <a:xfrm>
            <a:off x="5730240" y="2369515"/>
            <a:ext cx="1949623"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청주 오송 궁평2지하차도</a:t>
            </a:r>
          </a:p>
        </p:txBody>
      </p:sp>
      <p:sp>
        <p:nvSpPr>
          <p:cNvPr id="15" name="글 미호강 임시제방 붕괴 · 지하차도 침수"/>
          <p:cNvSpPr txBox="1"/>
          <p:nvPr/>
        </p:nvSpPr>
        <p:spPr>
          <a:xfrm>
            <a:off x="5730240" y="2634082"/>
            <a:ext cx="2081609" cy="194310"/>
          </a:xfrm>
          <a:prstGeom prst="rect">
            <a:avLst/>
          </a:prstGeom>
          <a:noFill/>
        </p:spPr>
        <p:txBody>
          <a:bodyPr wrap="none" anchor="t" lIns="0" rIns="0" tIns="0" bIns="0">
            <a:noAutofit/>
          </a:bodyPr>
          <a:lstStyle/>
          <a:p>
            <a:pPr algn="l" eaLnBrk="0" latinLnBrk="0"/>
            <a:r>
              <a:rPr sz="1019" b="0">
                <a:solidFill>
                  <a:srgbClr val="566676"/>
                </a:solidFill>
                <a:latin typeface="Noto Sans KR"/>
                <a:ea typeface="Noto Sans KR"/>
                <a:cs typeface="Noto Sans KR"/>
              </a:rPr>
              <a:t>미호강 임시제방 붕괴 · 지하차도 침수</a:t>
            </a:r>
          </a:p>
        </p:txBody>
      </p:sp>
      <p:sp>
        <p:nvSpPr>
          <p:cNvPr id="16" name="Rounded Rectangle 15"/>
          <p:cNvSpPr/>
          <p:nvPr/>
        </p:nvSpPr>
        <p:spPr>
          <a:xfrm>
            <a:off x="10287000" y="2148840"/>
            <a:ext cx="1143000" cy="594360"/>
          </a:xfrm>
          <a:prstGeom prst="roundRect">
            <a:avLst>
              <a:gd name="adj" fmla="val 15384"/>
            </a:avLst>
          </a:prstGeom>
          <a:solidFill>
            <a:srgbClr val="FBEAE8"/>
          </a:solidFill>
          <a:ln>
            <a:noFill/>
          </a:ln>
        </p:spPr>
        <p:txBody>
          <a:bodyPr rtlCol="0" anchor="ctr"/>
          <a:lstStyle/>
          <a:p>
            <a:pPr algn="ctr"/>
          </a:p>
        </p:txBody>
      </p:sp>
      <p:sp>
        <p:nvSpPr>
          <p:cNvPr id="17" name="글 14"/>
          <p:cNvSpPr txBox="1"/>
          <p:nvPr/>
        </p:nvSpPr>
        <p:spPr>
          <a:xfrm>
            <a:off x="10574731" y="2230831"/>
            <a:ext cx="471830" cy="502920"/>
          </a:xfrm>
          <a:prstGeom prst="rect">
            <a:avLst/>
          </a:prstGeom>
          <a:noFill/>
        </p:spPr>
        <p:txBody>
          <a:bodyPr wrap="none" anchor="t" lIns="0" rIns="0" tIns="0" bIns="0">
            <a:noAutofit/>
          </a:bodyPr>
          <a:lstStyle/>
          <a:p>
            <a:pPr algn="l" eaLnBrk="0" latinLnBrk="0"/>
            <a:r>
              <a:rPr sz="2640" b="1">
                <a:solidFill>
                  <a:srgbClr val="B42318"/>
                </a:solidFill>
                <a:latin typeface="Noto Sans KR"/>
                <a:ea typeface="Noto Sans KR"/>
                <a:cs typeface="Noto Sans KR"/>
              </a:rPr>
              <a:t>14</a:t>
            </a:r>
          </a:p>
        </p:txBody>
      </p:sp>
      <p:sp>
        <p:nvSpPr>
          <p:cNvPr id="18" name="글 명"/>
          <p:cNvSpPr txBox="1"/>
          <p:nvPr/>
        </p:nvSpPr>
        <p:spPr>
          <a:xfrm>
            <a:off x="11016082" y="2421026"/>
            <a:ext cx="202387" cy="205740"/>
          </a:xfrm>
          <a:prstGeom prst="rect">
            <a:avLst/>
          </a:prstGeom>
          <a:noFill/>
        </p:spPr>
        <p:txBody>
          <a:bodyPr wrap="none" anchor="t" lIns="0" rIns="0" tIns="0" bIns="0">
            <a:noAutofit/>
          </a:bodyPr>
          <a:lstStyle/>
          <a:p>
            <a:pPr algn="l" eaLnBrk="0" latinLnBrk="0"/>
            <a:r>
              <a:rPr sz="1080" b="1">
                <a:solidFill>
                  <a:srgbClr val="B42318"/>
                </a:solidFill>
                <a:latin typeface="Noto Sans KR"/>
                <a:ea typeface="Noto Sans KR"/>
                <a:cs typeface="Noto Sans KR"/>
              </a:rPr>
              <a:t>명</a:t>
            </a:r>
          </a:p>
        </p:txBody>
      </p:sp>
      <p:sp>
        <p:nvSpPr>
          <p:cNvPr id="19" name="Rounded Rectangle 18"/>
          <p:cNvSpPr/>
          <p:nvPr/>
        </p:nvSpPr>
        <p:spPr>
          <a:xfrm>
            <a:off x="5486400" y="3063240"/>
            <a:ext cx="6096000" cy="899160"/>
          </a:xfrm>
          <a:prstGeom prst="roundRect">
            <a:avLst>
              <a:gd name="adj" fmla="val 11864"/>
            </a:avLst>
          </a:prstGeom>
          <a:solidFill>
            <a:srgbClr val="F2F5F8"/>
          </a:solidFill>
          <a:ln>
            <a:noFill/>
          </a:ln>
        </p:spPr>
        <p:txBody>
          <a:bodyPr rtlCol="0" anchor="ctr"/>
          <a:lstStyle/>
          <a:p>
            <a:pPr algn="ctr"/>
          </a:p>
        </p:txBody>
      </p:sp>
      <p:sp>
        <p:nvSpPr>
          <p:cNvPr id="20" name="글 2022. 8. 8. 밤"/>
          <p:cNvSpPr txBox="1"/>
          <p:nvPr/>
        </p:nvSpPr>
        <p:spPr>
          <a:xfrm>
            <a:off x="5730240" y="3220517"/>
            <a:ext cx="821863"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2022. 8. 8. 밤</a:t>
            </a:r>
          </a:p>
        </p:txBody>
      </p:sp>
      <p:sp>
        <p:nvSpPr>
          <p:cNvPr id="21" name="글 서울 관악구 신림동"/>
          <p:cNvSpPr txBox="1"/>
          <p:nvPr/>
        </p:nvSpPr>
        <p:spPr>
          <a:xfrm>
            <a:off x="5730240" y="3436315"/>
            <a:ext cx="1505224"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서울 관악구 신림동</a:t>
            </a:r>
          </a:p>
        </p:txBody>
      </p:sp>
      <p:sp>
        <p:nvSpPr>
          <p:cNvPr id="22" name="글 반지하 주택 침수"/>
          <p:cNvSpPr txBox="1"/>
          <p:nvPr/>
        </p:nvSpPr>
        <p:spPr>
          <a:xfrm>
            <a:off x="5730240" y="3700882"/>
            <a:ext cx="968472" cy="194310"/>
          </a:xfrm>
          <a:prstGeom prst="rect">
            <a:avLst/>
          </a:prstGeom>
          <a:noFill/>
        </p:spPr>
        <p:txBody>
          <a:bodyPr wrap="none" anchor="t" lIns="0" rIns="0" tIns="0" bIns="0">
            <a:noAutofit/>
          </a:bodyPr>
          <a:lstStyle/>
          <a:p>
            <a:pPr algn="l" eaLnBrk="0" latinLnBrk="0"/>
            <a:r>
              <a:rPr sz="1019" b="0">
                <a:solidFill>
                  <a:srgbClr val="566676"/>
                </a:solidFill>
                <a:latin typeface="Noto Sans KR"/>
                <a:ea typeface="Noto Sans KR"/>
                <a:cs typeface="Noto Sans KR"/>
              </a:rPr>
              <a:t>반지하 주택 침수</a:t>
            </a:r>
          </a:p>
        </p:txBody>
      </p:sp>
      <p:sp>
        <p:nvSpPr>
          <p:cNvPr id="23" name="Rounded Rectangle 22"/>
          <p:cNvSpPr/>
          <p:nvPr/>
        </p:nvSpPr>
        <p:spPr>
          <a:xfrm>
            <a:off x="10287000" y="3215640"/>
            <a:ext cx="1143000" cy="594360"/>
          </a:xfrm>
          <a:prstGeom prst="roundRect">
            <a:avLst>
              <a:gd name="adj" fmla="val 15384"/>
            </a:avLst>
          </a:prstGeom>
          <a:solidFill>
            <a:srgbClr val="FBEAE8"/>
          </a:solidFill>
          <a:ln>
            <a:noFill/>
          </a:ln>
        </p:spPr>
        <p:txBody>
          <a:bodyPr rtlCol="0" anchor="ctr"/>
          <a:lstStyle/>
          <a:p>
            <a:pPr algn="ctr"/>
          </a:p>
        </p:txBody>
      </p:sp>
      <p:sp>
        <p:nvSpPr>
          <p:cNvPr id="24" name="글 3"/>
          <p:cNvSpPr txBox="1"/>
          <p:nvPr/>
        </p:nvSpPr>
        <p:spPr>
          <a:xfrm>
            <a:off x="10673639" y="3297631"/>
            <a:ext cx="274015" cy="502920"/>
          </a:xfrm>
          <a:prstGeom prst="rect">
            <a:avLst/>
          </a:prstGeom>
          <a:noFill/>
        </p:spPr>
        <p:txBody>
          <a:bodyPr wrap="none" anchor="t" lIns="0" rIns="0" tIns="0" bIns="0">
            <a:noAutofit/>
          </a:bodyPr>
          <a:lstStyle/>
          <a:p>
            <a:pPr algn="l" eaLnBrk="0" latinLnBrk="0"/>
            <a:r>
              <a:rPr sz="2640" b="1">
                <a:solidFill>
                  <a:srgbClr val="B42318"/>
                </a:solidFill>
                <a:latin typeface="Noto Sans KR"/>
                <a:ea typeface="Noto Sans KR"/>
                <a:cs typeface="Noto Sans KR"/>
              </a:rPr>
              <a:t>3</a:t>
            </a:r>
          </a:p>
        </p:txBody>
      </p:sp>
      <p:sp>
        <p:nvSpPr>
          <p:cNvPr id="25" name="글 명"/>
          <p:cNvSpPr txBox="1"/>
          <p:nvPr/>
        </p:nvSpPr>
        <p:spPr>
          <a:xfrm>
            <a:off x="10917174" y="3487826"/>
            <a:ext cx="202387" cy="205740"/>
          </a:xfrm>
          <a:prstGeom prst="rect">
            <a:avLst/>
          </a:prstGeom>
          <a:noFill/>
        </p:spPr>
        <p:txBody>
          <a:bodyPr wrap="none" anchor="t" lIns="0" rIns="0" tIns="0" bIns="0">
            <a:noAutofit/>
          </a:bodyPr>
          <a:lstStyle/>
          <a:p>
            <a:pPr algn="l" eaLnBrk="0" latinLnBrk="0"/>
            <a:r>
              <a:rPr sz="1080" b="1">
                <a:solidFill>
                  <a:srgbClr val="B42318"/>
                </a:solidFill>
                <a:latin typeface="Noto Sans KR"/>
                <a:ea typeface="Noto Sans KR"/>
                <a:cs typeface="Noto Sans KR"/>
              </a:rPr>
              <a:t>명</a:t>
            </a:r>
          </a:p>
        </p:txBody>
      </p:sp>
      <p:sp>
        <p:nvSpPr>
          <p:cNvPr id="26" name="Rounded Rectangle 25"/>
          <p:cNvSpPr/>
          <p:nvPr/>
        </p:nvSpPr>
        <p:spPr>
          <a:xfrm>
            <a:off x="5486400" y="4130040"/>
            <a:ext cx="6096000" cy="899160"/>
          </a:xfrm>
          <a:prstGeom prst="roundRect">
            <a:avLst>
              <a:gd name="adj" fmla="val 11864"/>
            </a:avLst>
          </a:prstGeom>
          <a:solidFill>
            <a:srgbClr val="F2F5F8"/>
          </a:solidFill>
          <a:ln>
            <a:noFill/>
          </a:ln>
        </p:spPr>
        <p:txBody>
          <a:bodyPr rtlCol="0" anchor="ctr"/>
          <a:lstStyle/>
          <a:p>
            <a:pPr algn="ctr"/>
          </a:p>
        </p:txBody>
      </p:sp>
      <p:sp>
        <p:nvSpPr>
          <p:cNvPr id="27" name="글 2022. 9. 6. 06:45"/>
          <p:cNvSpPr txBox="1"/>
          <p:nvPr/>
        </p:nvSpPr>
        <p:spPr>
          <a:xfrm>
            <a:off x="5730240" y="4287317"/>
            <a:ext cx="1037052"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2022. 9. 6. 06:45</a:t>
            </a:r>
          </a:p>
        </p:txBody>
      </p:sp>
      <p:sp>
        <p:nvSpPr>
          <p:cNvPr id="28" name="글 경북 포항 인덕동"/>
          <p:cNvSpPr txBox="1"/>
          <p:nvPr/>
        </p:nvSpPr>
        <p:spPr>
          <a:xfrm>
            <a:off x="5730240" y="4503115"/>
            <a:ext cx="1336975"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경북 포항 인덕동</a:t>
            </a:r>
          </a:p>
        </p:txBody>
      </p:sp>
      <p:sp>
        <p:nvSpPr>
          <p:cNvPr id="29" name="글 아파트 지하주차장 침수"/>
          <p:cNvSpPr txBox="1"/>
          <p:nvPr/>
        </p:nvSpPr>
        <p:spPr>
          <a:xfrm>
            <a:off x="5730240" y="4767682"/>
            <a:ext cx="1326002" cy="194310"/>
          </a:xfrm>
          <a:prstGeom prst="rect">
            <a:avLst/>
          </a:prstGeom>
          <a:noFill/>
        </p:spPr>
        <p:txBody>
          <a:bodyPr wrap="none" anchor="t" lIns="0" rIns="0" tIns="0" bIns="0">
            <a:noAutofit/>
          </a:bodyPr>
          <a:lstStyle/>
          <a:p>
            <a:pPr algn="l" eaLnBrk="0" latinLnBrk="0"/>
            <a:r>
              <a:rPr sz="1019" b="0">
                <a:solidFill>
                  <a:srgbClr val="566676"/>
                </a:solidFill>
                <a:latin typeface="Noto Sans KR"/>
                <a:ea typeface="Noto Sans KR"/>
                <a:cs typeface="Noto Sans KR"/>
              </a:rPr>
              <a:t>아파트 지하주차장 침수</a:t>
            </a:r>
          </a:p>
        </p:txBody>
      </p:sp>
      <p:sp>
        <p:nvSpPr>
          <p:cNvPr id="30" name="Rounded Rectangle 29"/>
          <p:cNvSpPr/>
          <p:nvPr/>
        </p:nvSpPr>
        <p:spPr>
          <a:xfrm>
            <a:off x="10287000" y="4282440"/>
            <a:ext cx="1143000" cy="594360"/>
          </a:xfrm>
          <a:prstGeom prst="roundRect">
            <a:avLst>
              <a:gd name="adj" fmla="val 15384"/>
            </a:avLst>
          </a:prstGeom>
          <a:solidFill>
            <a:srgbClr val="FBEAE8"/>
          </a:solidFill>
          <a:ln>
            <a:noFill/>
          </a:ln>
        </p:spPr>
        <p:txBody>
          <a:bodyPr rtlCol="0" anchor="ctr"/>
          <a:lstStyle/>
          <a:p>
            <a:pPr algn="ctr"/>
          </a:p>
        </p:txBody>
      </p:sp>
      <p:sp>
        <p:nvSpPr>
          <p:cNvPr id="31" name="글 7"/>
          <p:cNvSpPr txBox="1"/>
          <p:nvPr/>
        </p:nvSpPr>
        <p:spPr>
          <a:xfrm>
            <a:off x="10673639" y="4364431"/>
            <a:ext cx="274015" cy="502920"/>
          </a:xfrm>
          <a:prstGeom prst="rect">
            <a:avLst/>
          </a:prstGeom>
          <a:noFill/>
        </p:spPr>
        <p:txBody>
          <a:bodyPr wrap="none" anchor="t" lIns="0" rIns="0" tIns="0" bIns="0">
            <a:noAutofit/>
          </a:bodyPr>
          <a:lstStyle/>
          <a:p>
            <a:pPr algn="l" eaLnBrk="0" latinLnBrk="0"/>
            <a:r>
              <a:rPr sz="2640" b="1">
                <a:solidFill>
                  <a:srgbClr val="B42318"/>
                </a:solidFill>
                <a:latin typeface="Noto Sans KR"/>
                <a:ea typeface="Noto Sans KR"/>
                <a:cs typeface="Noto Sans KR"/>
              </a:rPr>
              <a:t>7</a:t>
            </a:r>
          </a:p>
        </p:txBody>
      </p:sp>
      <p:sp>
        <p:nvSpPr>
          <p:cNvPr id="32" name="글 명"/>
          <p:cNvSpPr txBox="1"/>
          <p:nvPr/>
        </p:nvSpPr>
        <p:spPr>
          <a:xfrm>
            <a:off x="10917174" y="4554626"/>
            <a:ext cx="202387" cy="205740"/>
          </a:xfrm>
          <a:prstGeom prst="rect">
            <a:avLst/>
          </a:prstGeom>
          <a:noFill/>
        </p:spPr>
        <p:txBody>
          <a:bodyPr wrap="none" anchor="t" lIns="0" rIns="0" tIns="0" bIns="0">
            <a:noAutofit/>
          </a:bodyPr>
          <a:lstStyle/>
          <a:p>
            <a:pPr algn="l" eaLnBrk="0" latinLnBrk="0"/>
            <a:r>
              <a:rPr sz="1080" b="1">
                <a:solidFill>
                  <a:srgbClr val="B42318"/>
                </a:solidFill>
                <a:latin typeface="Noto Sans KR"/>
                <a:ea typeface="Noto Sans KR"/>
                <a:cs typeface="Noto Sans KR"/>
              </a:rPr>
              <a:t>명</a:t>
            </a:r>
          </a:p>
        </p:txBody>
      </p:sp>
      <p:sp>
        <p:nvSpPr>
          <p:cNvPr id="33" name="글 사망자는 공식 발표·보도 수치 · 세 사건 "/>
          <p:cNvSpPr txBox="1"/>
          <p:nvPr/>
        </p:nvSpPr>
        <p:spPr>
          <a:xfrm>
            <a:off x="8598179" y="5224272"/>
            <a:ext cx="2984221" cy="171450"/>
          </a:xfrm>
          <a:prstGeom prst="rect">
            <a:avLst/>
          </a:prstGeom>
          <a:noFill/>
        </p:spPr>
        <p:txBody>
          <a:bodyPr wrap="none" anchor="t" lIns="0" rIns="0" tIns="0" bIns="0">
            <a:noAutofit/>
          </a:bodyPr>
          <a:lstStyle/>
          <a:p>
            <a:pPr algn="r" eaLnBrk="0" latinLnBrk="0"/>
            <a:r>
              <a:rPr sz="900" b="0">
                <a:solidFill>
                  <a:srgbClr val="8494A3"/>
                </a:solidFill>
                <a:latin typeface="Noto Sans KR"/>
                <a:ea typeface="Noto Sans KR"/>
                <a:cs typeface="Noto Sans KR"/>
              </a:rPr>
              <a:t>사망자는 공식 발표·보도 수치 · 세 사건 합계가 아닌 대표 사례</a:t>
            </a:r>
          </a:p>
        </p:txBody>
      </p:sp>
      <p:sp>
        <p:nvSpPr>
          <p:cNvPr id="34" name="글 세 사건 모두 «언제 막았어야 했나»가 뒤늦"/>
          <p:cNvSpPr txBox="1"/>
          <p:nvPr/>
        </p:nvSpPr>
        <p:spPr>
          <a:xfrm>
            <a:off x="609600" y="5927750"/>
            <a:ext cx="8608733" cy="262890"/>
          </a:xfrm>
          <a:prstGeom prst="rect">
            <a:avLst/>
          </a:prstGeom>
          <a:noFill/>
        </p:spPr>
        <p:txBody>
          <a:bodyPr wrap="none" anchor="t" lIns="0" rIns="0" tIns="0" bIns="0">
            <a:noAutofit/>
          </a:bodyPr>
          <a:lstStyle/>
          <a:p>
            <a:pPr algn="l" eaLnBrk="0" latinLnBrk="0"/>
            <a:r>
              <a:rPr sz="1380" b="1">
                <a:solidFill>
                  <a:srgbClr val="0F1E2E"/>
                </a:solidFill>
                <a:latin typeface="Noto Sans KR"/>
                <a:ea typeface="Noto Sans KR"/>
                <a:cs typeface="Noto Sans KR"/>
              </a:rPr>
              <a:t>세 사건 모두 «언제 막았어야 했나»가 뒤늦게 질문됐습니다. FloodOps는 그 질문을 사건이 끝난 뒤 다시 재생해 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4"/>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04</a:t>
            </a:r>
          </a:p>
        </p:txBody>
      </p:sp>
      <p:sp>
        <p:nvSpPr>
          <p:cNvPr id="3" name="글 배경과 문제"/>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배경과 문제</a:t>
            </a:r>
          </a:p>
        </p:txBody>
      </p:sp>
      <p:sp>
        <p:nvSpPr>
          <p:cNvPr id="4" name="글 판단할 시간은 어떻게 줄었나"/>
          <p:cNvSpPr txBox="1"/>
          <p:nvPr/>
        </p:nvSpPr>
        <p:spPr>
          <a:xfrm>
            <a:off x="609600" y="853440"/>
            <a:ext cx="4541901"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판단할 시간은 어떻게 줄었나</a:t>
            </a:r>
          </a:p>
        </p:txBody>
      </p:sp>
      <p:sp>
        <p:nvSpPr>
          <p:cNvPr id="5" name="글 오송 사건을 7단계로 재구성하면, 통제 요건"/>
          <p:cNvSpPr txBox="1"/>
          <p:nvPr/>
        </p:nvSpPr>
        <p:spPr>
          <a:xfrm>
            <a:off x="609600" y="1409395"/>
            <a:ext cx="6117458"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오송 사건을 7단계로 재구성하면, 통제 요건이 갖춰진 뒤에도 107분이 흘렀습니다</a:t>
            </a:r>
          </a:p>
        </p:txBody>
      </p:sp>
      <p:cxnSp>
        <p:nvCxnSpPr>
          <p:cNvPr id="6" name="Connector 5"/>
          <p:cNvCxnSpPr/>
          <p:nvPr/>
        </p:nvCxnSpPr>
        <p:spPr>
          <a:xfrm>
            <a:off x="914400" y="3200400"/>
            <a:ext cx="10363200" cy="0"/>
          </a:xfrm>
          <a:prstGeom prst="line">
            <a:avLst/>
          </a:prstGeom>
          <a:ln w="45720">
            <a:solidFill>
              <a:srgbClr val="B9C7D3"/>
            </a:solidFill>
          </a:ln>
        </p:spPr>
      </p:cxnSp>
      <p:cxnSp>
        <p:nvCxnSpPr>
          <p:cNvPr id="7" name="Connector 6"/>
          <p:cNvCxnSpPr/>
          <p:nvPr/>
        </p:nvCxnSpPr>
        <p:spPr>
          <a:xfrm>
            <a:off x="3346298" y="3200400"/>
            <a:ext cx="6061781" cy="0"/>
          </a:xfrm>
          <a:prstGeom prst="line">
            <a:avLst/>
          </a:prstGeom>
          <a:ln w="45720">
            <a:solidFill>
              <a:srgbClr val="0B8577"/>
            </a:solidFill>
          </a:ln>
        </p:spPr>
      </p:cxnSp>
      <p:cxnSp>
        <p:nvCxnSpPr>
          <p:cNvPr id="8" name="Connector 7"/>
          <p:cNvCxnSpPr/>
          <p:nvPr/>
        </p:nvCxnSpPr>
        <p:spPr>
          <a:xfrm>
            <a:off x="9408079" y="3200400"/>
            <a:ext cx="736478" cy="0"/>
          </a:xfrm>
          <a:prstGeom prst="line">
            <a:avLst/>
          </a:prstGeom>
          <a:ln w="45720">
            <a:solidFill>
              <a:srgbClr val="B42318"/>
            </a:solidFill>
          </a:ln>
        </p:spPr>
      </p:cxnSp>
      <p:sp>
        <p:nvSpPr>
          <p:cNvPr id="9" name="글 06:30"/>
          <p:cNvSpPr txBox="1"/>
          <p:nvPr/>
        </p:nvSpPr>
        <p:spPr>
          <a:xfrm>
            <a:off x="2617950" y="3333902"/>
            <a:ext cx="323652" cy="148590"/>
          </a:xfrm>
          <a:prstGeom prst="rect">
            <a:avLst/>
          </a:prstGeom>
          <a:noFill/>
        </p:spPr>
        <p:txBody>
          <a:bodyPr wrap="none" anchor="t" lIns="0" rIns="0" tIns="0" bIns="0">
            <a:noAutofit/>
          </a:bodyPr>
          <a:lstStyle/>
          <a:p>
            <a:pPr algn="ctr" eaLnBrk="0" latinLnBrk="0"/>
            <a:r>
              <a:rPr sz="780" b="0">
                <a:solidFill>
                  <a:srgbClr val="8494A3"/>
                </a:solidFill>
                <a:latin typeface="Noto Sans KR"/>
                <a:ea typeface="Noto Sans KR"/>
                <a:cs typeface="Noto Sans KR"/>
              </a:rPr>
              <a:t>06:30</a:t>
            </a:r>
          </a:p>
        </p:txBody>
      </p:sp>
      <p:cxnSp>
        <p:nvCxnSpPr>
          <p:cNvPr id="10" name="Connector 9"/>
          <p:cNvCxnSpPr/>
          <p:nvPr/>
        </p:nvCxnSpPr>
        <p:spPr>
          <a:xfrm>
            <a:off x="2779776" y="3139440"/>
            <a:ext cx="0" cy="121920"/>
          </a:xfrm>
          <a:prstGeom prst="line">
            <a:avLst/>
          </a:prstGeom>
          <a:ln w="11430">
            <a:solidFill>
              <a:srgbClr val="8494A3"/>
            </a:solidFill>
          </a:ln>
        </p:spPr>
      </p:cxnSp>
      <p:sp>
        <p:nvSpPr>
          <p:cNvPr id="11" name="Oval 10"/>
          <p:cNvSpPr/>
          <p:nvPr/>
        </p:nvSpPr>
        <p:spPr>
          <a:xfrm>
            <a:off x="954938" y="3116580"/>
            <a:ext cx="167640" cy="167640"/>
          </a:xfrm>
          <a:prstGeom prst="ellipse">
            <a:avLst/>
          </a:prstGeom>
          <a:solidFill>
            <a:srgbClr val="0B8577"/>
          </a:solidFill>
          <a:ln w="22860">
            <a:solidFill>
              <a:srgbClr val="FFFFFF"/>
            </a:solidFill>
          </a:ln>
        </p:spPr>
        <p:txBody>
          <a:bodyPr rtlCol="0" anchor="ctr"/>
          <a:lstStyle/>
          <a:p>
            <a:pPr algn="ctr"/>
          </a:p>
        </p:txBody>
      </p:sp>
      <p:cxnSp>
        <p:nvCxnSpPr>
          <p:cNvPr id="12" name="Connector 11"/>
          <p:cNvCxnSpPr/>
          <p:nvPr/>
        </p:nvCxnSpPr>
        <p:spPr>
          <a:xfrm flipV="1">
            <a:off x="1038758" y="2865120"/>
            <a:ext cx="0" cy="243840"/>
          </a:xfrm>
          <a:prstGeom prst="line">
            <a:avLst/>
          </a:prstGeom>
          <a:ln w="11430">
            <a:solidFill>
              <a:srgbClr val="D6DEE6"/>
            </a:solidFill>
          </a:ln>
        </p:spPr>
      </p:cxnSp>
      <p:sp>
        <p:nvSpPr>
          <p:cNvPr id="13" name="글 04:10"/>
          <p:cNvSpPr txBox="1"/>
          <p:nvPr/>
        </p:nvSpPr>
        <p:spPr>
          <a:xfrm>
            <a:off x="775602" y="2429866"/>
            <a:ext cx="526313" cy="251460"/>
          </a:xfrm>
          <a:prstGeom prst="rect">
            <a:avLst/>
          </a:prstGeom>
          <a:noFill/>
        </p:spPr>
        <p:txBody>
          <a:bodyPr wrap="none" anchor="t" lIns="0" rIns="0" tIns="0" bIns="0">
            <a:noAutofit/>
          </a:bodyPr>
          <a:lstStyle/>
          <a:p>
            <a:pPr algn="ctr" eaLnBrk="0" latinLnBrk="0"/>
            <a:r>
              <a:rPr sz="1320" b="1">
                <a:solidFill>
                  <a:srgbClr val="0B8577"/>
                </a:solidFill>
                <a:latin typeface="Noto Sans KR"/>
                <a:ea typeface="Noto Sans KR"/>
                <a:cs typeface="Noto Sans KR"/>
              </a:rPr>
              <a:t>04:10</a:t>
            </a:r>
          </a:p>
        </p:txBody>
      </p:sp>
      <p:sp>
        <p:nvSpPr>
          <p:cNvPr id="14" name="글 홍수경보 발령"/>
          <p:cNvSpPr txBox="1"/>
          <p:nvPr/>
        </p:nvSpPr>
        <p:spPr>
          <a:xfrm>
            <a:off x="628425" y="2634082"/>
            <a:ext cx="820666"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홍수경보 발령</a:t>
            </a:r>
          </a:p>
        </p:txBody>
      </p:sp>
      <p:sp>
        <p:nvSpPr>
          <p:cNvPr id="15" name="글 사건 기록"/>
          <p:cNvSpPr txBox="1"/>
          <p:nvPr/>
        </p:nvSpPr>
        <p:spPr>
          <a:xfrm>
            <a:off x="792419" y="2808427"/>
            <a:ext cx="492679"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사건 기록</a:t>
            </a:r>
          </a:p>
        </p:txBody>
      </p:sp>
      <p:sp>
        <p:nvSpPr>
          <p:cNvPr id="16" name="Oval 15"/>
          <p:cNvSpPr/>
          <p:nvPr/>
        </p:nvSpPr>
        <p:spPr>
          <a:xfrm>
            <a:off x="3262478" y="3116580"/>
            <a:ext cx="167640" cy="167640"/>
          </a:xfrm>
          <a:prstGeom prst="ellipse">
            <a:avLst/>
          </a:prstGeom>
          <a:solidFill>
            <a:srgbClr val="0B8577"/>
          </a:solidFill>
          <a:ln w="22860">
            <a:solidFill>
              <a:srgbClr val="FFFFFF"/>
            </a:solidFill>
          </a:ln>
        </p:spPr>
        <p:txBody>
          <a:bodyPr rtlCol="0" anchor="ctr"/>
          <a:lstStyle/>
          <a:p>
            <a:pPr algn="ctr"/>
          </a:p>
        </p:txBody>
      </p:sp>
      <p:cxnSp>
        <p:nvCxnSpPr>
          <p:cNvPr id="17" name="Connector 16"/>
          <p:cNvCxnSpPr/>
          <p:nvPr/>
        </p:nvCxnSpPr>
        <p:spPr>
          <a:xfrm>
            <a:off x="3346298" y="3291840"/>
            <a:ext cx="0" cy="243840"/>
          </a:xfrm>
          <a:prstGeom prst="line">
            <a:avLst/>
          </a:prstGeom>
          <a:ln w="11430">
            <a:solidFill>
              <a:srgbClr val="D6DEE6"/>
            </a:solidFill>
          </a:ln>
        </p:spPr>
      </p:cxnSp>
      <p:sp>
        <p:nvSpPr>
          <p:cNvPr id="18" name="글 06:40"/>
          <p:cNvSpPr txBox="1"/>
          <p:nvPr/>
        </p:nvSpPr>
        <p:spPr>
          <a:xfrm>
            <a:off x="3083141" y="3770986"/>
            <a:ext cx="526313" cy="251460"/>
          </a:xfrm>
          <a:prstGeom prst="rect">
            <a:avLst/>
          </a:prstGeom>
          <a:noFill/>
        </p:spPr>
        <p:txBody>
          <a:bodyPr wrap="none" anchor="t" lIns="0" rIns="0" tIns="0" bIns="0">
            <a:noAutofit/>
          </a:bodyPr>
          <a:lstStyle/>
          <a:p>
            <a:pPr algn="ctr" eaLnBrk="0" latinLnBrk="0"/>
            <a:r>
              <a:rPr sz="1320" b="1">
                <a:solidFill>
                  <a:srgbClr val="0B8577"/>
                </a:solidFill>
                <a:latin typeface="Noto Sans KR"/>
                <a:ea typeface="Noto Sans KR"/>
                <a:cs typeface="Noto Sans KR"/>
              </a:rPr>
              <a:t>06:40</a:t>
            </a:r>
          </a:p>
        </p:txBody>
      </p:sp>
      <p:sp>
        <p:nvSpPr>
          <p:cNvPr id="19" name="글 미호강 계획홍수위 도달"/>
          <p:cNvSpPr txBox="1"/>
          <p:nvPr/>
        </p:nvSpPr>
        <p:spPr>
          <a:xfrm>
            <a:off x="2682908" y="3990442"/>
            <a:ext cx="1326779"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미호강 계획홍수위 도달</a:t>
            </a:r>
          </a:p>
        </p:txBody>
      </p:sp>
      <p:sp>
        <p:nvSpPr>
          <p:cNvPr id="20" name="글 국무조정실 발표"/>
          <p:cNvSpPr txBox="1"/>
          <p:nvPr/>
        </p:nvSpPr>
        <p:spPr>
          <a:xfrm>
            <a:off x="2952740" y="4164787"/>
            <a:ext cx="787116"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국무조정실 발표</a:t>
            </a:r>
          </a:p>
        </p:txBody>
      </p:sp>
      <p:sp>
        <p:nvSpPr>
          <p:cNvPr id="21" name="Oval 20"/>
          <p:cNvSpPr/>
          <p:nvPr/>
        </p:nvSpPr>
        <p:spPr>
          <a:xfrm>
            <a:off x="7228129" y="3116580"/>
            <a:ext cx="167640" cy="167640"/>
          </a:xfrm>
          <a:prstGeom prst="ellipse">
            <a:avLst/>
          </a:prstGeom>
          <a:solidFill>
            <a:srgbClr val="B7791F"/>
          </a:solidFill>
          <a:ln w="22860">
            <a:solidFill>
              <a:srgbClr val="FFFFFF"/>
            </a:solidFill>
          </a:ln>
        </p:spPr>
        <p:txBody>
          <a:bodyPr rtlCol="0" anchor="ctr"/>
          <a:lstStyle/>
          <a:p>
            <a:pPr algn="ctr"/>
          </a:p>
        </p:txBody>
      </p:sp>
      <p:cxnSp>
        <p:nvCxnSpPr>
          <p:cNvPr id="22" name="Connector 21"/>
          <p:cNvCxnSpPr/>
          <p:nvPr/>
        </p:nvCxnSpPr>
        <p:spPr>
          <a:xfrm flipV="1">
            <a:off x="7311949" y="2865120"/>
            <a:ext cx="0" cy="243840"/>
          </a:xfrm>
          <a:prstGeom prst="line">
            <a:avLst/>
          </a:prstGeom>
          <a:ln w="11430">
            <a:solidFill>
              <a:srgbClr val="D6DEE6"/>
            </a:solidFill>
          </a:ln>
        </p:spPr>
      </p:cxnSp>
      <p:sp>
        <p:nvSpPr>
          <p:cNvPr id="23" name="글 07:50"/>
          <p:cNvSpPr txBox="1"/>
          <p:nvPr/>
        </p:nvSpPr>
        <p:spPr>
          <a:xfrm>
            <a:off x="7048792" y="2429866"/>
            <a:ext cx="526313" cy="251460"/>
          </a:xfrm>
          <a:prstGeom prst="rect">
            <a:avLst/>
          </a:prstGeom>
          <a:noFill/>
        </p:spPr>
        <p:txBody>
          <a:bodyPr wrap="none" anchor="t" lIns="0" rIns="0" tIns="0" bIns="0">
            <a:noAutofit/>
          </a:bodyPr>
          <a:lstStyle/>
          <a:p>
            <a:pPr algn="ctr" eaLnBrk="0" latinLnBrk="0"/>
            <a:r>
              <a:rPr sz="1320" b="1">
                <a:solidFill>
                  <a:srgbClr val="B7791F"/>
                </a:solidFill>
                <a:latin typeface="Noto Sans KR"/>
                <a:ea typeface="Noto Sans KR"/>
                <a:cs typeface="Noto Sans KR"/>
              </a:rPr>
              <a:t>07:50</a:t>
            </a:r>
          </a:p>
        </p:txBody>
      </p:sp>
      <p:sp>
        <p:nvSpPr>
          <p:cNvPr id="24" name="글 월류 시작"/>
          <p:cNvSpPr txBox="1"/>
          <p:nvPr/>
        </p:nvSpPr>
        <p:spPr>
          <a:xfrm>
            <a:off x="7020792" y="2634082"/>
            <a:ext cx="582313"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월류 시작</a:t>
            </a:r>
          </a:p>
        </p:txBody>
      </p:sp>
      <p:sp>
        <p:nvSpPr>
          <p:cNvPr id="25" name="글 사건 기록"/>
          <p:cNvSpPr txBox="1"/>
          <p:nvPr/>
        </p:nvSpPr>
        <p:spPr>
          <a:xfrm>
            <a:off x="7065609" y="2808427"/>
            <a:ext cx="492679"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사건 기록</a:t>
            </a:r>
          </a:p>
        </p:txBody>
      </p:sp>
      <p:sp>
        <p:nvSpPr>
          <p:cNvPr id="26" name="Oval 25"/>
          <p:cNvSpPr/>
          <p:nvPr/>
        </p:nvSpPr>
        <p:spPr>
          <a:xfrm>
            <a:off x="8304520" y="3116580"/>
            <a:ext cx="167640" cy="167640"/>
          </a:xfrm>
          <a:prstGeom prst="ellipse">
            <a:avLst/>
          </a:prstGeom>
          <a:solidFill>
            <a:srgbClr val="B7791F"/>
          </a:solidFill>
          <a:ln w="22860">
            <a:solidFill>
              <a:srgbClr val="FFFFFF"/>
            </a:solidFill>
          </a:ln>
        </p:spPr>
        <p:txBody>
          <a:bodyPr rtlCol="0" anchor="ctr"/>
          <a:lstStyle/>
          <a:p>
            <a:pPr algn="ctr"/>
          </a:p>
        </p:txBody>
      </p:sp>
      <p:cxnSp>
        <p:nvCxnSpPr>
          <p:cNvPr id="27" name="Connector 26"/>
          <p:cNvCxnSpPr/>
          <p:nvPr/>
        </p:nvCxnSpPr>
        <p:spPr>
          <a:xfrm flipH="1">
            <a:off x="8083540" y="3291840"/>
            <a:ext cx="304800" cy="243840"/>
          </a:xfrm>
          <a:prstGeom prst="line">
            <a:avLst/>
          </a:prstGeom>
          <a:ln w="11430">
            <a:solidFill>
              <a:srgbClr val="D6DEE6"/>
            </a:solidFill>
          </a:ln>
        </p:spPr>
      </p:cxnSp>
      <p:sp>
        <p:nvSpPr>
          <p:cNvPr id="28" name="글 08:09"/>
          <p:cNvSpPr txBox="1"/>
          <p:nvPr/>
        </p:nvSpPr>
        <p:spPr>
          <a:xfrm>
            <a:off x="7820383" y="3770986"/>
            <a:ext cx="526313" cy="251460"/>
          </a:xfrm>
          <a:prstGeom prst="rect">
            <a:avLst/>
          </a:prstGeom>
          <a:noFill/>
        </p:spPr>
        <p:txBody>
          <a:bodyPr wrap="none" anchor="t" lIns="0" rIns="0" tIns="0" bIns="0">
            <a:noAutofit/>
          </a:bodyPr>
          <a:lstStyle/>
          <a:p>
            <a:pPr algn="ctr" eaLnBrk="0" latinLnBrk="0"/>
            <a:r>
              <a:rPr sz="1320" b="1">
                <a:solidFill>
                  <a:srgbClr val="B7791F"/>
                </a:solidFill>
                <a:latin typeface="Noto Sans KR"/>
                <a:ea typeface="Noto Sans KR"/>
                <a:cs typeface="Noto Sans KR"/>
              </a:rPr>
              <a:t>08:09</a:t>
            </a:r>
          </a:p>
        </p:txBody>
      </p:sp>
      <p:sp>
        <p:nvSpPr>
          <p:cNvPr id="29" name="글 임시제방 붕괴"/>
          <p:cNvSpPr txBox="1"/>
          <p:nvPr/>
        </p:nvSpPr>
        <p:spPr>
          <a:xfrm>
            <a:off x="7673207" y="3990442"/>
            <a:ext cx="820666"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임시제방 붕괴</a:t>
            </a:r>
          </a:p>
        </p:txBody>
      </p:sp>
      <p:sp>
        <p:nvSpPr>
          <p:cNvPr id="30" name="글 사건 기록"/>
          <p:cNvSpPr txBox="1"/>
          <p:nvPr/>
        </p:nvSpPr>
        <p:spPr>
          <a:xfrm>
            <a:off x="7837200" y="4164787"/>
            <a:ext cx="492679"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사건 기록</a:t>
            </a:r>
          </a:p>
        </p:txBody>
      </p:sp>
      <p:sp>
        <p:nvSpPr>
          <p:cNvPr id="31" name="Oval 30"/>
          <p:cNvSpPr/>
          <p:nvPr/>
        </p:nvSpPr>
        <p:spPr>
          <a:xfrm>
            <a:off x="9324259" y="3116580"/>
            <a:ext cx="167640" cy="167640"/>
          </a:xfrm>
          <a:prstGeom prst="ellipse">
            <a:avLst/>
          </a:prstGeom>
          <a:solidFill>
            <a:srgbClr val="B42318"/>
          </a:solidFill>
          <a:ln w="22860">
            <a:solidFill>
              <a:srgbClr val="FFFFFF"/>
            </a:solidFill>
          </a:ln>
        </p:spPr>
        <p:txBody>
          <a:bodyPr rtlCol="0" anchor="ctr"/>
          <a:lstStyle/>
          <a:p>
            <a:pPr algn="ctr"/>
          </a:p>
        </p:txBody>
      </p:sp>
      <p:cxnSp>
        <p:nvCxnSpPr>
          <p:cNvPr id="32" name="Connector 31"/>
          <p:cNvCxnSpPr/>
          <p:nvPr/>
        </p:nvCxnSpPr>
        <p:spPr>
          <a:xfrm flipH="1" flipV="1">
            <a:off x="8874679" y="2865120"/>
            <a:ext cx="533400" cy="243840"/>
          </a:xfrm>
          <a:prstGeom prst="line">
            <a:avLst/>
          </a:prstGeom>
          <a:ln w="11430">
            <a:solidFill>
              <a:srgbClr val="D6DEE6"/>
            </a:solidFill>
          </a:ln>
        </p:spPr>
      </p:cxnSp>
      <p:sp>
        <p:nvSpPr>
          <p:cNvPr id="33" name="글 08:27"/>
          <p:cNvSpPr txBox="1"/>
          <p:nvPr/>
        </p:nvSpPr>
        <p:spPr>
          <a:xfrm>
            <a:off x="8611522" y="2429866"/>
            <a:ext cx="526313" cy="251460"/>
          </a:xfrm>
          <a:prstGeom prst="rect">
            <a:avLst/>
          </a:prstGeom>
          <a:noFill/>
        </p:spPr>
        <p:txBody>
          <a:bodyPr wrap="none" anchor="t" lIns="0" rIns="0" tIns="0" bIns="0">
            <a:noAutofit/>
          </a:bodyPr>
          <a:lstStyle/>
          <a:p>
            <a:pPr algn="ctr" eaLnBrk="0" latinLnBrk="0"/>
            <a:r>
              <a:rPr sz="1320" b="1">
                <a:solidFill>
                  <a:srgbClr val="B42318"/>
                </a:solidFill>
                <a:latin typeface="Noto Sans KR"/>
                <a:ea typeface="Noto Sans KR"/>
                <a:cs typeface="Noto Sans KR"/>
              </a:rPr>
              <a:t>08:27</a:t>
            </a:r>
          </a:p>
        </p:txBody>
      </p:sp>
      <p:sp>
        <p:nvSpPr>
          <p:cNvPr id="34" name="글 지하차도 유입 시작"/>
          <p:cNvSpPr txBox="1"/>
          <p:nvPr/>
        </p:nvSpPr>
        <p:spPr>
          <a:xfrm>
            <a:off x="8330466" y="2634082"/>
            <a:ext cx="1088426"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지하차도 유입 시작</a:t>
            </a:r>
          </a:p>
        </p:txBody>
      </p:sp>
      <p:sp>
        <p:nvSpPr>
          <p:cNvPr id="35" name="글 CCTV 기준"/>
          <p:cNvSpPr txBox="1"/>
          <p:nvPr/>
        </p:nvSpPr>
        <p:spPr>
          <a:xfrm>
            <a:off x="8595802" y="2808427"/>
            <a:ext cx="557754"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CCTV 기준</a:t>
            </a:r>
          </a:p>
        </p:txBody>
      </p:sp>
      <p:sp>
        <p:nvSpPr>
          <p:cNvPr id="36" name="Oval 35"/>
          <p:cNvSpPr/>
          <p:nvPr/>
        </p:nvSpPr>
        <p:spPr>
          <a:xfrm>
            <a:off x="9777476" y="3116580"/>
            <a:ext cx="167640" cy="167640"/>
          </a:xfrm>
          <a:prstGeom prst="ellipse">
            <a:avLst/>
          </a:prstGeom>
          <a:solidFill>
            <a:srgbClr val="B42318"/>
          </a:solidFill>
          <a:ln w="22860">
            <a:solidFill>
              <a:srgbClr val="FFFFFF"/>
            </a:solidFill>
          </a:ln>
        </p:spPr>
        <p:txBody>
          <a:bodyPr rtlCol="0" anchor="ctr"/>
          <a:lstStyle/>
          <a:p>
            <a:pPr algn="ctr"/>
          </a:p>
        </p:txBody>
      </p:sp>
      <p:cxnSp>
        <p:nvCxnSpPr>
          <p:cNvPr id="37" name="Connector 36"/>
          <p:cNvCxnSpPr/>
          <p:nvPr/>
        </p:nvCxnSpPr>
        <p:spPr>
          <a:xfrm>
            <a:off x="9861296" y="3291840"/>
            <a:ext cx="304800" cy="243840"/>
          </a:xfrm>
          <a:prstGeom prst="line">
            <a:avLst/>
          </a:prstGeom>
          <a:ln w="11430">
            <a:solidFill>
              <a:srgbClr val="D6DEE6"/>
            </a:solidFill>
          </a:ln>
        </p:spPr>
      </p:cxnSp>
      <p:sp>
        <p:nvSpPr>
          <p:cNvPr id="38" name="글 08:35"/>
          <p:cNvSpPr txBox="1"/>
          <p:nvPr/>
        </p:nvSpPr>
        <p:spPr>
          <a:xfrm>
            <a:off x="9902939" y="3770986"/>
            <a:ext cx="526313" cy="251460"/>
          </a:xfrm>
          <a:prstGeom prst="rect">
            <a:avLst/>
          </a:prstGeom>
          <a:noFill/>
        </p:spPr>
        <p:txBody>
          <a:bodyPr wrap="none" anchor="t" lIns="0" rIns="0" tIns="0" bIns="0">
            <a:noAutofit/>
          </a:bodyPr>
          <a:lstStyle/>
          <a:p>
            <a:pPr algn="ctr" eaLnBrk="0" latinLnBrk="0"/>
            <a:r>
              <a:rPr sz="1320" b="1">
                <a:solidFill>
                  <a:srgbClr val="B42318"/>
                </a:solidFill>
                <a:latin typeface="Noto Sans KR"/>
                <a:ea typeface="Noto Sans KR"/>
                <a:cs typeface="Noto Sans KR"/>
              </a:rPr>
              <a:t>08:35</a:t>
            </a:r>
          </a:p>
        </p:txBody>
      </p:sp>
      <p:sp>
        <p:nvSpPr>
          <p:cNvPr id="39" name="글 차량 통행 위험"/>
          <p:cNvSpPr txBox="1"/>
          <p:nvPr/>
        </p:nvSpPr>
        <p:spPr>
          <a:xfrm>
            <a:off x="9741060" y="3990442"/>
            <a:ext cx="850072"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차량 통행 위험</a:t>
            </a:r>
          </a:p>
        </p:txBody>
      </p:sp>
      <p:sp>
        <p:nvSpPr>
          <p:cNvPr id="40" name="글 CCTV 기준"/>
          <p:cNvSpPr txBox="1"/>
          <p:nvPr/>
        </p:nvSpPr>
        <p:spPr>
          <a:xfrm>
            <a:off x="9887219" y="4164787"/>
            <a:ext cx="557754"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CCTV 기준</a:t>
            </a:r>
          </a:p>
        </p:txBody>
      </p:sp>
      <p:sp>
        <p:nvSpPr>
          <p:cNvPr id="41" name="Oval 40"/>
          <p:cNvSpPr/>
          <p:nvPr/>
        </p:nvSpPr>
        <p:spPr>
          <a:xfrm>
            <a:off x="10060737" y="3116580"/>
            <a:ext cx="167640" cy="167640"/>
          </a:xfrm>
          <a:prstGeom prst="ellipse">
            <a:avLst/>
          </a:prstGeom>
          <a:solidFill>
            <a:srgbClr val="B42318"/>
          </a:solidFill>
          <a:ln w="22860">
            <a:solidFill>
              <a:srgbClr val="FFFFFF"/>
            </a:solidFill>
          </a:ln>
        </p:spPr>
        <p:txBody>
          <a:bodyPr rtlCol="0" anchor="ctr"/>
          <a:lstStyle/>
          <a:p>
            <a:pPr algn="ctr"/>
          </a:p>
        </p:txBody>
      </p:sp>
      <p:cxnSp>
        <p:nvCxnSpPr>
          <p:cNvPr id="42" name="Connector 41"/>
          <p:cNvCxnSpPr/>
          <p:nvPr/>
        </p:nvCxnSpPr>
        <p:spPr>
          <a:xfrm flipV="1">
            <a:off x="10144557" y="2865120"/>
            <a:ext cx="838200" cy="243840"/>
          </a:xfrm>
          <a:prstGeom prst="line">
            <a:avLst/>
          </a:prstGeom>
          <a:ln w="11430">
            <a:solidFill>
              <a:srgbClr val="D6DEE6"/>
            </a:solidFill>
          </a:ln>
        </p:spPr>
      </p:cxnSp>
      <p:sp>
        <p:nvSpPr>
          <p:cNvPr id="43" name="글 08:40"/>
          <p:cNvSpPr txBox="1"/>
          <p:nvPr/>
        </p:nvSpPr>
        <p:spPr>
          <a:xfrm>
            <a:off x="10719600" y="2429866"/>
            <a:ext cx="526313" cy="251460"/>
          </a:xfrm>
          <a:prstGeom prst="rect">
            <a:avLst/>
          </a:prstGeom>
          <a:noFill/>
        </p:spPr>
        <p:txBody>
          <a:bodyPr wrap="none" anchor="t" lIns="0" rIns="0" tIns="0" bIns="0">
            <a:noAutofit/>
          </a:bodyPr>
          <a:lstStyle/>
          <a:p>
            <a:pPr algn="ctr" eaLnBrk="0" latinLnBrk="0"/>
            <a:r>
              <a:rPr sz="1320" b="1">
                <a:solidFill>
                  <a:srgbClr val="B42318"/>
                </a:solidFill>
                <a:latin typeface="Noto Sans KR"/>
                <a:ea typeface="Noto Sans KR"/>
                <a:cs typeface="Noto Sans KR"/>
              </a:rPr>
              <a:t>08:40</a:t>
            </a:r>
          </a:p>
        </p:txBody>
      </p:sp>
      <p:sp>
        <p:nvSpPr>
          <p:cNvPr id="44" name="글 지하차도 완전 침수"/>
          <p:cNvSpPr txBox="1"/>
          <p:nvPr/>
        </p:nvSpPr>
        <p:spPr>
          <a:xfrm>
            <a:off x="10438544" y="2634082"/>
            <a:ext cx="1088426"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지하차도 완전 침수</a:t>
            </a:r>
          </a:p>
        </p:txBody>
      </p:sp>
      <p:sp>
        <p:nvSpPr>
          <p:cNvPr id="45" name="글 CCTV 기준"/>
          <p:cNvSpPr txBox="1"/>
          <p:nvPr/>
        </p:nvSpPr>
        <p:spPr>
          <a:xfrm>
            <a:off x="10703880" y="2808427"/>
            <a:ext cx="557754"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CCTV 기준</a:t>
            </a:r>
          </a:p>
        </p:txBody>
      </p:sp>
      <p:sp>
        <p:nvSpPr>
          <p:cNvPr id="46" name="Rounded Rectangle 45"/>
          <p:cNvSpPr/>
          <p:nvPr/>
        </p:nvSpPr>
        <p:spPr>
          <a:xfrm>
            <a:off x="609600" y="4572000"/>
            <a:ext cx="3566160" cy="1143000"/>
          </a:xfrm>
          <a:prstGeom prst="roundRect">
            <a:avLst>
              <a:gd name="adj" fmla="val 9333"/>
            </a:avLst>
          </a:prstGeom>
          <a:solidFill>
            <a:srgbClr val="F2F5F8"/>
          </a:solidFill>
          <a:ln>
            <a:noFill/>
          </a:ln>
        </p:spPr>
        <p:txBody>
          <a:bodyPr rtlCol="0" anchor="ctr"/>
          <a:lstStyle/>
          <a:p>
            <a:pPr algn="ctr"/>
          </a:p>
        </p:txBody>
      </p:sp>
      <p:sp>
        <p:nvSpPr>
          <p:cNvPr id="47" name="글 06:40 → 08:27"/>
          <p:cNvSpPr txBox="1"/>
          <p:nvPr/>
        </p:nvSpPr>
        <p:spPr>
          <a:xfrm>
            <a:off x="822960" y="4745126"/>
            <a:ext cx="1012180" cy="205740"/>
          </a:xfrm>
          <a:prstGeom prst="rect">
            <a:avLst/>
          </a:prstGeom>
          <a:noFill/>
        </p:spPr>
        <p:txBody>
          <a:bodyPr wrap="none" anchor="t" lIns="0" rIns="0" tIns="0" bIns="0">
            <a:noAutofit/>
          </a:bodyPr>
          <a:lstStyle/>
          <a:p>
            <a:pPr algn="l" eaLnBrk="0" latinLnBrk="0"/>
            <a:r>
              <a:rPr sz="1080" b="1">
                <a:solidFill>
                  <a:srgbClr val="0B8577"/>
                </a:solidFill>
                <a:latin typeface="Noto Sans KR"/>
                <a:ea typeface="Noto Sans KR"/>
                <a:cs typeface="Noto Sans KR"/>
              </a:rPr>
              <a:t>06:40 → 08:27</a:t>
            </a:r>
          </a:p>
        </p:txBody>
      </p:sp>
      <p:sp>
        <p:nvSpPr>
          <p:cNvPr id="48" name="글 통제 요건 충족 뒤 유입까지"/>
          <p:cNvSpPr txBox="1"/>
          <p:nvPr/>
        </p:nvSpPr>
        <p:spPr>
          <a:xfrm>
            <a:off x="822960" y="4981651"/>
            <a:ext cx="167109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통제 요건 충족 뒤 유입까지</a:t>
            </a:r>
          </a:p>
        </p:txBody>
      </p:sp>
      <p:sp>
        <p:nvSpPr>
          <p:cNvPr id="49" name="글 107분"/>
          <p:cNvSpPr txBox="1"/>
          <p:nvPr/>
        </p:nvSpPr>
        <p:spPr>
          <a:xfrm>
            <a:off x="2943301" y="5149901"/>
            <a:ext cx="1019099" cy="525780"/>
          </a:xfrm>
          <a:prstGeom prst="rect">
            <a:avLst/>
          </a:prstGeom>
          <a:noFill/>
        </p:spPr>
        <p:txBody>
          <a:bodyPr wrap="none" anchor="t" lIns="0" rIns="0" tIns="0" bIns="0">
            <a:noAutofit/>
          </a:bodyPr>
          <a:lstStyle/>
          <a:p>
            <a:pPr algn="r" eaLnBrk="0" latinLnBrk="0"/>
            <a:r>
              <a:rPr sz="2760" b="1">
                <a:solidFill>
                  <a:srgbClr val="0B8577"/>
                </a:solidFill>
                <a:latin typeface="Noto Sans KR"/>
                <a:ea typeface="Noto Sans KR"/>
                <a:cs typeface="Noto Sans KR"/>
              </a:rPr>
              <a:t>107분</a:t>
            </a:r>
          </a:p>
        </p:txBody>
      </p:sp>
      <p:sp>
        <p:nvSpPr>
          <p:cNvPr id="50" name="Rounded Rectangle 49"/>
          <p:cNvSpPr/>
          <p:nvPr/>
        </p:nvSpPr>
        <p:spPr>
          <a:xfrm>
            <a:off x="4312920" y="4572000"/>
            <a:ext cx="3566160" cy="1143000"/>
          </a:xfrm>
          <a:prstGeom prst="roundRect">
            <a:avLst>
              <a:gd name="adj" fmla="val 9333"/>
            </a:avLst>
          </a:prstGeom>
          <a:solidFill>
            <a:srgbClr val="F2F5F8"/>
          </a:solidFill>
          <a:ln>
            <a:noFill/>
          </a:ln>
        </p:spPr>
        <p:txBody>
          <a:bodyPr rtlCol="0" anchor="ctr"/>
          <a:lstStyle/>
          <a:p>
            <a:pPr algn="ctr"/>
          </a:p>
        </p:txBody>
      </p:sp>
      <p:sp>
        <p:nvSpPr>
          <p:cNvPr id="51" name="글 08:09 → 08:27"/>
          <p:cNvSpPr txBox="1"/>
          <p:nvPr/>
        </p:nvSpPr>
        <p:spPr>
          <a:xfrm>
            <a:off x="4526280" y="4745126"/>
            <a:ext cx="1012180" cy="205740"/>
          </a:xfrm>
          <a:prstGeom prst="rect">
            <a:avLst/>
          </a:prstGeom>
          <a:noFill/>
        </p:spPr>
        <p:txBody>
          <a:bodyPr wrap="none" anchor="t" lIns="0" rIns="0" tIns="0" bIns="0">
            <a:noAutofit/>
          </a:bodyPr>
          <a:lstStyle/>
          <a:p>
            <a:pPr algn="l" eaLnBrk="0" latinLnBrk="0"/>
            <a:r>
              <a:rPr sz="1080" b="1">
                <a:solidFill>
                  <a:srgbClr val="B7791F"/>
                </a:solidFill>
                <a:latin typeface="Noto Sans KR"/>
                <a:ea typeface="Noto Sans KR"/>
                <a:cs typeface="Noto Sans KR"/>
              </a:rPr>
              <a:t>08:09 → 08:27</a:t>
            </a:r>
          </a:p>
        </p:txBody>
      </p:sp>
      <p:sp>
        <p:nvSpPr>
          <p:cNvPr id="52" name="글 제방 붕괴 뒤 유입까지"/>
          <p:cNvSpPr txBox="1"/>
          <p:nvPr/>
        </p:nvSpPr>
        <p:spPr>
          <a:xfrm>
            <a:off x="4526280" y="4981651"/>
            <a:ext cx="137227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제방 붕괴 뒤 유입까지</a:t>
            </a:r>
          </a:p>
        </p:txBody>
      </p:sp>
      <p:sp>
        <p:nvSpPr>
          <p:cNvPr id="53" name="글 18분"/>
          <p:cNvSpPr txBox="1"/>
          <p:nvPr/>
        </p:nvSpPr>
        <p:spPr>
          <a:xfrm>
            <a:off x="6853428" y="5149901"/>
            <a:ext cx="812292" cy="525780"/>
          </a:xfrm>
          <a:prstGeom prst="rect">
            <a:avLst/>
          </a:prstGeom>
          <a:noFill/>
        </p:spPr>
        <p:txBody>
          <a:bodyPr wrap="none" anchor="t" lIns="0" rIns="0" tIns="0" bIns="0">
            <a:noAutofit/>
          </a:bodyPr>
          <a:lstStyle/>
          <a:p>
            <a:pPr algn="r" eaLnBrk="0" latinLnBrk="0"/>
            <a:r>
              <a:rPr sz="2760" b="1">
                <a:solidFill>
                  <a:srgbClr val="B7791F"/>
                </a:solidFill>
                <a:latin typeface="Noto Sans KR"/>
                <a:ea typeface="Noto Sans KR"/>
                <a:cs typeface="Noto Sans KR"/>
              </a:rPr>
              <a:t>18분</a:t>
            </a:r>
          </a:p>
        </p:txBody>
      </p:sp>
      <p:sp>
        <p:nvSpPr>
          <p:cNvPr id="54" name="Rounded Rectangle 53"/>
          <p:cNvSpPr/>
          <p:nvPr/>
        </p:nvSpPr>
        <p:spPr>
          <a:xfrm>
            <a:off x="8016240" y="4572000"/>
            <a:ext cx="3566160" cy="1143000"/>
          </a:xfrm>
          <a:prstGeom prst="roundRect">
            <a:avLst>
              <a:gd name="adj" fmla="val 9333"/>
            </a:avLst>
          </a:prstGeom>
          <a:solidFill>
            <a:srgbClr val="F2F5F8"/>
          </a:solidFill>
          <a:ln>
            <a:noFill/>
          </a:ln>
        </p:spPr>
        <p:txBody>
          <a:bodyPr rtlCol="0" anchor="ctr"/>
          <a:lstStyle/>
          <a:p>
            <a:pPr algn="ctr"/>
          </a:p>
        </p:txBody>
      </p:sp>
      <p:sp>
        <p:nvSpPr>
          <p:cNvPr id="55" name="글 08:27 → 08:40"/>
          <p:cNvSpPr txBox="1"/>
          <p:nvPr/>
        </p:nvSpPr>
        <p:spPr>
          <a:xfrm>
            <a:off x="8229600" y="4745126"/>
            <a:ext cx="1012180" cy="205740"/>
          </a:xfrm>
          <a:prstGeom prst="rect">
            <a:avLst/>
          </a:prstGeom>
          <a:noFill/>
        </p:spPr>
        <p:txBody>
          <a:bodyPr wrap="none" anchor="t" lIns="0" rIns="0" tIns="0" bIns="0">
            <a:noAutofit/>
          </a:bodyPr>
          <a:lstStyle/>
          <a:p>
            <a:pPr algn="l" eaLnBrk="0" latinLnBrk="0"/>
            <a:r>
              <a:rPr sz="1080" b="1">
                <a:solidFill>
                  <a:srgbClr val="B42318"/>
                </a:solidFill>
                <a:latin typeface="Noto Sans KR"/>
                <a:ea typeface="Noto Sans KR"/>
                <a:cs typeface="Noto Sans KR"/>
              </a:rPr>
              <a:t>08:27 → 08:40</a:t>
            </a:r>
          </a:p>
        </p:txBody>
      </p:sp>
      <p:sp>
        <p:nvSpPr>
          <p:cNvPr id="56" name="글 유입 뒤 완전 침수까지"/>
          <p:cNvSpPr txBox="1"/>
          <p:nvPr/>
        </p:nvSpPr>
        <p:spPr>
          <a:xfrm>
            <a:off x="8229600" y="4981651"/>
            <a:ext cx="137227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유입 뒤 완전 침수까지</a:t>
            </a:r>
          </a:p>
        </p:txBody>
      </p:sp>
      <p:sp>
        <p:nvSpPr>
          <p:cNvPr id="57" name="글 13분"/>
          <p:cNvSpPr txBox="1"/>
          <p:nvPr/>
        </p:nvSpPr>
        <p:spPr>
          <a:xfrm>
            <a:off x="10556748" y="5149901"/>
            <a:ext cx="812292" cy="525780"/>
          </a:xfrm>
          <a:prstGeom prst="rect">
            <a:avLst/>
          </a:prstGeom>
          <a:noFill/>
        </p:spPr>
        <p:txBody>
          <a:bodyPr wrap="none" anchor="t" lIns="0" rIns="0" tIns="0" bIns="0">
            <a:noAutofit/>
          </a:bodyPr>
          <a:lstStyle/>
          <a:p>
            <a:pPr algn="r" eaLnBrk="0" latinLnBrk="0"/>
            <a:r>
              <a:rPr sz="2760" b="1">
                <a:solidFill>
                  <a:srgbClr val="B42318"/>
                </a:solidFill>
                <a:latin typeface="Noto Sans KR"/>
                <a:ea typeface="Noto Sans KR"/>
                <a:cs typeface="Noto Sans KR"/>
              </a:rPr>
              <a:t>13분</a:t>
            </a:r>
          </a:p>
        </p:txBody>
      </p:sp>
      <p:sp>
        <p:nvSpPr>
          <p:cNvPr id="58" name="글 06:40은 국무조정실이 «통제 요건이 충족"/>
          <p:cNvSpPr txBox="1"/>
          <p:nvPr/>
        </p:nvSpPr>
        <p:spPr>
          <a:xfrm>
            <a:off x="609600" y="6025896"/>
            <a:ext cx="6986016"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06:40은 국무조정실이 «통제 요건이 충족된 시각»으로 본 계획홍수위 도달 시각입니다. 실제 통제는 없었습니다.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5"/>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05</a:t>
            </a:r>
          </a:p>
        </p:txBody>
      </p:sp>
      <p:sp>
        <p:nvSpPr>
          <p:cNvPr id="3" name="글 배경과 문제"/>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배경과 문제</a:t>
            </a:r>
          </a:p>
        </p:txBody>
      </p:sp>
      <p:sp>
        <p:nvSpPr>
          <p:cNvPr id="4" name="글 «언제 막았어야 했나»에 한 자료도 혼자 답"/>
          <p:cNvSpPr txBox="1"/>
          <p:nvPr/>
        </p:nvSpPr>
        <p:spPr>
          <a:xfrm>
            <a:off x="609600" y="853440"/>
            <a:ext cx="8796147"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«언제 막았어야 했나»에 한 자료도 혼자 답하지 못합니다</a:t>
            </a:r>
          </a:p>
        </p:txBody>
      </p:sp>
      <p:sp>
        <p:nvSpPr>
          <p:cNvPr id="5" name="글 답은 기관과 시간 기준이 다른 기록에 흩어져"/>
          <p:cNvSpPr txBox="1"/>
          <p:nvPr/>
        </p:nvSpPr>
        <p:spPr>
          <a:xfrm>
            <a:off x="609600" y="1409395"/>
            <a:ext cx="5247681"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답은 기관과 시간 기준이 다른 기록에 흩어져 있고, 겹쳐 봐야 나옵니다</a:t>
            </a:r>
          </a:p>
        </p:txBody>
      </p:sp>
      <p:sp>
        <p:nvSpPr>
          <p:cNvPr id="6" name="Rounded Rectangle 5"/>
          <p:cNvSpPr/>
          <p:nvPr/>
        </p:nvSpPr>
        <p:spPr>
          <a:xfrm>
            <a:off x="609600" y="1996440"/>
            <a:ext cx="3200400" cy="4114800"/>
          </a:xfrm>
          <a:prstGeom prst="roundRect">
            <a:avLst>
              <a:gd name="adj" fmla="val 3809"/>
            </a:avLst>
          </a:prstGeom>
          <a:solidFill>
            <a:srgbClr val="0B1B2B"/>
          </a:solidFill>
          <a:ln>
            <a:noFill/>
          </a:ln>
        </p:spPr>
        <p:txBody>
          <a:bodyPr rtlCol="0" anchor="ctr"/>
          <a:lstStyle/>
          <a:p>
            <a:pPr algn="ctr"/>
          </a:p>
        </p:txBody>
      </p:sp>
      <p:sp>
        <p:nvSpPr>
          <p:cNvPr id="7" name="글 한 사건에 대한 질문"/>
          <p:cNvSpPr txBox="1"/>
          <p:nvPr/>
        </p:nvSpPr>
        <p:spPr>
          <a:xfrm>
            <a:off x="883920" y="2276856"/>
            <a:ext cx="1301648" cy="228600"/>
          </a:xfrm>
          <a:prstGeom prst="rect">
            <a:avLst/>
          </a:prstGeom>
          <a:noFill/>
        </p:spPr>
        <p:txBody>
          <a:bodyPr wrap="none" anchor="t" lIns="0" rIns="0" tIns="0" bIns="0">
            <a:noAutofit/>
          </a:bodyPr>
          <a:lstStyle/>
          <a:p>
            <a:pPr algn="l" eaLnBrk="0" latinLnBrk="0"/>
            <a:r>
              <a:rPr sz="1200" b="1">
                <a:solidFill>
                  <a:srgbClr val="5EEAD4"/>
                </a:solidFill>
                <a:latin typeface="Noto Sans KR"/>
                <a:ea typeface="Noto Sans KR"/>
                <a:cs typeface="Noto Sans KR"/>
              </a:rPr>
              <a:t>한 사건에 대한 질문</a:t>
            </a:r>
          </a:p>
        </p:txBody>
      </p:sp>
      <p:sp>
        <p:nvSpPr>
          <p:cNvPr id="8" name="글 궁평2지하차도"/>
          <p:cNvSpPr txBox="1"/>
          <p:nvPr/>
        </p:nvSpPr>
        <p:spPr>
          <a:xfrm>
            <a:off x="883920" y="2574341"/>
            <a:ext cx="1752295" cy="795528"/>
          </a:xfrm>
          <a:prstGeom prst="rect">
            <a:avLst/>
          </a:prstGeom>
          <a:noFill/>
        </p:spPr>
        <p:txBody>
          <a:bodyPr wrap="none" anchor="t" lIns="0" rIns="0" tIns="0" bIns="0">
            <a:noAutofit/>
          </a:bodyPr>
          <a:lstStyle/>
          <a:p>
            <a:pPr algn="l" eaLnBrk="0" latinLnBrk="0">
              <a:lnSpc>
                <a:spcPct val="108333"/>
              </a:lnSpc>
            </a:pPr>
            <a:r>
              <a:rPr sz="2160" b="1">
                <a:solidFill>
                  <a:srgbClr val="FFFFFF"/>
                </a:solidFill>
                <a:latin typeface="Noto Sans KR"/>
                <a:ea typeface="Noto Sans KR"/>
                <a:cs typeface="Noto Sans KR"/>
              </a:rPr>
              <a:t>궁평2지하차도</a:t>
            </a:r>
          </a:p>
          <a:p>
            <a:pPr algn="l" eaLnBrk="0" latinLnBrk="0">
              <a:lnSpc>
                <a:spcPct val="108333"/>
              </a:lnSpc>
            </a:pPr>
            <a:r>
              <a:rPr sz="2160" b="1">
                <a:solidFill>
                  <a:srgbClr val="FFFFFF"/>
                </a:solidFill>
                <a:latin typeface="Noto Sans KR"/>
                <a:ea typeface="Noto Sans KR"/>
                <a:cs typeface="Noto Sans KR"/>
              </a:rPr>
              <a:t>2023. 7. 15.</a:t>
            </a:r>
          </a:p>
        </p:txBody>
      </p:sp>
      <p:pic>
        <p:nvPicPr>
          <p:cNvPr id="9" name="지하차도 단면" descr="05-sources-1.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4400" y="3810000"/>
            <a:ext cx="2590800" cy="2133600"/>
          </a:xfrm>
          <a:prstGeom prst="rect">
            <a:avLst/>
          </a:prstGeom>
        </p:spPr>
      </p:pic>
      <p:sp>
        <p:nvSpPr>
          <p:cNvPr id="10" name="글 ?"/>
          <p:cNvSpPr txBox="1"/>
          <p:nvPr/>
        </p:nvSpPr>
        <p:spPr>
          <a:xfrm>
            <a:off x="2161733" y="4097731"/>
            <a:ext cx="248534" cy="502920"/>
          </a:xfrm>
          <a:prstGeom prst="rect">
            <a:avLst/>
          </a:prstGeom>
          <a:noFill/>
        </p:spPr>
        <p:txBody>
          <a:bodyPr wrap="none" anchor="t" lIns="0" rIns="0" tIns="0" bIns="0">
            <a:noAutofit/>
          </a:bodyPr>
          <a:lstStyle/>
          <a:p>
            <a:pPr algn="ctr" eaLnBrk="0" latinLnBrk="0"/>
            <a:r>
              <a:rPr sz="2640" b="1">
                <a:solidFill>
                  <a:srgbClr val="5EEAD4"/>
                </a:solidFill>
                <a:latin typeface="Noto Sans KR"/>
                <a:ea typeface="Noto Sans KR"/>
                <a:cs typeface="Noto Sans KR"/>
              </a:rPr>
              <a:t>?</a:t>
            </a:r>
          </a:p>
        </p:txBody>
      </p:sp>
      <p:sp>
        <p:nvSpPr>
          <p:cNvPr id="11" name="글 통제"/>
          <p:cNvSpPr txBox="1"/>
          <p:nvPr/>
        </p:nvSpPr>
        <p:spPr>
          <a:xfrm>
            <a:off x="2209800" y="4393387"/>
            <a:ext cx="272491" cy="160020"/>
          </a:xfrm>
          <a:prstGeom prst="rect">
            <a:avLst/>
          </a:prstGeom>
          <a:noFill/>
        </p:spPr>
        <p:txBody>
          <a:bodyPr wrap="none" anchor="t" lIns="0" rIns="0" tIns="0" bIns="0">
            <a:noAutofit/>
          </a:bodyPr>
          <a:lstStyle/>
          <a:p>
            <a:pPr algn="l" eaLnBrk="0" latinLnBrk="0"/>
            <a:r>
              <a:rPr sz="840" b="1">
                <a:solidFill>
                  <a:srgbClr val="5EEAD4"/>
                </a:solidFill>
                <a:latin typeface="Noto Sans KR"/>
                <a:ea typeface="Noto Sans KR"/>
                <a:cs typeface="Noto Sans KR"/>
              </a:rPr>
              <a:t>통제</a:t>
            </a:r>
          </a:p>
        </p:txBody>
      </p:sp>
      <p:sp>
        <p:nvSpPr>
          <p:cNvPr id="12" name="Rounded Rectangle 11"/>
          <p:cNvSpPr/>
          <p:nvPr/>
        </p:nvSpPr>
        <p:spPr>
          <a:xfrm>
            <a:off x="4114800" y="1996440"/>
            <a:ext cx="7467600" cy="701040"/>
          </a:xfrm>
          <a:prstGeom prst="roundRect">
            <a:avLst>
              <a:gd name="adj" fmla="val 15217"/>
            </a:avLst>
          </a:prstGeom>
          <a:solidFill>
            <a:srgbClr val="F2F5F8"/>
          </a:solidFill>
          <a:ln>
            <a:noFill/>
          </a:ln>
        </p:spPr>
        <p:txBody>
          <a:bodyPr rtlCol="0" anchor="ctr"/>
          <a:lstStyle/>
          <a:p>
            <a:pPr algn="ctr"/>
          </a:p>
        </p:txBody>
      </p:sp>
      <p:sp>
        <p:nvSpPr>
          <p:cNvPr id="13" name="Oval 12"/>
          <p:cNvSpPr/>
          <p:nvPr/>
        </p:nvSpPr>
        <p:spPr>
          <a:xfrm>
            <a:off x="4328160" y="2179320"/>
            <a:ext cx="335280" cy="335280"/>
          </a:xfrm>
          <a:prstGeom prst="ellipse">
            <a:avLst/>
          </a:prstGeom>
          <a:solidFill>
            <a:srgbClr val="E1F2EF"/>
          </a:solidFill>
          <a:ln>
            <a:noFill/>
          </a:ln>
        </p:spPr>
        <p:txBody>
          <a:bodyPr rtlCol="0" anchor="ctr"/>
          <a:lstStyle/>
          <a:p>
            <a:pPr algn="ctr"/>
          </a:p>
        </p:txBody>
      </p:sp>
      <p:sp>
        <p:nvSpPr>
          <p:cNvPr id="14" name="글 ?"/>
          <p:cNvSpPr txBox="1"/>
          <p:nvPr/>
        </p:nvSpPr>
        <p:spPr>
          <a:xfrm>
            <a:off x="4406783" y="2232965"/>
            <a:ext cx="178034" cy="297180"/>
          </a:xfrm>
          <a:prstGeom prst="rect">
            <a:avLst/>
          </a:prstGeom>
          <a:noFill/>
        </p:spPr>
        <p:txBody>
          <a:bodyPr wrap="none" anchor="t" lIns="0" rIns="0" tIns="0" bIns="0">
            <a:noAutofit/>
          </a:bodyPr>
          <a:lstStyle/>
          <a:p>
            <a:pPr algn="ctr" eaLnBrk="0" latinLnBrk="0"/>
            <a:r>
              <a:rPr sz="1560" b="1">
                <a:solidFill>
                  <a:srgbClr val="0B8577"/>
                </a:solidFill>
                <a:latin typeface="Noto Sans KR"/>
                <a:ea typeface="Noto Sans KR"/>
                <a:cs typeface="Noto Sans KR"/>
              </a:rPr>
              <a:t>?</a:t>
            </a:r>
          </a:p>
        </p:txBody>
      </p:sp>
      <p:sp>
        <p:nvSpPr>
          <p:cNvPr id="15" name="글 비는 언제, 얼마나 왔나"/>
          <p:cNvSpPr txBox="1"/>
          <p:nvPr/>
        </p:nvSpPr>
        <p:spPr>
          <a:xfrm>
            <a:off x="4815840" y="2225650"/>
            <a:ext cx="1986702"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비는 언제, 얼마나 왔나</a:t>
            </a:r>
          </a:p>
        </p:txBody>
      </p:sp>
      <p:sp>
        <p:nvSpPr>
          <p:cNvPr id="16" name="Rounded Rectangle 15"/>
          <p:cNvSpPr/>
          <p:nvPr/>
        </p:nvSpPr>
        <p:spPr>
          <a:xfrm>
            <a:off x="10501587" y="2209800"/>
            <a:ext cx="867453" cy="259080"/>
          </a:xfrm>
          <a:prstGeom prst="roundRect">
            <a:avLst>
              <a:gd name="adj" fmla="val 50000"/>
            </a:avLst>
          </a:prstGeom>
          <a:solidFill>
            <a:srgbClr val="FFFFFF"/>
          </a:solidFill>
          <a:ln>
            <a:noFill/>
          </a:ln>
        </p:spPr>
        <p:txBody>
          <a:bodyPr rtlCol="0" anchor="ctr"/>
          <a:lstStyle/>
          <a:p>
            <a:pPr algn="ctr"/>
          </a:p>
        </p:txBody>
      </p:sp>
      <p:sp>
        <p:nvSpPr>
          <p:cNvPr id="17" name="글 기상청 AWS"/>
          <p:cNvSpPr txBox="1"/>
          <p:nvPr/>
        </p:nvSpPr>
        <p:spPr>
          <a:xfrm>
            <a:off x="10600647" y="2261616"/>
            <a:ext cx="745533"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기상청 AWS</a:t>
            </a:r>
          </a:p>
        </p:txBody>
      </p:sp>
      <p:sp>
        <p:nvSpPr>
          <p:cNvPr id="18" name="Rounded Rectangle 17"/>
          <p:cNvSpPr/>
          <p:nvPr/>
        </p:nvSpPr>
        <p:spPr>
          <a:xfrm>
            <a:off x="4114800" y="2834640"/>
            <a:ext cx="7467600" cy="701040"/>
          </a:xfrm>
          <a:prstGeom prst="roundRect">
            <a:avLst>
              <a:gd name="adj" fmla="val 15217"/>
            </a:avLst>
          </a:prstGeom>
          <a:solidFill>
            <a:srgbClr val="F2F5F8"/>
          </a:solidFill>
          <a:ln>
            <a:noFill/>
          </a:ln>
        </p:spPr>
        <p:txBody>
          <a:bodyPr rtlCol="0" anchor="ctr"/>
          <a:lstStyle/>
          <a:p>
            <a:pPr algn="ctr"/>
          </a:p>
        </p:txBody>
      </p:sp>
      <p:sp>
        <p:nvSpPr>
          <p:cNvPr id="19" name="Oval 18"/>
          <p:cNvSpPr/>
          <p:nvPr/>
        </p:nvSpPr>
        <p:spPr>
          <a:xfrm>
            <a:off x="4328160" y="3017520"/>
            <a:ext cx="335280" cy="335280"/>
          </a:xfrm>
          <a:prstGeom prst="ellipse">
            <a:avLst/>
          </a:prstGeom>
          <a:solidFill>
            <a:srgbClr val="E1F2EF"/>
          </a:solidFill>
          <a:ln>
            <a:noFill/>
          </a:ln>
        </p:spPr>
        <p:txBody>
          <a:bodyPr rtlCol="0" anchor="ctr"/>
          <a:lstStyle/>
          <a:p>
            <a:pPr algn="ctr"/>
          </a:p>
        </p:txBody>
      </p:sp>
      <p:sp>
        <p:nvSpPr>
          <p:cNvPr id="20" name="글 ?"/>
          <p:cNvSpPr txBox="1"/>
          <p:nvPr/>
        </p:nvSpPr>
        <p:spPr>
          <a:xfrm>
            <a:off x="4406783" y="3071165"/>
            <a:ext cx="178034" cy="297180"/>
          </a:xfrm>
          <a:prstGeom prst="rect">
            <a:avLst/>
          </a:prstGeom>
          <a:noFill/>
        </p:spPr>
        <p:txBody>
          <a:bodyPr wrap="none" anchor="t" lIns="0" rIns="0" tIns="0" bIns="0">
            <a:noAutofit/>
          </a:bodyPr>
          <a:lstStyle/>
          <a:p>
            <a:pPr algn="ctr" eaLnBrk="0" latinLnBrk="0"/>
            <a:r>
              <a:rPr sz="1560" b="1">
                <a:solidFill>
                  <a:srgbClr val="0B8577"/>
                </a:solidFill>
                <a:latin typeface="Noto Sans KR"/>
                <a:ea typeface="Noto Sans KR"/>
                <a:cs typeface="Noto Sans KR"/>
              </a:rPr>
              <a:t>?</a:t>
            </a:r>
          </a:p>
        </p:txBody>
      </p:sp>
      <p:sp>
        <p:nvSpPr>
          <p:cNvPr id="21" name="글 강이 언제 계획홍수위를 넘었나"/>
          <p:cNvSpPr txBox="1"/>
          <p:nvPr/>
        </p:nvSpPr>
        <p:spPr>
          <a:xfrm>
            <a:off x="4815840" y="3063850"/>
            <a:ext cx="2676959"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강이 언제 계획홍수위를 넘었나</a:t>
            </a:r>
          </a:p>
        </p:txBody>
      </p:sp>
      <p:sp>
        <p:nvSpPr>
          <p:cNvPr id="22" name="Rounded Rectangle 21"/>
          <p:cNvSpPr/>
          <p:nvPr/>
        </p:nvSpPr>
        <p:spPr>
          <a:xfrm>
            <a:off x="10575036" y="3048000"/>
            <a:ext cx="794004" cy="259080"/>
          </a:xfrm>
          <a:prstGeom prst="roundRect">
            <a:avLst>
              <a:gd name="adj" fmla="val 50000"/>
            </a:avLst>
          </a:prstGeom>
          <a:solidFill>
            <a:srgbClr val="FFFFFF"/>
          </a:solidFill>
          <a:ln>
            <a:noFill/>
          </a:ln>
        </p:spPr>
        <p:txBody>
          <a:bodyPr rtlCol="0" anchor="ctr"/>
          <a:lstStyle/>
          <a:p>
            <a:pPr algn="ctr"/>
          </a:p>
        </p:txBody>
      </p:sp>
      <p:sp>
        <p:nvSpPr>
          <p:cNvPr id="23" name="글 국무조정실"/>
          <p:cNvSpPr txBox="1"/>
          <p:nvPr/>
        </p:nvSpPr>
        <p:spPr>
          <a:xfrm>
            <a:off x="10674096" y="3099816"/>
            <a:ext cx="672084"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국무조정실</a:t>
            </a:r>
          </a:p>
        </p:txBody>
      </p:sp>
      <p:sp>
        <p:nvSpPr>
          <p:cNvPr id="24" name="Rounded Rectangle 23"/>
          <p:cNvSpPr/>
          <p:nvPr/>
        </p:nvSpPr>
        <p:spPr>
          <a:xfrm>
            <a:off x="9437073" y="3048000"/>
            <a:ext cx="1061763" cy="259080"/>
          </a:xfrm>
          <a:prstGeom prst="roundRect">
            <a:avLst>
              <a:gd name="adj" fmla="val 50000"/>
            </a:avLst>
          </a:prstGeom>
          <a:solidFill>
            <a:srgbClr val="FFFFFF"/>
          </a:solidFill>
          <a:ln>
            <a:noFill/>
          </a:ln>
        </p:spPr>
        <p:txBody>
          <a:bodyPr rtlCol="0" anchor="ctr"/>
          <a:lstStyle/>
          <a:p>
            <a:pPr algn="ctr"/>
          </a:p>
        </p:txBody>
      </p:sp>
      <p:sp>
        <p:nvSpPr>
          <p:cNvPr id="25" name="글 홍수통제소 수위"/>
          <p:cNvSpPr txBox="1"/>
          <p:nvPr/>
        </p:nvSpPr>
        <p:spPr>
          <a:xfrm>
            <a:off x="9536133" y="3099816"/>
            <a:ext cx="939843"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홍수통제소 수위</a:t>
            </a:r>
          </a:p>
        </p:txBody>
      </p:sp>
      <p:sp>
        <p:nvSpPr>
          <p:cNvPr id="26" name="Rounded Rectangle 25"/>
          <p:cNvSpPr/>
          <p:nvPr/>
        </p:nvSpPr>
        <p:spPr>
          <a:xfrm>
            <a:off x="4114800" y="3672840"/>
            <a:ext cx="7467600" cy="701040"/>
          </a:xfrm>
          <a:prstGeom prst="roundRect">
            <a:avLst>
              <a:gd name="adj" fmla="val 15217"/>
            </a:avLst>
          </a:prstGeom>
          <a:solidFill>
            <a:srgbClr val="F2F5F8"/>
          </a:solidFill>
          <a:ln>
            <a:noFill/>
          </a:ln>
        </p:spPr>
        <p:txBody>
          <a:bodyPr rtlCol="0" anchor="ctr"/>
          <a:lstStyle/>
          <a:p>
            <a:pPr algn="ctr"/>
          </a:p>
        </p:txBody>
      </p:sp>
      <p:sp>
        <p:nvSpPr>
          <p:cNvPr id="27" name="Oval 26"/>
          <p:cNvSpPr/>
          <p:nvPr/>
        </p:nvSpPr>
        <p:spPr>
          <a:xfrm>
            <a:off x="4328160" y="3855720"/>
            <a:ext cx="335280" cy="335280"/>
          </a:xfrm>
          <a:prstGeom prst="ellipse">
            <a:avLst/>
          </a:prstGeom>
          <a:solidFill>
            <a:srgbClr val="E1F2EF"/>
          </a:solidFill>
          <a:ln>
            <a:noFill/>
          </a:ln>
        </p:spPr>
        <p:txBody>
          <a:bodyPr rtlCol="0" anchor="ctr"/>
          <a:lstStyle/>
          <a:p>
            <a:pPr algn="ctr"/>
          </a:p>
        </p:txBody>
      </p:sp>
      <p:sp>
        <p:nvSpPr>
          <p:cNvPr id="28" name="글 ?"/>
          <p:cNvSpPr txBox="1"/>
          <p:nvPr/>
        </p:nvSpPr>
        <p:spPr>
          <a:xfrm>
            <a:off x="4406783" y="3909365"/>
            <a:ext cx="178034" cy="297180"/>
          </a:xfrm>
          <a:prstGeom prst="rect">
            <a:avLst/>
          </a:prstGeom>
          <a:noFill/>
        </p:spPr>
        <p:txBody>
          <a:bodyPr wrap="none" anchor="t" lIns="0" rIns="0" tIns="0" bIns="0">
            <a:noAutofit/>
          </a:bodyPr>
          <a:lstStyle/>
          <a:p>
            <a:pPr algn="ctr" eaLnBrk="0" latinLnBrk="0"/>
            <a:r>
              <a:rPr sz="1560" b="1">
                <a:solidFill>
                  <a:srgbClr val="0B8577"/>
                </a:solidFill>
                <a:latin typeface="Noto Sans KR"/>
                <a:ea typeface="Noto Sans KR"/>
                <a:cs typeface="Noto Sans KR"/>
              </a:rPr>
              <a:t>?</a:t>
            </a:r>
          </a:p>
        </p:txBody>
      </p:sp>
      <p:sp>
        <p:nvSpPr>
          <p:cNvPr id="29" name="글 어디가 낮고, 물은 어디로 가나"/>
          <p:cNvSpPr txBox="1"/>
          <p:nvPr/>
        </p:nvSpPr>
        <p:spPr>
          <a:xfrm>
            <a:off x="4815840" y="3902050"/>
            <a:ext cx="2601247"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어디가 낮고, 물은 어디로 가나</a:t>
            </a:r>
          </a:p>
        </p:txBody>
      </p:sp>
      <p:sp>
        <p:nvSpPr>
          <p:cNvPr id="30" name="Rounded Rectangle 29"/>
          <p:cNvSpPr/>
          <p:nvPr/>
        </p:nvSpPr>
        <p:spPr>
          <a:xfrm>
            <a:off x="10467518" y="3886200"/>
            <a:ext cx="901522" cy="259080"/>
          </a:xfrm>
          <a:prstGeom prst="roundRect">
            <a:avLst>
              <a:gd name="adj" fmla="val 50000"/>
            </a:avLst>
          </a:prstGeom>
          <a:solidFill>
            <a:srgbClr val="FFFFFF"/>
          </a:solidFill>
          <a:ln>
            <a:noFill/>
          </a:ln>
        </p:spPr>
        <p:txBody>
          <a:bodyPr rtlCol="0" anchor="ctr"/>
          <a:lstStyle/>
          <a:p>
            <a:pPr algn="ctr"/>
          </a:p>
        </p:txBody>
      </p:sp>
      <p:sp>
        <p:nvSpPr>
          <p:cNvPr id="31" name="글 WAMIS 하천"/>
          <p:cNvSpPr txBox="1"/>
          <p:nvPr/>
        </p:nvSpPr>
        <p:spPr>
          <a:xfrm>
            <a:off x="10566578" y="3938016"/>
            <a:ext cx="779602"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WAMIS 하천</a:t>
            </a:r>
          </a:p>
        </p:txBody>
      </p:sp>
      <p:sp>
        <p:nvSpPr>
          <p:cNvPr id="32" name="Rounded Rectangle 31"/>
          <p:cNvSpPr/>
          <p:nvPr/>
        </p:nvSpPr>
        <p:spPr>
          <a:xfrm>
            <a:off x="9162448" y="3886200"/>
            <a:ext cx="1228870" cy="259080"/>
          </a:xfrm>
          <a:prstGeom prst="roundRect">
            <a:avLst>
              <a:gd name="adj" fmla="val 50000"/>
            </a:avLst>
          </a:prstGeom>
          <a:solidFill>
            <a:srgbClr val="FFFFFF"/>
          </a:solidFill>
          <a:ln>
            <a:noFill/>
          </a:ln>
        </p:spPr>
        <p:txBody>
          <a:bodyPr rtlCol="0" anchor="ctr"/>
          <a:lstStyle/>
          <a:p>
            <a:pPr algn="ctr"/>
          </a:p>
        </p:txBody>
      </p:sp>
      <p:sp>
        <p:nvSpPr>
          <p:cNvPr id="33" name="글 Copernicus DEM"/>
          <p:cNvSpPr txBox="1"/>
          <p:nvPr/>
        </p:nvSpPr>
        <p:spPr>
          <a:xfrm>
            <a:off x="9261508" y="3938016"/>
            <a:ext cx="1106950"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Copernicus DEM</a:t>
            </a:r>
          </a:p>
        </p:txBody>
      </p:sp>
      <p:sp>
        <p:nvSpPr>
          <p:cNvPr id="34" name="Rounded Rectangle 33"/>
          <p:cNvSpPr/>
          <p:nvPr/>
        </p:nvSpPr>
        <p:spPr>
          <a:xfrm>
            <a:off x="4114800" y="4511040"/>
            <a:ext cx="7467600" cy="701040"/>
          </a:xfrm>
          <a:prstGeom prst="roundRect">
            <a:avLst>
              <a:gd name="adj" fmla="val 15217"/>
            </a:avLst>
          </a:prstGeom>
          <a:solidFill>
            <a:srgbClr val="F2F5F8"/>
          </a:solidFill>
          <a:ln>
            <a:noFill/>
          </a:ln>
        </p:spPr>
        <p:txBody>
          <a:bodyPr rtlCol="0" anchor="ctr"/>
          <a:lstStyle/>
          <a:p>
            <a:pPr algn="ctr"/>
          </a:p>
        </p:txBody>
      </p:sp>
      <p:sp>
        <p:nvSpPr>
          <p:cNvPr id="35" name="Oval 34"/>
          <p:cNvSpPr/>
          <p:nvPr/>
        </p:nvSpPr>
        <p:spPr>
          <a:xfrm>
            <a:off x="4328160" y="4693920"/>
            <a:ext cx="335280" cy="335280"/>
          </a:xfrm>
          <a:prstGeom prst="ellipse">
            <a:avLst/>
          </a:prstGeom>
          <a:solidFill>
            <a:srgbClr val="E1F2EF"/>
          </a:solidFill>
          <a:ln>
            <a:noFill/>
          </a:ln>
        </p:spPr>
        <p:txBody>
          <a:bodyPr rtlCol="0" anchor="ctr"/>
          <a:lstStyle/>
          <a:p>
            <a:pPr algn="ctr"/>
          </a:p>
        </p:txBody>
      </p:sp>
      <p:sp>
        <p:nvSpPr>
          <p:cNvPr id="36" name="글 ?"/>
          <p:cNvSpPr txBox="1"/>
          <p:nvPr/>
        </p:nvSpPr>
        <p:spPr>
          <a:xfrm>
            <a:off x="4406783" y="4747565"/>
            <a:ext cx="178034" cy="297180"/>
          </a:xfrm>
          <a:prstGeom prst="rect">
            <a:avLst/>
          </a:prstGeom>
          <a:noFill/>
        </p:spPr>
        <p:txBody>
          <a:bodyPr wrap="none" anchor="t" lIns="0" rIns="0" tIns="0" bIns="0">
            <a:noAutofit/>
          </a:bodyPr>
          <a:lstStyle/>
          <a:p>
            <a:pPr algn="ctr" eaLnBrk="0" latinLnBrk="0"/>
            <a:r>
              <a:rPr sz="1560" b="1">
                <a:solidFill>
                  <a:srgbClr val="0B8577"/>
                </a:solidFill>
                <a:latin typeface="Noto Sans KR"/>
                <a:ea typeface="Noto Sans KR"/>
                <a:cs typeface="Noto Sans KR"/>
              </a:rPr>
              <a:t>?</a:t>
            </a:r>
          </a:p>
        </p:txBody>
      </p:sp>
      <p:sp>
        <p:nvSpPr>
          <p:cNvPr id="37" name="글 지하차도 주변에 무엇이 있나"/>
          <p:cNvSpPr txBox="1"/>
          <p:nvPr/>
        </p:nvSpPr>
        <p:spPr>
          <a:xfrm>
            <a:off x="4815840" y="4740250"/>
            <a:ext cx="2487679"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지하차도 주변에 무엇이 있나</a:t>
            </a:r>
          </a:p>
        </p:txBody>
      </p:sp>
      <p:sp>
        <p:nvSpPr>
          <p:cNvPr id="38" name="Rounded Rectangle 37"/>
          <p:cNvSpPr/>
          <p:nvPr/>
        </p:nvSpPr>
        <p:spPr>
          <a:xfrm>
            <a:off x="10879844" y="4724400"/>
            <a:ext cx="489196" cy="259080"/>
          </a:xfrm>
          <a:prstGeom prst="roundRect">
            <a:avLst>
              <a:gd name="adj" fmla="val 50000"/>
            </a:avLst>
          </a:prstGeom>
          <a:solidFill>
            <a:srgbClr val="FFFFFF"/>
          </a:solidFill>
          <a:ln>
            <a:noFill/>
          </a:ln>
        </p:spPr>
        <p:txBody>
          <a:bodyPr rtlCol="0" anchor="ctr"/>
          <a:lstStyle/>
          <a:p>
            <a:pPr algn="ctr"/>
          </a:p>
        </p:txBody>
      </p:sp>
      <p:sp>
        <p:nvSpPr>
          <p:cNvPr id="39" name="글 OSM"/>
          <p:cNvSpPr txBox="1"/>
          <p:nvPr/>
        </p:nvSpPr>
        <p:spPr>
          <a:xfrm>
            <a:off x="10978904" y="4776216"/>
            <a:ext cx="367276"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OSM</a:t>
            </a:r>
          </a:p>
        </p:txBody>
      </p:sp>
      <p:sp>
        <p:nvSpPr>
          <p:cNvPr id="40" name="Rounded Rectangle 39"/>
          <p:cNvSpPr/>
          <p:nvPr/>
        </p:nvSpPr>
        <p:spPr>
          <a:xfrm>
            <a:off x="9674001" y="4724400"/>
            <a:ext cx="1129642" cy="259080"/>
          </a:xfrm>
          <a:prstGeom prst="roundRect">
            <a:avLst>
              <a:gd name="adj" fmla="val 50000"/>
            </a:avLst>
          </a:prstGeom>
          <a:solidFill>
            <a:srgbClr val="FFFFFF"/>
          </a:solidFill>
          <a:ln>
            <a:noFill/>
          </a:ln>
        </p:spPr>
        <p:txBody>
          <a:bodyPr rtlCol="0" anchor="ctr"/>
          <a:lstStyle/>
          <a:p>
            <a:pPr algn="ctr"/>
          </a:p>
        </p:txBody>
      </p:sp>
      <p:sp>
        <p:nvSpPr>
          <p:cNvPr id="41" name="글 GIS건물통합정보"/>
          <p:cNvSpPr txBox="1"/>
          <p:nvPr/>
        </p:nvSpPr>
        <p:spPr>
          <a:xfrm>
            <a:off x="9773061" y="4776216"/>
            <a:ext cx="1007722"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GIS건물통합정보</a:t>
            </a:r>
          </a:p>
        </p:txBody>
      </p:sp>
      <p:sp>
        <p:nvSpPr>
          <p:cNvPr id="42" name="Rounded Rectangle 41"/>
          <p:cNvSpPr/>
          <p:nvPr/>
        </p:nvSpPr>
        <p:spPr>
          <a:xfrm>
            <a:off x="4114800" y="5349240"/>
            <a:ext cx="7467600" cy="701040"/>
          </a:xfrm>
          <a:prstGeom prst="roundRect">
            <a:avLst>
              <a:gd name="adj" fmla="val 15217"/>
            </a:avLst>
          </a:prstGeom>
          <a:solidFill>
            <a:srgbClr val="F2F5F8"/>
          </a:solidFill>
          <a:ln>
            <a:noFill/>
          </a:ln>
        </p:spPr>
        <p:txBody>
          <a:bodyPr rtlCol="0" anchor="ctr"/>
          <a:lstStyle/>
          <a:p>
            <a:pPr algn="ctr"/>
          </a:p>
        </p:txBody>
      </p:sp>
      <p:sp>
        <p:nvSpPr>
          <p:cNvPr id="43" name="Oval 42"/>
          <p:cNvSpPr/>
          <p:nvPr/>
        </p:nvSpPr>
        <p:spPr>
          <a:xfrm>
            <a:off x="4328160" y="5532120"/>
            <a:ext cx="335280" cy="335280"/>
          </a:xfrm>
          <a:prstGeom prst="ellipse">
            <a:avLst/>
          </a:prstGeom>
          <a:solidFill>
            <a:srgbClr val="E1F2EF"/>
          </a:solidFill>
          <a:ln>
            <a:noFill/>
          </a:ln>
        </p:spPr>
        <p:txBody>
          <a:bodyPr rtlCol="0" anchor="ctr"/>
          <a:lstStyle/>
          <a:p>
            <a:pPr algn="ctr"/>
          </a:p>
        </p:txBody>
      </p:sp>
      <p:sp>
        <p:nvSpPr>
          <p:cNvPr id="44" name="글 ?"/>
          <p:cNvSpPr txBox="1"/>
          <p:nvPr/>
        </p:nvSpPr>
        <p:spPr>
          <a:xfrm>
            <a:off x="4406783" y="5585765"/>
            <a:ext cx="178034" cy="297180"/>
          </a:xfrm>
          <a:prstGeom prst="rect">
            <a:avLst/>
          </a:prstGeom>
          <a:noFill/>
        </p:spPr>
        <p:txBody>
          <a:bodyPr wrap="none" anchor="t" lIns="0" rIns="0" tIns="0" bIns="0">
            <a:noAutofit/>
          </a:bodyPr>
          <a:lstStyle/>
          <a:p>
            <a:pPr algn="ctr" eaLnBrk="0" latinLnBrk="0"/>
            <a:r>
              <a:rPr sz="1560" b="1">
                <a:solidFill>
                  <a:srgbClr val="0B8577"/>
                </a:solidFill>
                <a:latin typeface="Noto Sans KR"/>
                <a:ea typeface="Noto Sans KR"/>
                <a:cs typeface="Noto Sans KR"/>
              </a:rPr>
              <a:t>?</a:t>
            </a:r>
          </a:p>
        </p:txBody>
      </p:sp>
      <p:sp>
        <p:nvSpPr>
          <p:cNvPr id="45" name="글 사건은 몇 시에 어떻게 진행됐나"/>
          <p:cNvSpPr txBox="1"/>
          <p:nvPr/>
        </p:nvSpPr>
        <p:spPr>
          <a:xfrm>
            <a:off x="4815840" y="5578450"/>
            <a:ext cx="2723662"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사건은 몇 시에 어떻게 진행됐나</a:t>
            </a:r>
          </a:p>
        </p:txBody>
      </p:sp>
      <p:sp>
        <p:nvSpPr>
          <p:cNvPr id="46" name="Rounded Rectangle 45"/>
          <p:cNvSpPr/>
          <p:nvPr/>
        </p:nvSpPr>
        <p:spPr>
          <a:xfrm>
            <a:off x="10524774" y="5562600"/>
            <a:ext cx="844266" cy="259080"/>
          </a:xfrm>
          <a:prstGeom prst="roundRect">
            <a:avLst>
              <a:gd name="adj" fmla="val 50000"/>
            </a:avLst>
          </a:prstGeom>
          <a:solidFill>
            <a:srgbClr val="FFFFFF"/>
          </a:solidFill>
          <a:ln>
            <a:noFill/>
          </a:ln>
        </p:spPr>
        <p:txBody>
          <a:bodyPr rtlCol="0" anchor="ctr"/>
          <a:lstStyle/>
          <a:p>
            <a:pPr algn="ctr"/>
          </a:p>
        </p:txBody>
      </p:sp>
      <p:sp>
        <p:nvSpPr>
          <p:cNvPr id="47" name="글 CCTV·보도"/>
          <p:cNvSpPr txBox="1"/>
          <p:nvPr/>
        </p:nvSpPr>
        <p:spPr>
          <a:xfrm>
            <a:off x="10623834" y="5614416"/>
            <a:ext cx="722346"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CCTV·보도</a:t>
            </a:r>
          </a:p>
        </p:txBody>
      </p:sp>
      <p:sp>
        <p:nvSpPr>
          <p:cNvPr id="48" name="Rounded Rectangle 47"/>
          <p:cNvSpPr/>
          <p:nvPr/>
        </p:nvSpPr>
        <p:spPr>
          <a:xfrm>
            <a:off x="9744342" y="5562600"/>
            <a:ext cx="704233" cy="259080"/>
          </a:xfrm>
          <a:prstGeom prst="roundRect">
            <a:avLst>
              <a:gd name="adj" fmla="val 50000"/>
            </a:avLst>
          </a:prstGeom>
          <a:solidFill>
            <a:srgbClr val="FFFFFF"/>
          </a:solidFill>
          <a:ln>
            <a:noFill/>
          </a:ln>
        </p:spPr>
        <p:txBody>
          <a:bodyPr rtlCol="0" anchor="ctr"/>
          <a:lstStyle/>
          <a:p>
            <a:pPr algn="ctr"/>
          </a:p>
        </p:txBody>
      </p:sp>
      <p:sp>
        <p:nvSpPr>
          <p:cNvPr id="49" name="글 감찰 발표"/>
          <p:cNvSpPr txBox="1"/>
          <p:nvPr/>
        </p:nvSpPr>
        <p:spPr>
          <a:xfrm>
            <a:off x="9843402" y="5614416"/>
            <a:ext cx="582313"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감찰 발표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6"/>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06</a:t>
            </a:r>
          </a:p>
        </p:txBody>
      </p:sp>
      <p:sp>
        <p:nvSpPr>
          <p:cNvPr id="3" name="글 해결과 결과"/>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해결과 결과</a:t>
            </a:r>
          </a:p>
        </p:txBody>
      </p:sp>
      <p:sp>
        <p:nvSpPr>
          <p:cNvPr id="4" name="글 흩어진 기록을 한 시간축과 한 지도에 올렸습"/>
          <p:cNvSpPr txBox="1"/>
          <p:nvPr/>
        </p:nvSpPr>
        <p:spPr>
          <a:xfrm>
            <a:off x="609600" y="853440"/>
            <a:ext cx="7605522"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흩어진 기록을 한 시간축과 한 지도에 올렸습니다</a:t>
            </a:r>
          </a:p>
        </p:txBody>
      </p:sp>
      <p:sp>
        <p:nvSpPr>
          <p:cNvPr id="5" name="글 사건 ID와 시각으로 관측·공간·사건 기록을"/>
          <p:cNvSpPr txBox="1"/>
          <p:nvPr/>
        </p:nvSpPr>
        <p:spPr>
          <a:xfrm>
            <a:off x="609600" y="1409395"/>
            <a:ext cx="6264311"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사건 ID와 시각으로 관측·공간·사건 기록을 연결하고, 같은 명령으로 다시 만듭니다</a:t>
            </a:r>
          </a:p>
        </p:txBody>
      </p:sp>
      <p:sp>
        <p:nvSpPr>
          <p:cNvPr id="6" name="Rounded Rectangle 5"/>
          <p:cNvSpPr/>
          <p:nvPr/>
        </p:nvSpPr>
        <p:spPr>
          <a:xfrm>
            <a:off x="609600" y="1950720"/>
            <a:ext cx="2072640" cy="2712720"/>
          </a:xfrm>
          <a:prstGeom prst="roundRect">
            <a:avLst>
              <a:gd name="adj" fmla="val 5147"/>
            </a:avLst>
          </a:prstGeom>
          <a:solidFill>
            <a:srgbClr val="F2F5F8"/>
          </a:solidFill>
          <a:ln>
            <a:noFill/>
          </a:ln>
        </p:spPr>
        <p:txBody>
          <a:bodyPr rtlCol="0" anchor="ctr"/>
          <a:lstStyle/>
          <a:p>
            <a:pPr algn="ctr"/>
          </a:p>
        </p:txBody>
      </p:sp>
      <p:sp>
        <p:nvSpPr>
          <p:cNvPr id="7" name="Oval 6"/>
          <p:cNvSpPr/>
          <p:nvPr/>
        </p:nvSpPr>
        <p:spPr>
          <a:xfrm>
            <a:off x="807720" y="2164080"/>
            <a:ext cx="335280" cy="335280"/>
          </a:xfrm>
          <a:prstGeom prst="ellipse">
            <a:avLst/>
          </a:prstGeom>
          <a:solidFill>
            <a:srgbClr val="0B8577"/>
          </a:solidFill>
          <a:ln>
            <a:noFill/>
          </a:ln>
        </p:spPr>
        <p:txBody>
          <a:bodyPr rtlCol="0" anchor="ctr"/>
          <a:lstStyle/>
          <a:p>
            <a:pPr algn="ctr"/>
          </a:p>
        </p:txBody>
      </p:sp>
      <p:sp>
        <p:nvSpPr>
          <p:cNvPr id="8" name="글 1"/>
          <p:cNvSpPr txBox="1"/>
          <p:nvPr/>
        </p:nvSpPr>
        <p:spPr>
          <a:xfrm>
            <a:off x="887806" y="223113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1</a:t>
            </a:r>
          </a:p>
        </p:txBody>
      </p:sp>
      <p:sp>
        <p:nvSpPr>
          <p:cNvPr id="9" name="글 관측 정렬"/>
          <p:cNvSpPr txBox="1"/>
          <p:nvPr/>
        </p:nvSpPr>
        <p:spPr>
          <a:xfrm>
            <a:off x="822960" y="2705405"/>
            <a:ext cx="85025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관측 정렬</a:t>
            </a:r>
          </a:p>
        </p:txBody>
      </p:sp>
      <p:sp>
        <p:nvSpPr>
          <p:cNvPr id="10" name="글 강우·수위 10분 자료를 사건"/>
          <p:cNvSpPr txBox="1"/>
          <p:nvPr/>
        </p:nvSpPr>
        <p:spPr>
          <a:xfrm>
            <a:off x="822960" y="3033217"/>
            <a:ext cx="1747396" cy="694944"/>
          </a:xfrm>
          <a:prstGeom prst="rect">
            <a:avLst/>
          </a:prstGeom>
          <a:noFill/>
        </p:spPr>
        <p:txBody>
          <a:bodyPr wrap="none" anchor="t" lIns="0" rIns="0" tIns="0" bIns="0">
            <a:noAutofit/>
          </a:bodyPr>
          <a:lstStyle/>
          <a:p>
            <a:pPr algn="l" eaLnBrk="0" latinLnBrk="0">
              <a:lnSpc>
                <a:spcPct val="125000"/>
              </a:lnSpc>
            </a:pPr>
            <a:r>
              <a:rPr sz="1140" b="0">
                <a:solidFill>
                  <a:srgbClr val="566676"/>
                </a:solidFill>
                <a:latin typeface="Noto Sans KR"/>
                <a:ea typeface="Noto Sans KR"/>
                <a:cs typeface="Noto Sans KR"/>
              </a:rPr>
              <a:t>강우·수위 10분 자료를 사건</a:t>
            </a:r>
          </a:p>
          <a:p>
            <a:pPr algn="l" eaLnBrk="0" latinLnBrk="0">
              <a:lnSpc>
                <a:spcPct val="125000"/>
              </a:lnSpc>
            </a:pPr>
            <a:r>
              <a:rPr sz="1140" b="0">
                <a:solidFill>
                  <a:srgbClr val="566676"/>
                </a:solidFill>
                <a:latin typeface="Noto Sans KR"/>
                <a:ea typeface="Noto Sans KR"/>
                <a:cs typeface="Noto Sans KR"/>
              </a:rPr>
              <a:t>시각(KST)에 맞추고 관측과</a:t>
            </a:r>
          </a:p>
          <a:p>
            <a:pPr algn="l" eaLnBrk="0" latinLnBrk="0">
              <a:lnSpc>
                <a:spcPct val="125000"/>
              </a:lnSpc>
            </a:pPr>
            <a:r>
              <a:rPr sz="1140" b="0">
                <a:solidFill>
                  <a:srgbClr val="566676"/>
                </a:solidFill>
                <a:latin typeface="Noto Sans KR"/>
                <a:ea typeface="Noto Sans KR"/>
                <a:cs typeface="Noto Sans KR"/>
              </a:rPr>
              <a:t>보도를 구분합니다</a:t>
            </a:r>
          </a:p>
        </p:txBody>
      </p:sp>
      <p:sp>
        <p:nvSpPr>
          <p:cNvPr id="11" name="Rounded Rectangle 10"/>
          <p:cNvSpPr/>
          <p:nvPr/>
        </p:nvSpPr>
        <p:spPr>
          <a:xfrm>
            <a:off x="822960" y="4267200"/>
            <a:ext cx="1211900" cy="259080"/>
          </a:xfrm>
          <a:prstGeom prst="roundRect">
            <a:avLst>
              <a:gd name="adj" fmla="val 50000"/>
            </a:avLst>
          </a:prstGeom>
          <a:solidFill>
            <a:srgbClr val="E1F2EF"/>
          </a:solidFill>
          <a:ln>
            <a:noFill/>
          </a:ln>
        </p:spPr>
        <p:txBody>
          <a:bodyPr rtlCol="0" anchor="ctr"/>
          <a:lstStyle/>
          <a:p>
            <a:pPr algn="ctr"/>
          </a:p>
        </p:txBody>
      </p:sp>
      <p:sp>
        <p:nvSpPr>
          <p:cNvPr id="12" name="글 KMA · 홍수통제소"/>
          <p:cNvSpPr txBox="1"/>
          <p:nvPr/>
        </p:nvSpPr>
        <p:spPr>
          <a:xfrm>
            <a:off x="922020" y="4319016"/>
            <a:ext cx="1089980" cy="194310"/>
          </a:xfrm>
          <a:prstGeom prst="rect">
            <a:avLst/>
          </a:prstGeom>
          <a:noFill/>
        </p:spPr>
        <p:txBody>
          <a:bodyPr wrap="none" anchor="t" lIns="0" rIns="0" tIns="0" bIns="0">
            <a:noAutofit/>
          </a:bodyPr>
          <a:lstStyle/>
          <a:p>
            <a:pPr algn="l" eaLnBrk="0" latinLnBrk="0"/>
            <a:r>
              <a:rPr sz="1019" b="1">
                <a:solidFill>
                  <a:srgbClr val="0B8577"/>
                </a:solidFill>
                <a:latin typeface="Noto Sans KR"/>
                <a:ea typeface="Noto Sans KR"/>
                <a:cs typeface="Noto Sans KR"/>
              </a:rPr>
              <a:t>KMA · 홍수통제소</a:t>
            </a:r>
          </a:p>
        </p:txBody>
      </p:sp>
      <p:sp>
        <p:nvSpPr>
          <p:cNvPr id="13" name="Rounded Rectangle 12"/>
          <p:cNvSpPr/>
          <p:nvPr/>
        </p:nvSpPr>
        <p:spPr>
          <a:xfrm>
            <a:off x="2834640" y="1950720"/>
            <a:ext cx="2072640" cy="2712720"/>
          </a:xfrm>
          <a:prstGeom prst="roundRect">
            <a:avLst>
              <a:gd name="adj" fmla="val 5147"/>
            </a:avLst>
          </a:prstGeom>
          <a:solidFill>
            <a:srgbClr val="F2F5F8"/>
          </a:solidFill>
          <a:ln>
            <a:noFill/>
          </a:ln>
        </p:spPr>
        <p:txBody>
          <a:bodyPr rtlCol="0" anchor="ctr"/>
          <a:lstStyle/>
          <a:p>
            <a:pPr algn="ctr"/>
          </a:p>
        </p:txBody>
      </p:sp>
      <p:sp>
        <p:nvSpPr>
          <p:cNvPr id="14" name="Oval 13"/>
          <p:cNvSpPr/>
          <p:nvPr/>
        </p:nvSpPr>
        <p:spPr>
          <a:xfrm>
            <a:off x="3032760" y="2164080"/>
            <a:ext cx="335280" cy="335280"/>
          </a:xfrm>
          <a:prstGeom prst="ellipse">
            <a:avLst/>
          </a:prstGeom>
          <a:solidFill>
            <a:srgbClr val="0B8577"/>
          </a:solidFill>
          <a:ln>
            <a:noFill/>
          </a:ln>
        </p:spPr>
        <p:txBody>
          <a:bodyPr rtlCol="0" anchor="ctr"/>
          <a:lstStyle/>
          <a:p>
            <a:pPr algn="ctr"/>
          </a:p>
        </p:txBody>
      </p:sp>
      <p:sp>
        <p:nvSpPr>
          <p:cNvPr id="15" name="글 2"/>
          <p:cNvSpPr txBox="1"/>
          <p:nvPr/>
        </p:nvSpPr>
        <p:spPr>
          <a:xfrm>
            <a:off x="3112846" y="223113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2</a:t>
            </a:r>
          </a:p>
        </p:txBody>
      </p:sp>
      <p:sp>
        <p:nvSpPr>
          <p:cNvPr id="16" name="글 공간 스냅샷"/>
          <p:cNvSpPr txBox="1"/>
          <p:nvPr/>
        </p:nvSpPr>
        <p:spPr>
          <a:xfrm>
            <a:off x="3048000" y="2705405"/>
            <a:ext cx="103252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공간 스냅샷</a:t>
            </a:r>
          </a:p>
        </p:txBody>
      </p:sp>
      <p:sp>
        <p:nvSpPr>
          <p:cNvPr id="17" name="글 하천·건물·도로·DEM을"/>
          <p:cNvSpPr txBox="1"/>
          <p:nvPr/>
        </p:nvSpPr>
        <p:spPr>
          <a:xfrm>
            <a:off x="3048000" y="3033217"/>
            <a:ext cx="1606235" cy="694944"/>
          </a:xfrm>
          <a:prstGeom prst="rect">
            <a:avLst/>
          </a:prstGeom>
          <a:noFill/>
        </p:spPr>
        <p:txBody>
          <a:bodyPr wrap="none" anchor="t" lIns="0" rIns="0" tIns="0" bIns="0">
            <a:noAutofit/>
          </a:bodyPr>
          <a:lstStyle/>
          <a:p>
            <a:pPr algn="l" eaLnBrk="0" latinLnBrk="0">
              <a:lnSpc>
                <a:spcPct val="125000"/>
              </a:lnSpc>
            </a:pPr>
            <a:r>
              <a:rPr sz="1140" b="0">
                <a:solidFill>
                  <a:srgbClr val="566676"/>
                </a:solidFill>
                <a:latin typeface="Noto Sans KR"/>
                <a:ea typeface="Noto Sans KR"/>
                <a:cs typeface="Noto Sans KR"/>
              </a:rPr>
              <a:t>하천·건물·도로·DEM을</a:t>
            </a:r>
          </a:p>
          <a:p>
            <a:pPr algn="l" eaLnBrk="0" latinLnBrk="0">
              <a:lnSpc>
                <a:spcPct val="125000"/>
              </a:lnSpc>
            </a:pPr>
            <a:r>
              <a:rPr sz="1140" b="0">
                <a:solidFill>
                  <a:srgbClr val="566676"/>
                </a:solidFill>
                <a:latin typeface="Noto Sans KR"/>
                <a:ea typeface="Noto Sans KR"/>
                <a:cs typeface="Noto Sans KR"/>
              </a:rPr>
              <a:t>사건일 기준으로 고정하고</a:t>
            </a:r>
          </a:p>
          <a:p>
            <a:pPr algn="l" eaLnBrk="0" latinLnBrk="0">
              <a:lnSpc>
                <a:spcPct val="125000"/>
              </a:lnSpc>
            </a:pPr>
            <a:r>
              <a:rPr sz="1140" b="0">
                <a:solidFill>
                  <a:srgbClr val="566676"/>
                </a:solidFill>
                <a:latin typeface="Noto Sans KR"/>
                <a:ea typeface="Noto Sans KR"/>
                <a:cs typeface="Noto Sans KR"/>
              </a:rPr>
              <a:t>출처·시점을 기록합니다</a:t>
            </a:r>
          </a:p>
        </p:txBody>
      </p:sp>
      <p:sp>
        <p:nvSpPr>
          <p:cNvPr id="18" name="Rounded Rectangle 17"/>
          <p:cNvSpPr/>
          <p:nvPr/>
        </p:nvSpPr>
        <p:spPr>
          <a:xfrm>
            <a:off x="3048000" y="4267200"/>
            <a:ext cx="1438725" cy="259080"/>
          </a:xfrm>
          <a:prstGeom prst="roundRect">
            <a:avLst>
              <a:gd name="adj" fmla="val 50000"/>
            </a:avLst>
          </a:prstGeom>
          <a:solidFill>
            <a:srgbClr val="E1F2EF"/>
          </a:solidFill>
          <a:ln>
            <a:noFill/>
          </a:ln>
        </p:spPr>
        <p:txBody>
          <a:bodyPr rtlCol="0" anchor="ctr"/>
          <a:lstStyle/>
          <a:p>
            <a:pPr algn="ctr"/>
          </a:p>
        </p:txBody>
      </p:sp>
      <p:sp>
        <p:nvSpPr>
          <p:cNvPr id="19" name="글 manifest · SHA-256"/>
          <p:cNvSpPr txBox="1"/>
          <p:nvPr/>
        </p:nvSpPr>
        <p:spPr>
          <a:xfrm>
            <a:off x="3147060" y="4319016"/>
            <a:ext cx="1316805" cy="194310"/>
          </a:xfrm>
          <a:prstGeom prst="rect">
            <a:avLst/>
          </a:prstGeom>
          <a:noFill/>
        </p:spPr>
        <p:txBody>
          <a:bodyPr wrap="none" anchor="t" lIns="0" rIns="0" tIns="0" bIns="0">
            <a:noAutofit/>
          </a:bodyPr>
          <a:lstStyle/>
          <a:p>
            <a:pPr algn="l" eaLnBrk="0" latinLnBrk="0"/>
            <a:r>
              <a:rPr sz="1019" b="1">
                <a:solidFill>
                  <a:srgbClr val="0B8577"/>
                </a:solidFill>
                <a:latin typeface="Noto Sans KR"/>
                <a:ea typeface="Noto Sans KR"/>
                <a:cs typeface="Noto Sans KR"/>
              </a:rPr>
              <a:t>manifest · SHA-256</a:t>
            </a:r>
          </a:p>
        </p:txBody>
      </p:sp>
      <p:sp>
        <p:nvSpPr>
          <p:cNvPr id="20" name="Rounded Rectangle 19"/>
          <p:cNvSpPr/>
          <p:nvPr/>
        </p:nvSpPr>
        <p:spPr>
          <a:xfrm>
            <a:off x="5059680" y="1950720"/>
            <a:ext cx="2072640" cy="2712720"/>
          </a:xfrm>
          <a:prstGeom prst="roundRect">
            <a:avLst>
              <a:gd name="adj" fmla="val 5147"/>
            </a:avLst>
          </a:prstGeom>
          <a:solidFill>
            <a:srgbClr val="F2F5F8"/>
          </a:solidFill>
          <a:ln>
            <a:noFill/>
          </a:ln>
        </p:spPr>
        <p:txBody>
          <a:bodyPr rtlCol="0" anchor="ctr"/>
          <a:lstStyle/>
          <a:p>
            <a:pPr algn="ctr"/>
          </a:p>
        </p:txBody>
      </p:sp>
      <p:sp>
        <p:nvSpPr>
          <p:cNvPr id="21" name="Oval 20"/>
          <p:cNvSpPr/>
          <p:nvPr/>
        </p:nvSpPr>
        <p:spPr>
          <a:xfrm>
            <a:off x="5257800" y="2164080"/>
            <a:ext cx="335280" cy="335280"/>
          </a:xfrm>
          <a:prstGeom prst="ellipse">
            <a:avLst/>
          </a:prstGeom>
          <a:solidFill>
            <a:srgbClr val="0B8577"/>
          </a:solidFill>
          <a:ln>
            <a:noFill/>
          </a:ln>
        </p:spPr>
        <p:txBody>
          <a:bodyPr rtlCol="0" anchor="ctr"/>
          <a:lstStyle/>
          <a:p>
            <a:pPr algn="ctr"/>
          </a:p>
        </p:txBody>
      </p:sp>
      <p:sp>
        <p:nvSpPr>
          <p:cNvPr id="22" name="글 3"/>
          <p:cNvSpPr txBox="1"/>
          <p:nvPr/>
        </p:nvSpPr>
        <p:spPr>
          <a:xfrm>
            <a:off x="5337886" y="223113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3</a:t>
            </a:r>
          </a:p>
        </p:txBody>
      </p:sp>
      <p:sp>
        <p:nvSpPr>
          <p:cNvPr id="23" name="글 사건 단계"/>
          <p:cNvSpPr txBox="1"/>
          <p:nvPr/>
        </p:nvSpPr>
        <p:spPr>
          <a:xfrm>
            <a:off x="5273040" y="2705405"/>
            <a:ext cx="85025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사건 단계</a:t>
            </a:r>
          </a:p>
        </p:txBody>
      </p:sp>
      <p:sp>
        <p:nvSpPr>
          <p:cNvPr id="24" name="글 7단계 시각에 출처와"/>
          <p:cNvSpPr txBox="1"/>
          <p:nvPr/>
        </p:nvSpPr>
        <p:spPr>
          <a:xfrm>
            <a:off x="5273040" y="3033217"/>
            <a:ext cx="1473761" cy="694944"/>
          </a:xfrm>
          <a:prstGeom prst="rect">
            <a:avLst/>
          </a:prstGeom>
          <a:noFill/>
        </p:spPr>
        <p:txBody>
          <a:bodyPr wrap="none" anchor="t" lIns="0" rIns="0" tIns="0" bIns="0">
            <a:noAutofit/>
          </a:bodyPr>
          <a:lstStyle/>
          <a:p>
            <a:pPr algn="l" eaLnBrk="0" latinLnBrk="0">
              <a:lnSpc>
                <a:spcPct val="125000"/>
              </a:lnSpc>
            </a:pPr>
            <a:r>
              <a:rPr sz="1140" b="0">
                <a:solidFill>
                  <a:srgbClr val="566676"/>
                </a:solidFill>
                <a:latin typeface="Noto Sans KR"/>
                <a:ea typeface="Noto Sans KR"/>
                <a:cs typeface="Noto Sans KR"/>
              </a:rPr>
              <a:t>7단계 시각에 출처와</a:t>
            </a:r>
          </a:p>
          <a:p>
            <a:pPr algn="l" eaLnBrk="0" latinLnBrk="0">
              <a:lnSpc>
                <a:spcPct val="125000"/>
              </a:lnSpc>
            </a:pPr>
            <a:r>
              <a:rPr sz="1140" b="0">
                <a:solidFill>
                  <a:srgbClr val="566676"/>
                </a:solidFill>
                <a:latin typeface="Noto Sans KR"/>
                <a:ea typeface="Noto Sans KR"/>
                <a:cs typeface="Noto Sans KR"/>
              </a:rPr>
              <a:t>확신도를 붙입니다.</a:t>
            </a:r>
          </a:p>
          <a:p>
            <a:pPr algn="l" eaLnBrk="0" latinLnBrk="0">
              <a:lnSpc>
                <a:spcPct val="125000"/>
              </a:lnSpc>
            </a:pPr>
            <a:r>
              <a:rPr sz="1140" b="0">
                <a:solidFill>
                  <a:srgbClr val="566676"/>
                </a:solidFill>
                <a:latin typeface="Noto Sans KR"/>
                <a:ea typeface="Noto Sans KR"/>
                <a:cs typeface="Noto Sans KR"/>
              </a:rPr>
              <a:t>관측·공식·보도·CCTV</a:t>
            </a:r>
          </a:p>
        </p:txBody>
      </p:sp>
      <p:sp>
        <p:nvSpPr>
          <p:cNvPr id="25" name="Rounded Rectangle 24"/>
          <p:cNvSpPr/>
          <p:nvPr/>
        </p:nvSpPr>
        <p:spPr>
          <a:xfrm>
            <a:off x="5273040" y="4267200"/>
            <a:ext cx="971992" cy="259080"/>
          </a:xfrm>
          <a:prstGeom prst="roundRect">
            <a:avLst>
              <a:gd name="adj" fmla="val 50000"/>
            </a:avLst>
          </a:prstGeom>
          <a:solidFill>
            <a:srgbClr val="E1F2EF"/>
          </a:solidFill>
          <a:ln>
            <a:noFill/>
          </a:ln>
        </p:spPr>
        <p:txBody>
          <a:bodyPr rtlCol="0" anchor="ctr"/>
          <a:lstStyle/>
          <a:p>
            <a:pPr algn="ctr"/>
          </a:p>
        </p:txBody>
      </p:sp>
      <p:sp>
        <p:nvSpPr>
          <p:cNvPr id="26" name="글 출처 쪽수 추적"/>
          <p:cNvSpPr txBox="1"/>
          <p:nvPr/>
        </p:nvSpPr>
        <p:spPr>
          <a:xfrm>
            <a:off x="5372100" y="4319016"/>
            <a:ext cx="850072" cy="194310"/>
          </a:xfrm>
          <a:prstGeom prst="rect">
            <a:avLst/>
          </a:prstGeom>
          <a:noFill/>
        </p:spPr>
        <p:txBody>
          <a:bodyPr wrap="none" anchor="t" lIns="0" rIns="0" tIns="0" bIns="0">
            <a:noAutofit/>
          </a:bodyPr>
          <a:lstStyle/>
          <a:p>
            <a:pPr algn="l" eaLnBrk="0" latinLnBrk="0"/>
            <a:r>
              <a:rPr sz="1019" b="1">
                <a:solidFill>
                  <a:srgbClr val="0B8577"/>
                </a:solidFill>
                <a:latin typeface="Noto Sans KR"/>
                <a:ea typeface="Noto Sans KR"/>
                <a:cs typeface="Noto Sans KR"/>
              </a:rPr>
              <a:t>출처 쪽수 추적</a:t>
            </a:r>
          </a:p>
        </p:txBody>
      </p:sp>
      <p:sp>
        <p:nvSpPr>
          <p:cNvPr id="27" name="Rounded Rectangle 26"/>
          <p:cNvSpPr/>
          <p:nvPr/>
        </p:nvSpPr>
        <p:spPr>
          <a:xfrm>
            <a:off x="7284720" y="1950720"/>
            <a:ext cx="2072640" cy="2712720"/>
          </a:xfrm>
          <a:prstGeom prst="roundRect">
            <a:avLst>
              <a:gd name="adj" fmla="val 5147"/>
            </a:avLst>
          </a:prstGeom>
          <a:solidFill>
            <a:srgbClr val="F2F5F8"/>
          </a:solidFill>
          <a:ln>
            <a:noFill/>
          </a:ln>
        </p:spPr>
        <p:txBody>
          <a:bodyPr rtlCol="0" anchor="ctr"/>
          <a:lstStyle/>
          <a:p>
            <a:pPr algn="ctr"/>
          </a:p>
        </p:txBody>
      </p:sp>
      <p:sp>
        <p:nvSpPr>
          <p:cNvPr id="28" name="Oval 27"/>
          <p:cNvSpPr/>
          <p:nvPr/>
        </p:nvSpPr>
        <p:spPr>
          <a:xfrm>
            <a:off x="7482840" y="2164080"/>
            <a:ext cx="335280" cy="335280"/>
          </a:xfrm>
          <a:prstGeom prst="ellipse">
            <a:avLst/>
          </a:prstGeom>
          <a:solidFill>
            <a:srgbClr val="0B8577"/>
          </a:solidFill>
          <a:ln>
            <a:noFill/>
          </a:ln>
        </p:spPr>
        <p:txBody>
          <a:bodyPr rtlCol="0" anchor="ctr"/>
          <a:lstStyle/>
          <a:p>
            <a:pPr algn="ctr"/>
          </a:p>
        </p:txBody>
      </p:sp>
      <p:sp>
        <p:nvSpPr>
          <p:cNvPr id="29" name="글 4"/>
          <p:cNvSpPr txBox="1"/>
          <p:nvPr/>
        </p:nvSpPr>
        <p:spPr>
          <a:xfrm>
            <a:off x="7562926" y="223113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4</a:t>
            </a:r>
          </a:p>
        </p:txBody>
      </p:sp>
      <p:sp>
        <p:nvSpPr>
          <p:cNvPr id="30" name="글 HAND 근사"/>
          <p:cNvSpPr txBox="1"/>
          <p:nvPr/>
        </p:nvSpPr>
        <p:spPr>
          <a:xfrm>
            <a:off x="7498080" y="2705405"/>
            <a:ext cx="105253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HAND 근사</a:t>
            </a:r>
          </a:p>
        </p:txBody>
      </p:sp>
      <p:sp>
        <p:nvSpPr>
          <p:cNvPr id="31" name="글 관측 수위 상승분을 임계로"/>
          <p:cNvSpPr txBox="1"/>
          <p:nvPr/>
        </p:nvSpPr>
        <p:spPr>
          <a:xfrm>
            <a:off x="7498080" y="3033217"/>
            <a:ext cx="1638666" cy="694944"/>
          </a:xfrm>
          <a:prstGeom prst="rect">
            <a:avLst/>
          </a:prstGeom>
          <a:noFill/>
        </p:spPr>
        <p:txBody>
          <a:bodyPr wrap="none" anchor="t" lIns="0" rIns="0" tIns="0" bIns="0">
            <a:noAutofit/>
          </a:bodyPr>
          <a:lstStyle/>
          <a:p>
            <a:pPr algn="l" eaLnBrk="0" latinLnBrk="0">
              <a:lnSpc>
                <a:spcPct val="125000"/>
              </a:lnSpc>
            </a:pPr>
            <a:r>
              <a:rPr sz="1140" b="0">
                <a:solidFill>
                  <a:srgbClr val="566676"/>
                </a:solidFill>
                <a:latin typeface="Noto Sans KR"/>
                <a:ea typeface="Noto Sans KR"/>
                <a:cs typeface="Noto Sans KR"/>
              </a:rPr>
              <a:t>관측 수위 상승분을 임계로</a:t>
            </a:r>
          </a:p>
          <a:p>
            <a:pPr algn="l" eaLnBrk="0" latinLnBrk="0">
              <a:lnSpc>
                <a:spcPct val="125000"/>
              </a:lnSpc>
            </a:pPr>
            <a:r>
              <a:rPr sz="1140" b="0">
                <a:solidFill>
                  <a:srgbClr val="566676"/>
                </a:solidFill>
                <a:latin typeface="Noto Sans KR"/>
                <a:ea typeface="Noto Sans KR"/>
                <a:cs typeface="Noto Sans KR"/>
              </a:rPr>
              <a:t>하천과 연결된 낮은 셀을</a:t>
            </a:r>
          </a:p>
          <a:p>
            <a:pPr algn="l" eaLnBrk="0" latinLnBrk="0">
              <a:lnSpc>
                <a:spcPct val="125000"/>
              </a:lnSpc>
            </a:pPr>
            <a:r>
              <a:rPr sz="1140" b="0">
                <a:solidFill>
                  <a:srgbClr val="566676"/>
                </a:solidFill>
                <a:latin typeface="Noto Sans KR"/>
                <a:ea typeface="Noto Sans KR"/>
                <a:cs typeface="Noto Sans KR"/>
              </a:rPr>
              <a:t>단계마다 고릅니다</a:t>
            </a:r>
          </a:p>
        </p:txBody>
      </p:sp>
      <p:sp>
        <p:nvSpPr>
          <p:cNvPr id="32" name="Rounded Rectangle 31"/>
          <p:cNvSpPr/>
          <p:nvPr/>
        </p:nvSpPr>
        <p:spPr>
          <a:xfrm>
            <a:off x="7498080" y="4267200"/>
            <a:ext cx="1210346" cy="259080"/>
          </a:xfrm>
          <a:prstGeom prst="roundRect">
            <a:avLst>
              <a:gd name="adj" fmla="val 50000"/>
            </a:avLst>
          </a:prstGeom>
          <a:solidFill>
            <a:srgbClr val="E1F2EF"/>
          </a:solidFill>
          <a:ln>
            <a:noFill/>
          </a:ln>
        </p:spPr>
        <p:txBody>
          <a:bodyPr rtlCol="0" anchor="ctr"/>
          <a:lstStyle/>
          <a:p>
            <a:pPr algn="ctr"/>
          </a:p>
        </p:txBody>
      </p:sp>
      <p:sp>
        <p:nvSpPr>
          <p:cNvPr id="33" name="글 공식 침수범위 아님"/>
          <p:cNvSpPr txBox="1"/>
          <p:nvPr/>
        </p:nvSpPr>
        <p:spPr>
          <a:xfrm>
            <a:off x="7597140" y="4319016"/>
            <a:ext cx="1088426" cy="194310"/>
          </a:xfrm>
          <a:prstGeom prst="rect">
            <a:avLst/>
          </a:prstGeom>
          <a:noFill/>
        </p:spPr>
        <p:txBody>
          <a:bodyPr wrap="none" anchor="t" lIns="0" rIns="0" tIns="0" bIns="0">
            <a:noAutofit/>
          </a:bodyPr>
          <a:lstStyle/>
          <a:p>
            <a:pPr algn="l" eaLnBrk="0" latinLnBrk="0"/>
            <a:r>
              <a:rPr sz="1019" b="1">
                <a:solidFill>
                  <a:srgbClr val="0B8577"/>
                </a:solidFill>
                <a:latin typeface="Noto Sans KR"/>
                <a:ea typeface="Noto Sans KR"/>
                <a:cs typeface="Noto Sans KR"/>
              </a:rPr>
              <a:t>공식 침수범위 아님</a:t>
            </a:r>
          </a:p>
        </p:txBody>
      </p:sp>
      <p:sp>
        <p:nvSpPr>
          <p:cNvPr id="34" name="Rounded Rectangle 33"/>
          <p:cNvSpPr/>
          <p:nvPr/>
        </p:nvSpPr>
        <p:spPr>
          <a:xfrm>
            <a:off x="9509760" y="1950720"/>
            <a:ext cx="2072640" cy="2712720"/>
          </a:xfrm>
          <a:prstGeom prst="roundRect">
            <a:avLst>
              <a:gd name="adj" fmla="val 5147"/>
            </a:avLst>
          </a:prstGeom>
          <a:solidFill>
            <a:srgbClr val="F2F5F8"/>
          </a:solidFill>
          <a:ln>
            <a:noFill/>
          </a:ln>
        </p:spPr>
        <p:txBody>
          <a:bodyPr rtlCol="0" anchor="ctr"/>
          <a:lstStyle/>
          <a:p>
            <a:pPr algn="ctr"/>
          </a:p>
        </p:txBody>
      </p:sp>
      <p:sp>
        <p:nvSpPr>
          <p:cNvPr id="35" name="Oval 34"/>
          <p:cNvSpPr/>
          <p:nvPr/>
        </p:nvSpPr>
        <p:spPr>
          <a:xfrm>
            <a:off x="9707880" y="2164080"/>
            <a:ext cx="335280" cy="335280"/>
          </a:xfrm>
          <a:prstGeom prst="ellipse">
            <a:avLst/>
          </a:prstGeom>
          <a:solidFill>
            <a:srgbClr val="0B8577"/>
          </a:solidFill>
          <a:ln>
            <a:noFill/>
          </a:ln>
        </p:spPr>
        <p:txBody>
          <a:bodyPr rtlCol="0" anchor="ctr"/>
          <a:lstStyle/>
          <a:p>
            <a:pPr algn="ctr"/>
          </a:p>
        </p:txBody>
      </p:sp>
      <p:sp>
        <p:nvSpPr>
          <p:cNvPr id="36" name="글 5"/>
          <p:cNvSpPr txBox="1"/>
          <p:nvPr/>
        </p:nvSpPr>
        <p:spPr>
          <a:xfrm>
            <a:off x="9787966" y="223113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5</a:t>
            </a:r>
          </a:p>
        </p:txBody>
      </p:sp>
      <p:sp>
        <p:nvSpPr>
          <p:cNvPr id="37" name="글 반사실 계산"/>
          <p:cNvSpPr txBox="1"/>
          <p:nvPr/>
        </p:nvSpPr>
        <p:spPr>
          <a:xfrm>
            <a:off x="9723120" y="2705405"/>
            <a:ext cx="103252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반사실 계산</a:t>
            </a:r>
          </a:p>
        </p:txBody>
      </p:sp>
      <p:sp>
        <p:nvSpPr>
          <p:cNvPr id="38" name="글 통제 시각·유입 지연을 바꿔"/>
          <p:cNvSpPr txBox="1"/>
          <p:nvPr/>
        </p:nvSpPr>
        <p:spPr>
          <a:xfrm>
            <a:off x="9723120" y="3033217"/>
            <a:ext cx="1719887" cy="694944"/>
          </a:xfrm>
          <a:prstGeom prst="rect">
            <a:avLst/>
          </a:prstGeom>
          <a:noFill/>
        </p:spPr>
        <p:txBody>
          <a:bodyPr wrap="none" anchor="t" lIns="0" rIns="0" tIns="0" bIns="0">
            <a:noAutofit/>
          </a:bodyPr>
          <a:lstStyle/>
          <a:p>
            <a:pPr algn="l" eaLnBrk="0" latinLnBrk="0">
              <a:lnSpc>
                <a:spcPct val="125000"/>
              </a:lnSpc>
            </a:pPr>
            <a:r>
              <a:rPr sz="1140" b="0">
                <a:solidFill>
                  <a:srgbClr val="566676"/>
                </a:solidFill>
                <a:latin typeface="Noto Sans KR"/>
                <a:ea typeface="Noto Sans KR"/>
                <a:cs typeface="Noto Sans KR"/>
              </a:rPr>
              <a:t>통제 시각·유입 지연을 바꿔</a:t>
            </a:r>
          </a:p>
          <a:p>
            <a:pPr algn="l" eaLnBrk="0" latinLnBrk="0">
              <a:lnSpc>
                <a:spcPct val="125000"/>
              </a:lnSpc>
            </a:pPr>
            <a:r>
              <a:rPr sz="1140" b="0">
                <a:solidFill>
                  <a:srgbClr val="566676"/>
                </a:solidFill>
                <a:latin typeface="Noto Sans KR"/>
                <a:ea typeface="Noto Sans KR"/>
                <a:cs typeface="Noto Sans KR"/>
              </a:rPr>
              <a:t>기록된 시각 사이의 분을</a:t>
            </a:r>
          </a:p>
          <a:p>
            <a:pPr algn="l" eaLnBrk="0" latinLnBrk="0">
              <a:lnSpc>
                <a:spcPct val="125000"/>
              </a:lnSpc>
            </a:pPr>
            <a:r>
              <a:rPr sz="1140" b="0">
                <a:solidFill>
                  <a:srgbClr val="566676"/>
                </a:solidFill>
                <a:latin typeface="Noto Sans KR"/>
                <a:ea typeface="Noto Sans KR"/>
                <a:cs typeface="Noto Sans KR"/>
              </a:rPr>
              <a:t>셉니다</a:t>
            </a:r>
          </a:p>
        </p:txBody>
      </p:sp>
      <p:sp>
        <p:nvSpPr>
          <p:cNvPr id="39" name="Rounded Rectangle 38"/>
          <p:cNvSpPr/>
          <p:nvPr/>
        </p:nvSpPr>
        <p:spPr>
          <a:xfrm>
            <a:off x="9723120" y="4267200"/>
            <a:ext cx="1078085" cy="259080"/>
          </a:xfrm>
          <a:prstGeom prst="roundRect">
            <a:avLst>
              <a:gd name="adj" fmla="val 50000"/>
            </a:avLst>
          </a:prstGeom>
          <a:solidFill>
            <a:srgbClr val="E1F2EF"/>
          </a:solidFill>
          <a:ln>
            <a:noFill/>
          </a:ln>
        </p:spPr>
        <p:txBody>
          <a:bodyPr rtlCol="0" anchor="ctr"/>
          <a:lstStyle/>
          <a:p>
            <a:pPr algn="ctr"/>
          </a:p>
        </p:txBody>
      </p:sp>
      <p:sp>
        <p:nvSpPr>
          <p:cNvPr id="40" name="글 산술 · 추정 없음"/>
          <p:cNvSpPr txBox="1"/>
          <p:nvPr/>
        </p:nvSpPr>
        <p:spPr>
          <a:xfrm>
            <a:off x="9822180" y="4319016"/>
            <a:ext cx="956165" cy="194310"/>
          </a:xfrm>
          <a:prstGeom prst="rect">
            <a:avLst/>
          </a:prstGeom>
          <a:noFill/>
        </p:spPr>
        <p:txBody>
          <a:bodyPr wrap="none" anchor="t" lIns="0" rIns="0" tIns="0" bIns="0">
            <a:noAutofit/>
          </a:bodyPr>
          <a:lstStyle/>
          <a:p>
            <a:pPr algn="l" eaLnBrk="0" latinLnBrk="0"/>
            <a:r>
              <a:rPr sz="1019" b="1">
                <a:solidFill>
                  <a:srgbClr val="0B8577"/>
                </a:solidFill>
                <a:latin typeface="Noto Sans KR"/>
                <a:ea typeface="Noto Sans KR"/>
                <a:cs typeface="Noto Sans KR"/>
              </a:rPr>
              <a:t>산술 · 추정 없음</a:t>
            </a:r>
          </a:p>
        </p:txBody>
      </p:sp>
      <p:sp>
        <p:nvSpPr>
          <p:cNvPr id="41" name="Rounded Rectangle 40"/>
          <p:cNvSpPr/>
          <p:nvPr/>
        </p:nvSpPr>
        <p:spPr>
          <a:xfrm>
            <a:off x="609600" y="5029200"/>
            <a:ext cx="3276600" cy="1143000"/>
          </a:xfrm>
          <a:prstGeom prst="roundRect">
            <a:avLst>
              <a:gd name="adj" fmla="val 9333"/>
            </a:avLst>
          </a:prstGeom>
          <a:solidFill>
            <a:srgbClr val="F2F5F8"/>
          </a:solidFill>
          <a:ln w="7620">
            <a:solidFill>
              <a:srgbClr val="D6DEE6"/>
            </a:solidFill>
          </a:ln>
        </p:spPr>
        <p:txBody>
          <a:bodyPr rtlCol="0" anchor="ctr"/>
          <a:lstStyle/>
          <a:p>
            <a:pPr algn="ctr"/>
          </a:p>
        </p:txBody>
      </p:sp>
      <p:sp>
        <p:nvSpPr>
          <p:cNvPr id="42" name="글 원자료"/>
          <p:cNvSpPr txBox="1"/>
          <p:nvPr/>
        </p:nvSpPr>
        <p:spPr>
          <a:xfrm>
            <a:off x="822960" y="5225491"/>
            <a:ext cx="475793"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원자료</a:t>
            </a:r>
          </a:p>
        </p:txBody>
      </p:sp>
      <p:sp>
        <p:nvSpPr>
          <p:cNvPr id="43" name="글 관측 · 하천망 · DEM · 건물 · OS"/>
          <p:cNvSpPr txBox="1"/>
          <p:nvPr/>
        </p:nvSpPr>
        <p:spPr>
          <a:xfrm>
            <a:off x="822960" y="5523586"/>
            <a:ext cx="2599685"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관측 · 하천망 · DEM · 건물 · OSM</a:t>
            </a:r>
          </a:p>
        </p:txBody>
      </p:sp>
      <p:sp>
        <p:nvSpPr>
          <p:cNvPr id="44" name="글 9종 · 모두 공개자료"/>
          <p:cNvSpPr txBox="1"/>
          <p:nvPr/>
        </p:nvSpPr>
        <p:spPr>
          <a:xfrm>
            <a:off x="822960" y="5835091"/>
            <a:ext cx="1267450"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9종 · 모두 공개자료</a:t>
            </a:r>
          </a:p>
        </p:txBody>
      </p:sp>
      <p:cxnSp>
        <p:nvCxnSpPr>
          <p:cNvPr id="45" name="Connector 44"/>
          <p:cNvCxnSpPr/>
          <p:nvPr/>
        </p:nvCxnSpPr>
        <p:spPr>
          <a:xfrm>
            <a:off x="3992880" y="5600700"/>
            <a:ext cx="365760" cy="0"/>
          </a:xfrm>
          <a:prstGeom prst="line">
            <a:avLst/>
          </a:prstGeom>
          <a:ln w="22860">
            <a:solidFill>
              <a:srgbClr val="8494A3"/>
            </a:solidFill>
            <a:tailEnd type="triangle" w="med" len="med"/>
          </a:ln>
        </p:spPr>
      </p:cxnSp>
      <p:sp>
        <p:nvSpPr>
          <p:cNvPr id="46" name="Rounded Rectangle 45"/>
          <p:cNvSpPr/>
          <p:nvPr/>
        </p:nvSpPr>
        <p:spPr>
          <a:xfrm>
            <a:off x="4457700" y="5029200"/>
            <a:ext cx="3276600" cy="1143000"/>
          </a:xfrm>
          <a:prstGeom prst="roundRect">
            <a:avLst>
              <a:gd name="adj" fmla="val 9333"/>
            </a:avLst>
          </a:prstGeom>
          <a:solidFill>
            <a:srgbClr val="F2F5F8"/>
          </a:solidFill>
          <a:ln w="7620">
            <a:solidFill>
              <a:srgbClr val="D6DEE6"/>
            </a:solidFill>
          </a:ln>
        </p:spPr>
        <p:txBody>
          <a:bodyPr rtlCol="0" anchor="ctr"/>
          <a:lstStyle/>
          <a:p>
            <a:pPr algn="ctr"/>
          </a:p>
        </p:txBody>
      </p:sp>
      <p:sp>
        <p:nvSpPr>
          <p:cNvPr id="47" name="글 산출물"/>
          <p:cNvSpPr txBox="1"/>
          <p:nvPr/>
        </p:nvSpPr>
        <p:spPr>
          <a:xfrm>
            <a:off x="4671060" y="5225491"/>
            <a:ext cx="475793"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산출물</a:t>
            </a:r>
          </a:p>
        </p:txBody>
      </p:sp>
      <p:sp>
        <p:nvSpPr>
          <p:cNvPr id="48" name="글 사건 스냅샷 GeoJSON · 검증 JSON"/>
          <p:cNvSpPr txBox="1"/>
          <p:nvPr/>
        </p:nvSpPr>
        <p:spPr>
          <a:xfrm>
            <a:off x="4671060" y="5523586"/>
            <a:ext cx="2676799"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사건 스냅샷 GeoJSON · 검증 JSON</a:t>
            </a:r>
          </a:p>
        </p:txBody>
      </p:sp>
      <p:sp>
        <p:nvSpPr>
          <p:cNvPr id="49" name="글 manifest에 출처·시점"/>
          <p:cNvSpPr txBox="1"/>
          <p:nvPr/>
        </p:nvSpPr>
        <p:spPr>
          <a:xfrm>
            <a:off x="4671060" y="5835091"/>
            <a:ext cx="1449149"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manifest에 출처·시점</a:t>
            </a:r>
          </a:p>
        </p:txBody>
      </p:sp>
      <p:cxnSp>
        <p:nvCxnSpPr>
          <p:cNvPr id="50" name="Connector 49"/>
          <p:cNvCxnSpPr/>
          <p:nvPr/>
        </p:nvCxnSpPr>
        <p:spPr>
          <a:xfrm>
            <a:off x="7840980" y="5600700"/>
            <a:ext cx="365760" cy="0"/>
          </a:xfrm>
          <a:prstGeom prst="line">
            <a:avLst/>
          </a:prstGeom>
          <a:ln w="22860">
            <a:solidFill>
              <a:srgbClr val="8494A3"/>
            </a:solidFill>
            <a:tailEnd type="triangle" w="med" len="med"/>
          </a:ln>
        </p:spPr>
      </p:cxnSp>
      <p:sp>
        <p:nvSpPr>
          <p:cNvPr id="51" name="Rounded Rectangle 50"/>
          <p:cNvSpPr/>
          <p:nvPr/>
        </p:nvSpPr>
        <p:spPr>
          <a:xfrm>
            <a:off x="8305800" y="5029200"/>
            <a:ext cx="3276600" cy="1143000"/>
          </a:xfrm>
          <a:prstGeom prst="roundRect">
            <a:avLst>
              <a:gd name="adj" fmla="val 9333"/>
            </a:avLst>
          </a:prstGeom>
          <a:solidFill>
            <a:srgbClr val="0B1B2B"/>
          </a:solidFill>
          <a:ln>
            <a:noFill/>
          </a:ln>
        </p:spPr>
        <p:txBody>
          <a:bodyPr rtlCol="0" anchor="ctr"/>
          <a:lstStyle/>
          <a:p>
            <a:pPr algn="ctr"/>
          </a:p>
        </p:txBody>
      </p:sp>
      <p:sp>
        <p:nvSpPr>
          <p:cNvPr id="52" name="글 서비스"/>
          <p:cNvSpPr txBox="1"/>
          <p:nvPr/>
        </p:nvSpPr>
        <p:spPr>
          <a:xfrm>
            <a:off x="8519160" y="5225491"/>
            <a:ext cx="475793" cy="217170"/>
          </a:xfrm>
          <a:prstGeom prst="rect">
            <a:avLst/>
          </a:prstGeom>
          <a:noFill/>
        </p:spPr>
        <p:txBody>
          <a:bodyPr wrap="none" anchor="t" lIns="0" rIns="0" tIns="0" bIns="0">
            <a:noAutofit/>
          </a:bodyPr>
          <a:lstStyle/>
          <a:p>
            <a:pPr algn="l" eaLnBrk="0" latinLnBrk="0"/>
            <a:r>
              <a:rPr sz="1140" b="1">
                <a:solidFill>
                  <a:srgbClr val="5EEAD4"/>
                </a:solidFill>
                <a:latin typeface="Noto Sans KR"/>
                <a:ea typeface="Noto Sans KR"/>
                <a:cs typeface="Noto Sans KR"/>
              </a:rPr>
              <a:t>서비스</a:t>
            </a:r>
          </a:p>
        </p:txBody>
      </p:sp>
      <p:sp>
        <p:nvSpPr>
          <p:cNvPr id="53" name="글 관제 · 시나리오 비교 · Agent · A"/>
          <p:cNvSpPr txBox="1"/>
          <p:nvPr/>
        </p:nvSpPr>
        <p:spPr>
          <a:xfrm>
            <a:off x="8519160" y="5523586"/>
            <a:ext cx="2631704" cy="251460"/>
          </a:xfrm>
          <a:prstGeom prst="rect">
            <a:avLst/>
          </a:prstGeom>
          <a:noFill/>
        </p:spPr>
        <p:txBody>
          <a:bodyPr wrap="none" anchor="t" lIns="0" rIns="0" tIns="0" bIns="0">
            <a:noAutofit/>
          </a:bodyPr>
          <a:lstStyle/>
          <a:p>
            <a:pPr algn="l" eaLnBrk="0" latinLnBrk="0"/>
            <a:r>
              <a:rPr sz="1320" b="1">
                <a:solidFill>
                  <a:srgbClr val="FFFFFF"/>
                </a:solidFill>
                <a:latin typeface="Noto Sans KR"/>
                <a:ea typeface="Noto Sans KR"/>
                <a:cs typeface="Noto Sans KR"/>
              </a:rPr>
              <a:t>관제 · 시나리오 비교 · Agent · API</a:t>
            </a:r>
          </a:p>
        </p:txBody>
      </p:sp>
      <p:sp>
        <p:nvSpPr>
          <p:cNvPr id="54" name="글 4개 사례 · Swagger"/>
          <p:cNvSpPr txBox="1"/>
          <p:nvPr/>
        </p:nvSpPr>
        <p:spPr>
          <a:xfrm>
            <a:off x="8519160" y="5835091"/>
            <a:ext cx="1318268" cy="217170"/>
          </a:xfrm>
          <a:prstGeom prst="rect">
            <a:avLst/>
          </a:prstGeom>
          <a:noFill/>
        </p:spPr>
        <p:txBody>
          <a:bodyPr wrap="none" anchor="t" lIns="0" rIns="0" tIns="0" bIns="0">
            <a:noAutofit/>
          </a:bodyPr>
          <a:lstStyle/>
          <a:p>
            <a:pPr algn="l" eaLnBrk="0" latinLnBrk="0"/>
            <a:r>
              <a:rPr sz="1140" b="0">
                <a:solidFill>
                  <a:srgbClr val="9DB2C6"/>
                </a:solidFill>
                <a:latin typeface="Noto Sans KR"/>
                <a:ea typeface="Noto Sans KR"/>
                <a:cs typeface="Noto Sans KR"/>
              </a:rPr>
              <a:t>4개 사례 · Swagger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7"/>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07</a:t>
            </a:r>
          </a:p>
        </p:txBody>
      </p:sp>
      <p:sp>
        <p:nvSpPr>
          <p:cNvPr id="3" name="글 해결과 결과"/>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해결과 결과</a:t>
            </a:r>
          </a:p>
        </p:txBody>
      </p:sp>
      <p:sp>
        <p:nvSpPr>
          <p:cNvPr id="4" name="글 통제가 18분 빨랐다면, 무엇이 달라졌나"/>
          <p:cNvSpPr txBox="1"/>
          <p:nvPr/>
        </p:nvSpPr>
        <p:spPr>
          <a:xfrm>
            <a:off x="609600" y="853440"/>
            <a:ext cx="6253353"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통제가 18분 빨랐다면, 무엇이 달라졌나</a:t>
            </a:r>
          </a:p>
        </p:txBody>
      </p:sp>
      <p:sp>
        <p:nvSpPr>
          <p:cNvPr id="5" name="글 통제 시각 하나만 바꿔 유입·주행 위험·완전"/>
          <p:cNvSpPr txBox="1"/>
          <p:nvPr/>
        </p:nvSpPr>
        <p:spPr>
          <a:xfrm>
            <a:off x="609600" y="1409395"/>
            <a:ext cx="5361066"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통제 시각 하나만 바꿔 유입·주행 위험·완전 침수까지 남는 분을 셉니다</a:t>
            </a:r>
          </a:p>
        </p:txBody>
      </p:sp>
      <p:sp>
        <p:nvSpPr>
          <p:cNvPr id="6" name="Rounded Rectangle 5"/>
          <p:cNvSpPr/>
          <p:nvPr/>
        </p:nvSpPr>
        <p:spPr>
          <a:xfrm>
            <a:off x="609600" y="1996440"/>
            <a:ext cx="6858000" cy="3749040"/>
          </a:xfrm>
          <a:prstGeom prst="roundRect">
            <a:avLst>
              <a:gd name="adj" fmla="val 2845"/>
            </a:avLst>
          </a:prstGeom>
          <a:solidFill>
            <a:srgbClr val="F2F5F8"/>
          </a:solidFill>
          <a:ln>
            <a:noFill/>
          </a:ln>
        </p:spPr>
        <p:txBody>
          <a:bodyPr rtlCol="0" anchor="ctr"/>
          <a:lstStyle/>
          <a:p>
            <a:pPr algn="ctr"/>
          </a:p>
        </p:txBody>
      </p:sp>
      <p:sp>
        <p:nvSpPr>
          <p:cNvPr id="7" name="글 가정한 통제 시각"/>
          <p:cNvSpPr txBox="1"/>
          <p:nvPr/>
        </p:nvSpPr>
        <p:spPr>
          <a:xfrm>
            <a:off x="822960" y="2200046"/>
            <a:ext cx="1021781"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가정한 통제 시각</a:t>
            </a:r>
          </a:p>
        </p:txBody>
      </p:sp>
      <p:sp>
        <p:nvSpPr>
          <p:cNvPr id="8" name="글 유입(08:27)까지 남는 분"/>
          <p:cNvSpPr txBox="1"/>
          <p:nvPr/>
        </p:nvSpPr>
        <p:spPr>
          <a:xfrm>
            <a:off x="2895600" y="2200046"/>
            <a:ext cx="1493749"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유입(08:27)까지 남는 분</a:t>
            </a:r>
          </a:p>
        </p:txBody>
      </p:sp>
      <p:sp>
        <p:nvSpPr>
          <p:cNvPr id="9" name="글 완전 침수(08:40)까지"/>
          <p:cNvSpPr txBox="1"/>
          <p:nvPr/>
        </p:nvSpPr>
        <p:spPr>
          <a:xfrm>
            <a:off x="5902574" y="2200046"/>
            <a:ext cx="1336426" cy="205740"/>
          </a:xfrm>
          <a:prstGeom prst="rect">
            <a:avLst/>
          </a:prstGeom>
          <a:noFill/>
        </p:spPr>
        <p:txBody>
          <a:bodyPr wrap="none" anchor="t" lIns="0" rIns="0" tIns="0" bIns="0">
            <a:noAutofit/>
          </a:bodyPr>
          <a:lstStyle/>
          <a:p>
            <a:pPr algn="r" eaLnBrk="0" latinLnBrk="0"/>
            <a:r>
              <a:rPr sz="1080" b="1">
                <a:solidFill>
                  <a:srgbClr val="566676"/>
                </a:solidFill>
                <a:latin typeface="Noto Sans KR"/>
                <a:ea typeface="Noto Sans KR"/>
                <a:cs typeface="Noto Sans KR"/>
              </a:rPr>
              <a:t>완전 침수(08:40)까지</a:t>
            </a:r>
          </a:p>
        </p:txBody>
      </p:sp>
      <p:cxnSp>
        <p:nvCxnSpPr>
          <p:cNvPr id="10" name="Connector 9"/>
          <p:cNvCxnSpPr/>
          <p:nvPr/>
        </p:nvCxnSpPr>
        <p:spPr>
          <a:xfrm>
            <a:off x="822960" y="2468880"/>
            <a:ext cx="6431280" cy="0"/>
          </a:xfrm>
          <a:prstGeom prst="line">
            <a:avLst/>
          </a:prstGeom>
          <a:ln w="11430">
            <a:solidFill>
              <a:srgbClr val="D6DEE6"/>
            </a:solidFill>
          </a:ln>
        </p:spPr>
      </p:cxnSp>
      <p:sp>
        <p:nvSpPr>
          <p:cNvPr id="11" name="글 08:09"/>
          <p:cNvSpPr txBox="1"/>
          <p:nvPr/>
        </p:nvSpPr>
        <p:spPr>
          <a:xfrm>
            <a:off x="822960" y="2738323"/>
            <a:ext cx="771830" cy="388620"/>
          </a:xfrm>
          <a:prstGeom prst="rect">
            <a:avLst/>
          </a:prstGeom>
          <a:noFill/>
        </p:spPr>
        <p:txBody>
          <a:bodyPr wrap="none" anchor="t" lIns="0" rIns="0" tIns="0" bIns="0">
            <a:noAutofit/>
          </a:bodyPr>
          <a:lstStyle/>
          <a:p>
            <a:pPr algn="l" eaLnBrk="0" latinLnBrk="0"/>
            <a:r>
              <a:rPr sz="2039" b="1">
                <a:solidFill>
                  <a:srgbClr val="0B8577"/>
                </a:solidFill>
                <a:latin typeface="Noto Sans KR"/>
                <a:ea typeface="Noto Sans KR"/>
                <a:cs typeface="Noto Sans KR"/>
              </a:rPr>
              <a:t>08:09</a:t>
            </a:r>
          </a:p>
        </p:txBody>
      </p:sp>
      <p:sp>
        <p:nvSpPr>
          <p:cNvPr id="12" name="글 임시제방 붕괴 시점에 통제"/>
          <p:cNvSpPr txBox="1"/>
          <p:nvPr/>
        </p:nvSpPr>
        <p:spPr>
          <a:xfrm>
            <a:off x="822960" y="3090672"/>
            <a:ext cx="1309726"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임시제방 붕괴 시점에 통제</a:t>
            </a:r>
          </a:p>
        </p:txBody>
      </p:sp>
      <p:cxnSp>
        <p:nvCxnSpPr>
          <p:cNvPr id="13" name="Connector 12"/>
          <p:cNvCxnSpPr/>
          <p:nvPr/>
        </p:nvCxnSpPr>
        <p:spPr>
          <a:xfrm>
            <a:off x="4724400" y="2712720"/>
            <a:ext cx="0" cy="426720"/>
          </a:xfrm>
          <a:prstGeom prst="line">
            <a:avLst/>
          </a:prstGeom>
          <a:ln w="11430">
            <a:solidFill>
              <a:srgbClr val="D6DEE6"/>
            </a:solidFill>
          </a:ln>
        </p:spPr>
      </p:cxnSp>
      <p:sp>
        <p:nvSpPr>
          <p:cNvPr id="14" name="Rounded Rectangle 13"/>
          <p:cNvSpPr/>
          <p:nvPr/>
        </p:nvSpPr>
        <p:spPr>
          <a:xfrm>
            <a:off x="4724400" y="2788920"/>
            <a:ext cx="1234440" cy="274320"/>
          </a:xfrm>
          <a:prstGeom prst="roundRect">
            <a:avLst>
              <a:gd name="adj" fmla="val 16666"/>
            </a:avLst>
          </a:prstGeom>
          <a:solidFill>
            <a:srgbClr val="0B8577"/>
          </a:solidFill>
          <a:ln>
            <a:noFill/>
          </a:ln>
        </p:spPr>
        <p:txBody>
          <a:bodyPr rtlCol="0" anchor="ctr"/>
          <a:lstStyle/>
          <a:p>
            <a:pPr algn="ctr"/>
          </a:p>
        </p:txBody>
      </p:sp>
      <p:sp>
        <p:nvSpPr>
          <p:cNvPr id="15" name="글 18분 전"/>
          <p:cNvSpPr txBox="1"/>
          <p:nvPr/>
        </p:nvSpPr>
        <p:spPr>
          <a:xfrm>
            <a:off x="6065520" y="2811475"/>
            <a:ext cx="670011" cy="274320"/>
          </a:xfrm>
          <a:prstGeom prst="rect">
            <a:avLst/>
          </a:prstGeom>
          <a:noFill/>
        </p:spPr>
        <p:txBody>
          <a:bodyPr wrap="none" anchor="t" lIns="0" rIns="0" tIns="0" bIns="0">
            <a:noAutofit/>
          </a:bodyPr>
          <a:lstStyle/>
          <a:p>
            <a:pPr algn="l" eaLnBrk="0" latinLnBrk="0"/>
            <a:r>
              <a:rPr sz="1439" b="1">
                <a:solidFill>
                  <a:srgbClr val="0B8577"/>
                </a:solidFill>
                <a:latin typeface="Noto Sans KR"/>
                <a:ea typeface="Noto Sans KR"/>
                <a:cs typeface="Noto Sans KR"/>
              </a:rPr>
              <a:t>18분 전</a:t>
            </a:r>
          </a:p>
        </p:txBody>
      </p:sp>
      <p:sp>
        <p:nvSpPr>
          <p:cNvPr id="16" name="글 31분 전"/>
          <p:cNvSpPr txBox="1"/>
          <p:nvPr/>
        </p:nvSpPr>
        <p:spPr>
          <a:xfrm>
            <a:off x="6618473" y="2826106"/>
            <a:ext cx="620527" cy="251460"/>
          </a:xfrm>
          <a:prstGeom prst="rect">
            <a:avLst/>
          </a:prstGeom>
          <a:noFill/>
        </p:spPr>
        <p:txBody>
          <a:bodyPr wrap="none" anchor="t" lIns="0" rIns="0" tIns="0" bIns="0">
            <a:noAutofit/>
          </a:bodyPr>
          <a:lstStyle/>
          <a:p>
            <a:pPr algn="r" eaLnBrk="0" latinLnBrk="0"/>
            <a:r>
              <a:rPr sz="1320" b="1">
                <a:solidFill>
                  <a:srgbClr val="0F1E2E"/>
                </a:solidFill>
                <a:latin typeface="Noto Sans KR"/>
                <a:ea typeface="Noto Sans KR"/>
                <a:cs typeface="Noto Sans KR"/>
              </a:rPr>
              <a:t>31분 전</a:t>
            </a:r>
          </a:p>
        </p:txBody>
      </p:sp>
      <p:sp>
        <p:nvSpPr>
          <p:cNvPr id="17" name="글 08:20"/>
          <p:cNvSpPr txBox="1"/>
          <p:nvPr/>
        </p:nvSpPr>
        <p:spPr>
          <a:xfrm>
            <a:off x="822960" y="3454603"/>
            <a:ext cx="771830" cy="388620"/>
          </a:xfrm>
          <a:prstGeom prst="rect">
            <a:avLst/>
          </a:prstGeom>
          <a:noFill/>
        </p:spPr>
        <p:txBody>
          <a:bodyPr wrap="none" anchor="t" lIns="0" rIns="0" tIns="0" bIns="0">
            <a:noAutofit/>
          </a:bodyPr>
          <a:lstStyle/>
          <a:p>
            <a:pPr algn="l" eaLnBrk="0" latinLnBrk="0"/>
            <a:r>
              <a:rPr sz="2039" b="1">
                <a:solidFill>
                  <a:srgbClr val="0B8577"/>
                </a:solidFill>
                <a:latin typeface="Noto Sans KR"/>
                <a:ea typeface="Noto Sans KR"/>
                <a:cs typeface="Noto Sans KR"/>
              </a:rPr>
              <a:t>08:20</a:t>
            </a:r>
          </a:p>
        </p:txBody>
      </p:sp>
      <p:cxnSp>
        <p:nvCxnSpPr>
          <p:cNvPr id="18" name="Connector 17"/>
          <p:cNvCxnSpPr/>
          <p:nvPr/>
        </p:nvCxnSpPr>
        <p:spPr>
          <a:xfrm>
            <a:off x="4724400" y="3429000"/>
            <a:ext cx="0" cy="426720"/>
          </a:xfrm>
          <a:prstGeom prst="line">
            <a:avLst/>
          </a:prstGeom>
          <a:ln w="11430">
            <a:solidFill>
              <a:srgbClr val="D6DEE6"/>
            </a:solidFill>
          </a:ln>
        </p:spPr>
      </p:cxnSp>
      <p:sp>
        <p:nvSpPr>
          <p:cNvPr id="19" name="Rounded Rectangle 18"/>
          <p:cNvSpPr/>
          <p:nvPr/>
        </p:nvSpPr>
        <p:spPr>
          <a:xfrm>
            <a:off x="4724400" y="3505200"/>
            <a:ext cx="480060" cy="274320"/>
          </a:xfrm>
          <a:prstGeom prst="roundRect">
            <a:avLst>
              <a:gd name="adj" fmla="val 16666"/>
            </a:avLst>
          </a:prstGeom>
          <a:solidFill>
            <a:srgbClr val="0B8577"/>
          </a:solidFill>
          <a:ln>
            <a:noFill/>
          </a:ln>
        </p:spPr>
        <p:txBody>
          <a:bodyPr rtlCol="0" anchor="ctr"/>
          <a:lstStyle/>
          <a:p>
            <a:pPr algn="ctr"/>
          </a:p>
        </p:txBody>
      </p:sp>
      <p:sp>
        <p:nvSpPr>
          <p:cNvPr id="20" name="글 7분 전"/>
          <p:cNvSpPr txBox="1"/>
          <p:nvPr/>
        </p:nvSpPr>
        <p:spPr>
          <a:xfrm>
            <a:off x="5311140" y="3527755"/>
            <a:ext cx="562112" cy="274320"/>
          </a:xfrm>
          <a:prstGeom prst="rect">
            <a:avLst/>
          </a:prstGeom>
          <a:noFill/>
        </p:spPr>
        <p:txBody>
          <a:bodyPr wrap="none" anchor="t" lIns="0" rIns="0" tIns="0" bIns="0">
            <a:noAutofit/>
          </a:bodyPr>
          <a:lstStyle/>
          <a:p>
            <a:pPr algn="l" eaLnBrk="0" latinLnBrk="0"/>
            <a:r>
              <a:rPr sz="1439" b="1">
                <a:solidFill>
                  <a:srgbClr val="0B8577"/>
                </a:solidFill>
                <a:latin typeface="Noto Sans KR"/>
                <a:ea typeface="Noto Sans KR"/>
                <a:cs typeface="Noto Sans KR"/>
              </a:rPr>
              <a:t>7분 전</a:t>
            </a:r>
          </a:p>
        </p:txBody>
      </p:sp>
      <p:sp>
        <p:nvSpPr>
          <p:cNvPr id="21" name="글 20분 전"/>
          <p:cNvSpPr txBox="1"/>
          <p:nvPr/>
        </p:nvSpPr>
        <p:spPr>
          <a:xfrm>
            <a:off x="6618473" y="3542386"/>
            <a:ext cx="620527" cy="251460"/>
          </a:xfrm>
          <a:prstGeom prst="rect">
            <a:avLst/>
          </a:prstGeom>
          <a:noFill/>
        </p:spPr>
        <p:txBody>
          <a:bodyPr wrap="none" anchor="t" lIns="0" rIns="0" tIns="0" bIns="0">
            <a:noAutofit/>
          </a:bodyPr>
          <a:lstStyle/>
          <a:p>
            <a:pPr algn="r" eaLnBrk="0" latinLnBrk="0"/>
            <a:r>
              <a:rPr sz="1320" b="1">
                <a:solidFill>
                  <a:srgbClr val="0F1E2E"/>
                </a:solidFill>
                <a:latin typeface="Noto Sans KR"/>
                <a:ea typeface="Noto Sans KR"/>
                <a:cs typeface="Noto Sans KR"/>
              </a:rPr>
              <a:t>20분 전</a:t>
            </a:r>
          </a:p>
        </p:txBody>
      </p:sp>
      <p:sp>
        <p:nvSpPr>
          <p:cNvPr id="22" name="글 08:25"/>
          <p:cNvSpPr txBox="1"/>
          <p:nvPr/>
        </p:nvSpPr>
        <p:spPr>
          <a:xfrm>
            <a:off x="822960" y="4170883"/>
            <a:ext cx="771830" cy="388620"/>
          </a:xfrm>
          <a:prstGeom prst="rect">
            <a:avLst/>
          </a:prstGeom>
          <a:noFill/>
        </p:spPr>
        <p:txBody>
          <a:bodyPr wrap="none" anchor="t" lIns="0" rIns="0" tIns="0" bIns="0">
            <a:noAutofit/>
          </a:bodyPr>
          <a:lstStyle/>
          <a:p>
            <a:pPr algn="l" eaLnBrk="0" latinLnBrk="0"/>
            <a:r>
              <a:rPr sz="2039" b="1">
                <a:solidFill>
                  <a:srgbClr val="0B8577"/>
                </a:solidFill>
                <a:latin typeface="Noto Sans KR"/>
                <a:ea typeface="Noto Sans KR"/>
                <a:cs typeface="Noto Sans KR"/>
              </a:rPr>
              <a:t>08:25</a:t>
            </a:r>
          </a:p>
        </p:txBody>
      </p:sp>
      <p:cxnSp>
        <p:nvCxnSpPr>
          <p:cNvPr id="23" name="Connector 22"/>
          <p:cNvCxnSpPr/>
          <p:nvPr/>
        </p:nvCxnSpPr>
        <p:spPr>
          <a:xfrm>
            <a:off x="4724400" y="4145280"/>
            <a:ext cx="0" cy="426720"/>
          </a:xfrm>
          <a:prstGeom prst="line">
            <a:avLst/>
          </a:prstGeom>
          <a:ln w="11430">
            <a:solidFill>
              <a:srgbClr val="D6DEE6"/>
            </a:solidFill>
          </a:ln>
        </p:spPr>
      </p:cxnSp>
      <p:sp>
        <p:nvSpPr>
          <p:cNvPr id="24" name="Rounded Rectangle 23"/>
          <p:cNvSpPr/>
          <p:nvPr/>
        </p:nvSpPr>
        <p:spPr>
          <a:xfrm>
            <a:off x="4724400" y="4221480"/>
            <a:ext cx="137160" cy="274320"/>
          </a:xfrm>
          <a:prstGeom prst="roundRect">
            <a:avLst>
              <a:gd name="adj" fmla="val 33333"/>
            </a:avLst>
          </a:prstGeom>
          <a:solidFill>
            <a:srgbClr val="0B8577"/>
          </a:solidFill>
          <a:ln>
            <a:noFill/>
          </a:ln>
        </p:spPr>
        <p:txBody>
          <a:bodyPr rtlCol="0" anchor="ctr"/>
          <a:lstStyle/>
          <a:p>
            <a:pPr algn="ctr"/>
          </a:p>
        </p:txBody>
      </p:sp>
      <p:sp>
        <p:nvSpPr>
          <p:cNvPr id="25" name="글 2분 전"/>
          <p:cNvSpPr txBox="1"/>
          <p:nvPr/>
        </p:nvSpPr>
        <p:spPr>
          <a:xfrm>
            <a:off x="4968240" y="4244035"/>
            <a:ext cx="562112" cy="274320"/>
          </a:xfrm>
          <a:prstGeom prst="rect">
            <a:avLst/>
          </a:prstGeom>
          <a:noFill/>
        </p:spPr>
        <p:txBody>
          <a:bodyPr wrap="none" anchor="t" lIns="0" rIns="0" tIns="0" bIns="0">
            <a:noAutofit/>
          </a:bodyPr>
          <a:lstStyle/>
          <a:p>
            <a:pPr algn="l" eaLnBrk="0" latinLnBrk="0"/>
            <a:r>
              <a:rPr sz="1439" b="1">
                <a:solidFill>
                  <a:srgbClr val="0B8577"/>
                </a:solidFill>
                <a:latin typeface="Noto Sans KR"/>
                <a:ea typeface="Noto Sans KR"/>
                <a:cs typeface="Noto Sans KR"/>
              </a:rPr>
              <a:t>2분 전</a:t>
            </a:r>
          </a:p>
        </p:txBody>
      </p:sp>
      <p:sp>
        <p:nvSpPr>
          <p:cNvPr id="26" name="글 15분 전"/>
          <p:cNvSpPr txBox="1"/>
          <p:nvPr/>
        </p:nvSpPr>
        <p:spPr>
          <a:xfrm>
            <a:off x="6618473" y="4258666"/>
            <a:ext cx="620527" cy="251460"/>
          </a:xfrm>
          <a:prstGeom prst="rect">
            <a:avLst/>
          </a:prstGeom>
          <a:noFill/>
        </p:spPr>
        <p:txBody>
          <a:bodyPr wrap="none" anchor="t" lIns="0" rIns="0" tIns="0" bIns="0">
            <a:noAutofit/>
          </a:bodyPr>
          <a:lstStyle/>
          <a:p>
            <a:pPr algn="r" eaLnBrk="0" latinLnBrk="0"/>
            <a:r>
              <a:rPr sz="1320" b="1">
                <a:solidFill>
                  <a:srgbClr val="0F1E2E"/>
                </a:solidFill>
                <a:latin typeface="Noto Sans KR"/>
                <a:ea typeface="Noto Sans KR"/>
                <a:cs typeface="Noto Sans KR"/>
              </a:rPr>
              <a:t>15분 전</a:t>
            </a:r>
          </a:p>
        </p:txBody>
      </p:sp>
      <p:sp>
        <p:nvSpPr>
          <p:cNvPr id="27" name="글 08:35"/>
          <p:cNvSpPr txBox="1"/>
          <p:nvPr/>
        </p:nvSpPr>
        <p:spPr>
          <a:xfrm>
            <a:off x="822960" y="4887163"/>
            <a:ext cx="771830" cy="388620"/>
          </a:xfrm>
          <a:prstGeom prst="rect">
            <a:avLst/>
          </a:prstGeom>
          <a:noFill/>
        </p:spPr>
        <p:txBody>
          <a:bodyPr wrap="none" anchor="t" lIns="0" rIns="0" tIns="0" bIns="0">
            <a:noAutofit/>
          </a:bodyPr>
          <a:lstStyle/>
          <a:p>
            <a:pPr algn="l" eaLnBrk="0" latinLnBrk="0"/>
            <a:r>
              <a:rPr sz="2039" b="1">
                <a:solidFill>
                  <a:srgbClr val="B42318"/>
                </a:solidFill>
                <a:latin typeface="Noto Sans KR"/>
                <a:ea typeface="Noto Sans KR"/>
                <a:cs typeface="Noto Sans KR"/>
              </a:rPr>
              <a:t>08:35</a:t>
            </a:r>
          </a:p>
        </p:txBody>
      </p:sp>
      <p:sp>
        <p:nvSpPr>
          <p:cNvPr id="28" name="글 차량 통행 위험 시점"/>
          <p:cNvSpPr txBox="1"/>
          <p:nvPr/>
        </p:nvSpPr>
        <p:spPr>
          <a:xfrm>
            <a:off x="822960" y="5239512"/>
            <a:ext cx="994258"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차량 통행 위험 시점</a:t>
            </a:r>
          </a:p>
        </p:txBody>
      </p:sp>
      <p:cxnSp>
        <p:nvCxnSpPr>
          <p:cNvPr id="29" name="Connector 28"/>
          <p:cNvCxnSpPr/>
          <p:nvPr/>
        </p:nvCxnSpPr>
        <p:spPr>
          <a:xfrm>
            <a:off x="4724400" y="4861560"/>
            <a:ext cx="0" cy="426720"/>
          </a:xfrm>
          <a:prstGeom prst="line">
            <a:avLst/>
          </a:prstGeom>
          <a:ln w="11430">
            <a:solidFill>
              <a:srgbClr val="D6DEE6"/>
            </a:solidFill>
          </a:ln>
        </p:spPr>
      </p:cxnSp>
      <p:sp>
        <p:nvSpPr>
          <p:cNvPr id="30" name="Rounded Rectangle 29"/>
          <p:cNvSpPr/>
          <p:nvPr/>
        </p:nvSpPr>
        <p:spPr>
          <a:xfrm>
            <a:off x="4175760" y="4937760"/>
            <a:ext cx="548640" cy="274320"/>
          </a:xfrm>
          <a:prstGeom prst="roundRect">
            <a:avLst>
              <a:gd name="adj" fmla="val 16666"/>
            </a:avLst>
          </a:prstGeom>
          <a:solidFill>
            <a:srgbClr val="B42318"/>
          </a:solidFill>
          <a:ln>
            <a:noFill/>
          </a:ln>
        </p:spPr>
        <p:txBody>
          <a:bodyPr rtlCol="0" anchor="ctr"/>
          <a:lstStyle/>
          <a:p>
            <a:pPr algn="ctr"/>
          </a:p>
        </p:txBody>
      </p:sp>
      <p:sp>
        <p:nvSpPr>
          <p:cNvPr id="31" name="글 8분 뒤"/>
          <p:cNvSpPr txBox="1"/>
          <p:nvPr/>
        </p:nvSpPr>
        <p:spPr>
          <a:xfrm>
            <a:off x="3506968" y="4960315"/>
            <a:ext cx="562112" cy="274320"/>
          </a:xfrm>
          <a:prstGeom prst="rect">
            <a:avLst/>
          </a:prstGeom>
          <a:noFill/>
        </p:spPr>
        <p:txBody>
          <a:bodyPr wrap="none" anchor="t" lIns="0" rIns="0" tIns="0" bIns="0">
            <a:noAutofit/>
          </a:bodyPr>
          <a:lstStyle/>
          <a:p>
            <a:pPr algn="r" eaLnBrk="0" latinLnBrk="0"/>
            <a:r>
              <a:rPr sz="1439" b="1">
                <a:solidFill>
                  <a:srgbClr val="B42318"/>
                </a:solidFill>
                <a:latin typeface="Noto Sans KR"/>
                <a:ea typeface="Noto Sans KR"/>
                <a:cs typeface="Noto Sans KR"/>
              </a:rPr>
              <a:t>8분 뒤</a:t>
            </a:r>
          </a:p>
        </p:txBody>
      </p:sp>
      <p:sp>
        <p:nvSpPr>
          <p:cNvPr id="32" name="글 5분 전"/>
          <p:cNvSpPr txBox="1"/>
          <p:nvPr/>
        </p:nvSpPr>
        <p:spPr>
          <a:xfrm>
            <a:off x="6717381" y="4974946"/>
            <a:ext cx="521619" cy="251460"/>
          </a:xfrm>
          <a:prstGeom prst="rect">
            <a:avLst/>
          </a:prstGeom>
          <a:noFill/>
        </p:spPr>
        <p:txBody>
          <a:bodyPr wrap="none" anchor="t" lIns="0" rIns="0" tIns="0" bIns="0">
            <a:noAutofit/>
          </a:bodyPr>
          <a:lstStyle/>
          <a:p>
            <a:pPr algn="r" eaLnBrk="0" latinLnBrk="0"/>
            <a:r>
              <a:rPr sz="1320" b="1">
                <a:solidFill>
                  <a:srgbClr val="0F1E2E"/>
                </a:solidFill>
                <a:latin typeface="Noto Sans KR"/>
                <a:ea typeface="Noto Sans KR"/>
                <a:cs typeface="Noto Sans KR"/>
              </a:rPr>
              <a:t>5분 전</a:t>
            </a:r>
          </a:p>
        </p:txBody>
      </p:sp>
      <p:sp>
        <p:nvSpPr>
          <p:cNvPr id="33" name="글 원시나리오에는 통제가 없습니다. 08:09 "/>
          <p:cNvSpPr txBox="1"/>
          <p:nvPr/>
        </p:nvSpPr>
        <p:spPr>
          <a:xfrm>
            <a:off x="822960" y="5445557"/>
            <a:ext cx="4427769" cy="182880"/>
          </a:xfrm>
          <a:prstGeom prst="rect">
            <a:avLst/>
          </a:prstGeom>
          <a:noFill/>
        </p:spPr>
        <p:txBody>
          <a:bodyPr wrap="none" anchor="t" lIns="0" rIns="0" tIns="0" bIns="0">
            <a:noAutofit/>
          </a:bodyPr>
          <a:lstStyle/>
          <a:p>
            <a:pPr algn="l" eaLnBrk="0" latinLnBrk="0"/>
            <a:r>
              <a:rPr sz="960" b="0">
                <a:solidFill>
                  <a:srgbClr val="566676"/>
                </a:solidFill>
                <a:latin typeface="Noto Sans KR"/>
                <a:ea typeface="Noto Sans KR"/>
                <a:cs typeface="Noto Sans KR"/>
              </a:rPr>
              <a:t>원시나리오에는 통제가 없습니다. 08:09 통제는 «제방 붕괴 전 선제 통제»로 분류됩니다.</a:t>
            </a:r>
          </a:p>
        </p:txBody>
      </p:sp>
      <p:sp>
        <p:nvSpPr>
          <p:cNvPr id="34" name="Rounded Rectangle 33"/>
          <p:cNvSpPr/>
          <p:nvPr/>
        </p:nvSpPr>
        <p:spPr>
          <a:xfrm>
            <a:off x="7696200" y="1996440"/>
            <a:ext cx="3886200" cy="1097280"/>
          </a:xfrm>
          <a:prstGeom prst="roundRect">
            <a:avLst>
              <a:gd name="adj" fmla="val 9722"/>
            </a:avLst>
          </a:prstGeom>
          <a:solidFill>
            <a:srgbClr val="F2F5F8"/>
          </a:solidFill>
          <a:ln>
            <a:noFill/>
          </a:ln>
        </p:spPr>
        <p:txBody>
          <a:bodyPr rtlCol="0" anchor="ctr"/>
          <a:lstStyle/>
          <a:p>
            <a:pPr algn="ctr"/>
          </a:p>
        </p:txBody>
      </p:sp>
      <p:sp>
        <p:nvSpPr>
          <p:cNvPr id="35" name="Oval 34"/>
          <p:cNvSpPr/>
          <p:nvPr/>
        </p:nvSpPr>
        <p:spPr>
          <a:xfrm>
            <a:off x="7863840" y="2179320"/>
            <a:ext cx="274320" cy="274320"/>
          </a:xfrm>
          <a:prstGeom prst="ellipse">
            <a:avLst/>
          </a:prstGeom>
          <a:solidFill>
            <a:srgbClr val="0B8577"/>
          </a:solidFill>
          <a:ln>
            <a:noFill/>
          </a:ln>
        </p:spPr>
        <p:txBody>
          <a:bodyPr rtlCol="0" anchor="ctr"/>
          <a:lstStyle/>
          <a:p>
            <a:pPr algn="ctr"/>
          </a:p>
        </p:txBody>
      </p:sp>
      <p:sp>
        <p:nvSpPr>
          <p:cNvPr id="36" name="글 1"/>
          <p:cNvSpPr txBox="1"/>
          <p:nvPr/>
        </p:nvSpPr>
        <p:spPr>
          <a:xfrm>
            <a:off x="7922438" y="223418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1</a:t>
            </a:r>
          </a:p>
        </p:txBody>
      </p:sp>
      <p:sp>
        <p:nvSpPr>
          <p:cNvPr id="37" name="글 신규 진입만 막는다"/>
          <p:cNvSpPr txBox="1"/>
          <p:nvPr/>
        </p:nvSpPr>
        <p:spPr>
          <a:xfrm>
            <a:off x="8244840" y="2216506"/>
            <a:ext cx="1386139"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신규 진입만 막는다</a:t>
            </a:r>
          </a:p>
        </p:txBody>
      </p:sp>
      <p:sp>
        <p:nvSpPr>
          <p:cNvPr id="38" name="글 선택한 시각부터 새 차량 진입이 막혔다고 가"/>
          <p:cNvSpPr txBox="1"/>
          <p:nvPr/>
        </p:nvSpPr>
        <p:spPr>
          <a:xfrm>
            <a:off x="7924800" y="2519020"/>
            <a:ext cx="3710940" cy="427482"/>
          </a:xfrm>
          <a:prstGeom prst="rect">
            <a:avLst/>
          </a:prstGeom>
          <a:noFill/>
        </p:spPr>
        <p:txBody>
          <a:bodyPr wrap="none" anchor="t" lIns="0" rIns="0" tIns="0" bIns="0">
            <a:noAutofit/>
          </a:bodyPr>
          <a:lstStyle/>
          <a:p>
            <a:pPr algn="l" eaLnBrk="0" latinLnBrk="0">
              <a:lnSpc>
                <a:spcPct val="125000"/>
              </a:lnSpc>
            </a:pPr>
            <a:r>
              <a:rPr sz="1019" b="0">
                <a:solidFill>
                  <a:srgbClr val="566676"/>
                </a:solidFill>
                <a:latin typeface="Noto Sans KR"/>
                <a:ea typeface="Noto Sans KR"/>
                <a:cs typeface="Noto Sans KR"/>
              </a:rPr>
              <a:t>선택한 시각부터 새 차량 진입이 막혔다고 가정합니다. 이미 안에</a:t>
            </a:r>
            <a:br/>
            <a:r>
              <a:rPr sz="1019" b="0">
                <a:solidFill>
                  <a:srgbClr val="566676"/>
                </a:solidFill>
                <a:latin typeface="Noto Sans KR"/>
                <a:ea typeface="Noto Sans KR"/>
                <a:cs typeface="Noto Sans KR"/>
              </a:rPr>
              <a:t>있던 차량은 계산하지 않습니다.</a:t>
            </a:r>
          </a:p>
        </p:txBody>
      </p:sp>
      <p:sp>
        <p:nvSpPr>
          <p:cNvPr id="39" name="Rounded Rectangle 38"/>
          <p:cNvSpPr/>
          <p:nvPr/>
        </p:nvSpPr>
        <p:spPr>
          <a:xfrm>
            <a:off x="7696200" y="3215640"/>
            <a:ext cx="3886200" cy="1097280"/>
          </a:xfrm>
          <a:prstGeom prst="roundRect">
            <a:avLst>
              <a:gd name="adj" fmla="val 9722"/>
            </a:avLst>
          </a:prstGeom>
          <a:solidFill>
            <a:srgbClr val="F2F5F8"/>
          </a:solidFill>
          <a:ln>
            <a:noFill/>
          </a:ln>
        </p:spPr>
        <p:txBody>
          <a:bodyPr rtlCol="0" anchor="ctr"/>
          <a:lstStyle/>
          <a:p>
            <a:pPr algn="ctr"/>
          </a:p>
        </p:txBody>
      </p:sp>
      <p:sp>
        <p:nvSpPr>
          <p:cNvPr id="40" name="Oval 39"/>
          <p:cNvSpPr/>
          <p:nvPr/>
        </p:nvSpPr>
        <p:spPr>
          <a:xfrm>
            <a:off x="7863840" y="3398520"/>
            <a:ext cx="274320" cy="274320"/>
          </a:xfrm>
          <a:prstGeom prst="ellipse">
            <a:avLst/>
          </a:prstGeom>
          <a:solidFill>
            <a:srgbClr val="0B8577"/>
          </a:solidFill>
          <a:ln>
            <a:noFill/>
          </a:ln>
        </p:spPr>
        <p:txBody>
          <a:bodyPr rtlCol="0" anchor="ctr"/>
          <a:lstStyle/>
          <a:p>
            <a:pPr algn="ctr"/>
          </a:p>
        </p:txBody>
      </p:sp>
      <p:sp>
        <p:nvSpPr>
          <p:cNvPr id="41" name="글 2"/>
          <p:cNvSpPr txBox="1"/>
          <p:nvPr/>
        </p:nvSpPr>
        <p:spPr>
          <a:xfrm>
            <a:off x="7922438" y="345338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2</a:t>
            </a:r>
          </a:p>
        </p:txBody>
      </p:sp>
      <p:sp>
        <p:nvSpPr>
          <p:cNvPr id="42" name="글 사건 진행은 그대로"/>
          <p:cNvSpPr txBox="1"/>
          <p:nvPr/>
        </p:nvSpPr>
        <p:spPr>
          <a:xfrm>
            <a:off x="8244840" y="3435706"/>
            <a:ext cx="1386139"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사건 진행은 그대로</a:t>
            </a:r>
          </a:p>
        </p:txBody>
      </p:sp>
      <p:sp>
        <p:nvSpPr>
          <p:cNvPr id="43" name="글 물의 유입(08:27)과 완전 침수(08:4"/>
          <p:cNvSpPr txBox="1"/>
          <p:nvPr/>
        </p:nvSpPr>
        <p:spPr>
          <a:xfrm>
            <a:off x="7924800" y="3738220"/>
            <a:ext cx="3710940" cy="427482"/>
          </a:xfrm>
          <a:prstGeom prst="rect">
            <a:avLst/>
          </a:prstGeom>
          <a:noFill/>
        </p:spPr>
        <p:txBody>
          <a:bodyPr wrap="none" anchor="t" lIns="0" rIns="0" tIns="0" bIns="0">
            <a:noAutofit/>
          </a:bodyPr>
          <a:lstStyle/>
          <a:p>
            <a:pPr algn="l" eaLnBrk="0" latinLnBrk="0">
              <a:lnSpc>
                <a:spcPct val="125000"/>
              </a:lnSpc>
            </a:pPr>
            <a:r>
              <a:rPr sz="1019" b="0">
                <a:solidFill>
                  <a:srgbClr val="566676"/>
                </a:solidFill>
                <a:latin typeface="Noto Sans KR"/>
                <a:ea typeface="Noto Sans KR"/>
                <a:cs typeface="Noto Sans KR"/>
              </a:rPr>
              <a:t>물의 유입(08:27)과 완전 침수(08:40) 시각은 통제 시각을 바꿔도</a:t>
            </a:r>
            <a:br/>
            <a:r>
              <a:rPr sz="1019" b="0">
                <a:solidFill>
                  <a:srgbClr val="566676"/>
                </a:solidFill>
                <a:latin typeface="Noto Sans KR"/>
                <a:ea typeface="Noto Sans KR"/>
                <a:cs typeface="Noto Sans KR"/>
              </a:rPr>
              <a:t>변하지 않습니다.</a:t>
            </a:r>
          </a:p>
        </p:txBody>
      </p:sp>
      <p:sp>
        <p:nvSpPr>
          <p:cNvPr id="44" name="Rounded Rectangle 43"/>
          <p:cNvSpPr/>
          <p:nvPr/>
        </p:nvSpPr>
        <p:spPr>
          <a:xfrm>
            <a:off x="7696200" y="4434840"/>
            <a:ext cx="3886200" cy="1097280"/>
          </a:xfrm>
          <a:prstGeom prst="roundRect">
            <a:avLst>
              <a:gd name="adj" fmla="val 9722"/>
            </a:avLst>
          </a:prstGeom>
          <a:solidFill>
            <a:srgbClr val="F2F5F8"/>
          </a:solidFill>
          <a:ln>
            <a:noFill/>
          </a:ln>
        </p:spPr>
        <p:txBody>
          <a:bodyPr rtlCol="0" anchor="ctr"/>
          <a:lstStyle/>
          <a:p>
            <a:pPr algn="ctr"/>
          </a:p>
        </p:txBody>
      </p:sp>
      <p:sp>
        <p:nvSpPr>
          <p:cNvPr id="45" name="Oval 44"/>
          <p:cNvSpPr/>
          <p:nvPr/>
        </p:nvSpPr>
        <p:spPr>
          <a:xfrm>
            <a:off x="7863840" y="4617720"/>
            <a:ext cx="274320" cy="274320"/>
          </a:xfrm>
          <a:prstGeom prst="ellipse">
            <a:avLst/>
          </a:prstGeom>
          <a:solidFill>
            <a:srgbClr val="0B8577"/>
          </a:solidFill>
          <a:ln>
            <a:noFill/>
          </a:ln>
        </p:spPr>
        <p:txBody>
          <a:bodyPr rtlCol="0" anchor="ctr"/>
          <a:lstStyle/>
          <a:p>
            <a:pPr algn="ctr"/>
          </a:p>
        </p:txBody>
      </p:sp>
      <p:sp>
        <p:nvSpPr>
          <p:cNvPr id="46" name="글 3"/>
          <p:cNvSpPr txBox="1"/>
          <p:nvPr/>
        </p:nvSpPr>
        <p:spPr>
          <a:xfrm>
            <a:off x="7922438" y="467258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3</a:t>
            </a:r>
          </a:p>
        </p:txBody>
      </p:sp>
      <p:sp>
        <p:nvSpPr>
          <p:cNvPr id="47" name="글 피해는 세지 않는다"/>
          <p:cNvSpPr txBox="1"/>
          <p:nvPr/>
        </p:nvSpPr>
        <p:spPr>
          <a:xfrm>
            <a:off x="8244840" y="4654906"/>
            <a:ext cx="1386139"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피해는 세지 않는다</a:t>
            </a:r>
          </a:p>
        </p:txBody>
      </p:sp>
      <p:sp>
        <p:nvSpPr>
          <p:cNvPr id="48" name="글 차량 수·사상자·피해액을 산출하지 않습니다."/>
          <p:cNvSpPr txBox="1"/>
          <p:nvPr/>
        </p:nvSpPr>
        <p:spPr>
          <a:xfrm>
            <a:off x="7924800" y="4957420"/>
            <a:ext cx="3710940" cy="427482"/>
          </a:xfrm>
          <a:prstGeom prst="rect">
            <a:avLst/>
          </a:prstGeom>
          <a:noFill/>
        </p:spPr>
        <p:txBody>
          <a:bodyPr wrap="none" anchor="t" lIns="0" rIns="0" tIns="0" bIns="0">
            <a:noAutofit/>
          </a:bodyPr>
          <a:lstStyle/>
          <a:p>
            <a:pPr algn="l" eaLnBrk="0" latinLnBrk="0">
              <a:lnSpc>
                <a:spcPct val="125000"/>
              </a:lnSpc>
            </a:pPr>
            <a:r>
              <a:rPr sz="1019" b="0">
                <a:solidFill>
                  <a:srgbClr val="566676"/>
                </a:solidFill>
                <a:latin typeface="Noto Sans KR"/>
                <a:ea typeface="Noto Sans KR"/>
                <a:cs typeface="Noto Sans KR"/>
              </a:rPr>
              <a:t>차량 수·사상자·피해액을 산출하지 않습니다. 남는 분은 기록된</a:t>
            </a:r>
            <a:br/>
            <a:r>
              <a:rPr sz="1019" b="0">
                <a:solidFill>
                  <a:srgbClr val="566676"/>
                </a:solidFill>
                <a:latin typeface="Noto Sans KR"/>
                <a:ea typeface="Noto Sans KR"/>
                <a:cs typeface="Noto Sans KR"/>
              </a:rPr>
              <a:t>시각 사이의 차이입니다.</a:t>
            </a:r>
          </a:p>
        </p:txBody>
      </p:sp>
      <p:sp>
        <p:nvSpPr>
          <p:cNvPr id="49" name="Rounded Rectangle 48"/>
          <p:cNvSpPr/>
          <p:nvPr/>
        </p:nvSpPr>
        <p:spPr>
          <a:xfrm>
            <a:off x="609600" y="5882640"/>
            <a:ext cx="10972800" cy="518160"/>
          </a:xfrm>
          <a:prstGeom prst="roundRect">
            <a:avLst>
              <a:gd name="adj" fmla="val 17647"/>
            </a:avLst>
          </a:prstGeom>
          <a:solidFill>
            <a:srgbClr val="E1F2EF"/>
          </a:solidFill>
          <a:ln>
            <a:noFill/>
          </a:ln>
        </p:spPr>
        <p:txBody>
          <a:bodyPr rtlCol="0" anchor="ctr"/>
          <a:lstStyle/>
          <a:p>
            <a:pPr algn="ctr"/>
          </a:p>
        </p:txBody>
      </p:sp>
      <p:sp>
        <p:nvSpPr>
          <p:cNvPr id="50" name="글 같은 계산을 Agent가 아니라 화면에서 직"/>
          <p:cNvSpPr txBox="1"/>
          <p:nvPr/>
        </p:nvSpPr>
        <p:spPr>
          <a:xfrm>
            <a:off x="822960" y="6056376"/>
            <a:ext cx="632094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같은 계산을 Agent가 아니라 화면에서 직접 고를 수 있고, 결과에는 항상 이 세 가정이 함께 붙습니다.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8"/>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08</a:t>
            </a:r>
          </a:p>
        </p:txBody>
      </p:sp>
      <p:sp>
        <p:nvSpPr>
          <p:cNvPr id="3" name="글 해결과 결과"/>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해결과 결과</a:t>
            </a:r>
          </a:p>
        </p:txBody>
      </p:sp>
      <p:sp>
        <p:nvSpPr>
          <p:cNvPr id="4" name="글 지도 위 공간 상태도 단계마다 바뀝니다"/>
          <p:cNvSpPr txBox="1"/>
          <p:nvPr/>
        </p:nvSpPr>
        <p:spPr>
          <a:xfrm>
            <a:off x="609600" y="853440"/>
            <a:ext cx="6116955"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지도 위 공간 상태도 단계마다 바뀝니다</a:t>
            </a:r>
          </a:p>
        </p:txBody>
      </p:sp>
      <p:sp>
        <p:nvSpPr>
          <p:cNvPr id="5" name="글 관측 수위 상승분을 임계로, 미호강과 격자로"/>
          <p:cNvSpPr txBox="1"/>
          <p:nvPr/>
        </p:nvSpPr>
        <p:spPr>
          <a:xfrm>
            <a:off x="609600" y="1409395"/>
            <a:ext cx="6088929"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관측 수위 상승분을 임계로, 미호강과 격자로 연결된 낮은 셀만 단계별로 고릅니다</a:t>
            </a:r>
          </a:p>
        </p:txBody>
      </p:sp>
      <p:sp>
        <p:nvSpPr>
          <p:cNvPr id="6" name="Rounded Rectangle 5"/>
          <p:cNvSpPr/>
          <p:nvPr/>
        </p:nvSpPr>
        <p:spPr>
          <a:xfrm>
            <a:off x="609600" y="1996440"/>
            <a:ext cx="5791200" cy="3581400"/>
          </a:xfrm>
          <a:prstGeom prst="roundRect">
            <a:avLst>
              <a:gd name="adj" fmla="val 2978"/>
            </a:avLst>
          </a:prstGeom>
          <a:solidFill>
            <a:srgbClr val="F2F5F8"/>
          </a:solidFill>
          <a:ln>
            <a:noFill/>
          </a:ln>
        </p:spPr>
        <p:txBody>
          <a:bodyPr rtlCol="0" anchor="ctr"/>
          <a:lstStyle/>
          <a:p>
            <a:pPr algn="ctr"/>
          </a:p>
        </p:txBody>
      </p:sp>
      <p:sp>
        <p:nvSpPr>
          <p:cNvPr id="7" name="글 단계별 침수 추정 셀 수 (HAND 근사, "/>
          <p:cNvSpPr txBox="1"/>
          <p:nvPr/>
        </p:nvSpPr>
        <p:spPr>
          <a:xfrm>
            <a:off x="822960" y="2192731"/>
            <a:ext cx="3236168"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단계별 침수 추정 셀 수 (HAND 근사, 약 280 m 격자)</a:t>
            </a:r>
          </a:p>
        </p:txBody>
      </p:sp>
      <p:sp>
        <p:nvSpPr>
          <p:cNvPr id="8" name="Rounded Rectangle 7"/>
          <p:cNvSpPr/>
          <p:nvPr/>
        </p:nvSpPr>
        <p:spPr>
          <a:xfrm>
            <a:off x="1066800" y="4123113"/>
            <a:ext cx="762000" cy="921327"/>
          </a:xfrm>
          <a:prstGeom prst="roundRect">
            <a:avLst>
              <a:gd name="adj" fmla="val 6000"/>
            </a:avLst>
          </a:prstGeom>
          <a:solidFill>
            <a:srgbClr val="0B8577">
              <a:alpha val="85000"/>
            </a:srgbClr>
          </a:solidFill>
          <a:ln>
            <a:noFill/>
          </a:ln>
        </p:spPr>
        <p:txBody>
          <a:bodyPr rtlCol="0" anchor="ctr"/>
          <a:lstStyle/>
          <a:p>
            <a:pPr algn="ctr"/>
          </a:p>
        </p:txBody>
      </p:sp>
      <p:sp>
        <p:nvSpPr>
          <p:cNvPr id="9" name="글 152"/>
          <p:cNvSpPr txBox="1"/>
          <p:nvPr/>
        </p:nvSpPr>
        <p:spPr>
          <a:xfrm>
            <a:off x="1274826" y="3900609"/>
            <a:ext cx="345948"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152</a:t>
            </a:r>
          </a:p>
        </p:txBody>
      </p:sp>
      <p:sp>
        <p:nvSpPr>
          <p:cNvPr id="10" name="글 06:40"/>
          <p:cNvSpPr txBox="1"/>
          <p:nvPr/>
        </p:nvSpPr>
        <p:spPr>
          <a:xfrm>
            <a:off x="1246022" y="5140757"/>
            <a:ext cx="403555" cy="182880"/>
          </a:xfrm>
          <a:prstGeom prst="rect">
            <a:avLst/>
          </a:prstGeom>
          <a:noFill/>
        </p:spPr>
        <p:txBody>
          <a:bodyPr wrap="none" anchor="t" lIns="0" rIns="0" tIns="0" bIns="0">
            <a:noAutofit/>
          </a:bodyPr>
          <a:lstStyle/>
          <a:p>
            <a:pPr algn="ctr" eaLnBrk="0" latinLnBrk="0"/>
            <a:r>
              <a:rPr sz="960" b="1">
                <a:solidFill>
                  <a:srgbClr val="566676"/>
                </a:solidFill>
                <a:latin typeface="Noto Sans KR"/>
                <a:ea typeface="Noto Sans KR"/>
                <a:cs typeface="Noto Sans KR"/>
              </a:rPr>
              <a:t>06:40</a:t>
            </a:r>
          </a:p>
        </p:txBody>
      </p:sp>
      <p:sp>
        <p:nvSpPr>
          <p:cNvPr id="11" name="Rounded Rectangle 10"/>
          <p:cNvSpPr/>
          <p:nvPr/>
        </p:nvSpPr>
        <p:spPr>
          <a:xfrm>
            <a:off x="1920240" y="3777615"/>
            <a:ext cx="762000" cy="1266825"/>
          </a:xfrm>
          <a:prstGeom prst="roundRect">
            <a:avLst>
              <a:gd name="adj" fmla="val 6000"/>
            </a:avLst>
          </a:prstGeom>
          <a:solidFill>
            <a:srgbClr val="B7791F">
              <a:alpha val="85000"/>
            </a:srgbClr>
          </a:solidFill>
          <a:ln>
            <a:noFill/>
          </a:ln>
        </p:spPr>
        <p:txBody>
          <a:bodyPr rtlCol="0" anchor="ctr"/>
          <a:lstStyle/>
          <a:p>
            <a:pPr algn="ctr"/>
          </a:p>
        </p:txBody>
      </p:sp>
      <p:sp>
        <p:nvSpPr>
          <p:cNvPr id="12" name="글 209"/>
          <p:cNvSpPr txBox="1"/>
          <p:nvPr/>
        </p:nvSpPr>
        <p:spPr>
          <a:xfrm>
            <a:off x="2128266" y="3555111"/>
            <a:ext cx="345948"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209</a:t>
            </a:r>
          </a:p>
        </p:txBody>
      </p:sp>
      <p:sp>
        <p:nvSpPr>
          <p:cNvPr id="13" name="글 07:50"/>
          <p:cNvSpPr txBox="1"/>
          <p:nvPr/>
        </p:nvSpPr>
        <p:spPr>
          <a:xfrm>
            <a:off x="2099462" y="5140757"/>
            <a:ext cx="403555" cy="182880"/>
          </a:xfrm>
          <a:prstGeom prst="rect">
            <a:avLst/>
          </a:prstGeom>
          <a:noFill/>
        </p:spPr>
        <p:txBody>
          <a:bodyPr wrap="none" anchor="t" lIns="0" rIns="0" tIns="0" bIns="0">
            <a:noAutofit/>
          </a:bodyPr>
          <a:lstStyle/>
          <a:p>
            <a:pPr algn="ctr" eaLnBrk="0" latinLnBrk="0"/>
            <a:r>
              <a:rPr sz="960" b="1">
                <a:solidFill>
                  <a:srgbClr val="566676"/>
                </a:solidFill>
                <a:latin typeface="Noto Sans KR"/>
                <a:ea typeface="Noto Sans KR"/>
                <a:cs typeface="Noto Sans KR"/>
              </a:rPr>
              <a:t>07:50</a:t>
            </a:r>
          </a:p>
        </p:txBody>
      </p:sp>
      <p:sp>
        <p:nvSpPr>
          <p:cNvPr id="14" name="Rounded Rectangle 13"/>
          <p:cNvSpPr/>
          <p:nvPr/>
        </p:nvSpPr>
        <p:spPr>
          <a:xfrm>
            <a:off x="2773680" y="3432117"/>
            <a:ext cx="762000" cy="1612323"/>
          </a:xfrm>
          <a:prstGeom prst="roundRect">
            <a:avLst>
              <a:gd name="adj" fmla="val 6000"/>
            </a:avLst>
          </a:prstGeom>
          <a:solidFill>
            <a:srgbClr val="B7791F">
              <a:alpha val="85000"/>
            </a:srgbClr>
          </a:solidFill>
          <a:ln>
            <a:noFill/>
          </a:ln>
        </p:spPr>
        <p:txBody>
          <a:bodyPr rtlCol="0" anchor="ctr"/>
          <a:lstStyle/>
          <a:p>
            <a:pPr algn="ctr"/>
          </a:p>
        </p:txBody>
      </p:sp>
      <p:sp>
        <p:nvSpPr>
          <p:cNvPr id="15" name="글 266"/>
          <p:cNvSpPr txBox="1"/>
          <p:nvPr/>
        </p:nvSpPr>
        <p:spPr>
          <a:xfrm>
            <a:off x="2981706" y="3209613"/>
            <a:ext cx="345948"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266</a:t>
            </a:r>
          </a:p>
        </p:txBody>
      </p:sp>
      <p:sp>
        <p:nvSpPr>
          <p:cNvPr id="16" name="글 08:09"/>
          <p:cNvSpPr txBox="1"/>
          <p:nvPr/>
        </p:nvSpPr>
        <p:spPr>
          <a:xfrm>
            <a:off x="2952902" y="5140757"/>
            <a:ext cx="403555" cy="182880"/>
          </a:xfrm>
          <a:prstGeom prst="rect">
            <a:avLst/>
          </a:prstGeom>
          <a:noFill/>
        </p:spPr>
        <p:txBody>
          <a:bodyPr wrap="none" anchor="t" lIns="0" rIns="0" tIns="0" bIns="0">
            <a:noAutofit/>
          </a:bodyPr>
          <a:lstStyle/>
          <a:p>
            <a:pPr algn="ctr" eaLnBrk="0" latinLnBrk="0"/>
            <a:r>
              <a:rPr sz="960" b="1">
                <a:solidFill>
                  <a:srgbClr val="566676"/>
                </a:solidFill>
                <a:latin typeface="Noto Sans KR"/>
                <a:ea typeface="Noto Sans KR"/>
                <a:cs typeface="Noto Sans KR"/>
              </a:rPr>
              <a:t>08:09</a:t>
            </a:r>
          </a:p>
        </p:txBody>
      </p:sp>
      <p:sp>
        <p:nvSpPr>
          <p:cNvPr id="17" name="Rounded Rectangle 16"/>
          <p:cNvSpPr/>
          <p:nvPr/>
        </p:nvSpPr>
        <p:spPr>
          <a:xfrm>
            <a:off x="3627120" y="3189663"/>
            <a:ext cx="762000" cy="1854777"/>
          </a:xfrm>
          <a:prstGeom prst="roundRect">
            <a:avLst>
              <a:gd name="adj" fmla="val 6000"/>
            </a:avLst>
          </a:prstGeom>
          <a:solidFill>
            <a:srgbClr val="B42318">
              <a:alpha val="85000"/>
            </a:srgbClr>
          </a:solidFill>
          <a:ln>
            <a:noFill/>
          </a:ln>
        </p:spPr>
        <p:txBody>
          <a:bodyPr rtlCol="0" anchor="ctr"/>
          <a:lstStyle/>
          <a:p>
            <a:pPr algn="ctr"/>
          </a:p>
        </p:txBody>
      </p:sp>
      <p:sp>
        <p:nvSpPr>
          <p:cNvPr id="18" name="글 306"/>
          <p:cNvSpPr txBox="1"/>
          <p:nvPr/>
        </p:nvSpPr>
        <p:spPr>
          <a:xfrm>
            <a:off x="3835146" y="2967159"/>
            <a:ext cx="345948"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306</a:t>
            </a:r>
          </a:p>
        </p:txBody>
      </p:sp>
      <p:sp>
        <p:nvSpPr>
          <p:cNvPr id="19" name="글 08:27"/>
          <p:cNvSpPr txBox="1"/>
          <p:nvPr/>
        </p:nvSpPr>
        <p:spPr>
          <a:xfrm>
            <a:off x="3806342" y="5140757"/>
            <a:ext cx="403555" cy="182880"/>
          </a:xfrm>
          <a:prstGeom prst="rect">
            <a:avLst/>
          </a:prstGeom>
          <a:noFill/>
        </p:spPr>
        <p:txBody>
          <a:bodyPr wrap="none" anchor="t" lIns="0" rIns="0" tIns="0" bIns="0">
            <a:noAutofit/>
          </a:bodyPr>
          <a:lstStyle/>
          <a:p>
            <a:pPr algn="ctr" eaLnBrk="0" latinLnBrk="0"/>
            <a:r>
              <a:rPr sz="960" b="1">
                <a:solidFill>
                  <a:srgbClr val="566676"/>
                </a:solidFill>
                <a:latin typeface="Noto Sans KR"/>
                <a:ea typeface="Noto Sans KR"/>
                <a:cs typeface="Noto Sans KR"/>
              </a:rPr>
              <a:t>08:27</a:t>
            </a:r>
          </a:p>
        </p:txBody>
      </p:sp>
      <p:sp>
        <p:nvSpPr>
          <p:cNvPr id="20" name="Rounded Rectangle 19"/>
          <p:cNvSpPr/>
          <p:nvPr/>
        </p:nvSpPr>
        <p:spPr>
          <a:xfrm>
            <a:off x="4480560" y="3044190"/>
            <a:ext cx="762000" cy="2000250"/>
          </a:xfrm>
          <a:prstGeom prst="roundRect">
            <a:avLst>
              <a:gd name="adj" fmla="val 6000"/>
            </a:avLst>
          </a:prstGeom>
          <a:solidFill>
            <a:srgbClr val="B42318">
              <a:alpha val="85000"/>
            </a:srgbClr>
          </a:solidFill>
          <a:ln>
            <a:noFill/>
          </a:ln>
        </p:spPr>
        <p:txBody>
          <a:bodyPr rtlCol="0" anchor="ctr"/>
          <a:lstStyle/>
          <a:p>
            <a:pPr algn="ctr"/>
          </a:p>
        </p:txBody>
      </p:sp>
      <p:sp>
        <p:nvSpPr>
          <p:cNvPr id="21" name="글 330"/>
          <p:cNvSpPr txBox="1"/>
          <p:nvPr/>
        </p:nvSpPr>
        <p:spPr>
          <a:xfrm>
            <a:off x="4688586" y="2821686"/>
            <a:ext cx="345948"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330</a:t>
            </a:r>
          </a:p>
        </p:txBody>
      </p:sp>
      <p:sp>
        <p:nvSpPr>
          <p:cNvPr id="22" name="글 08:35"/>
          <p:cNvSpPr txBox="1"/>
          <p:nvPr/>
        </p:nvSpPr>
        <p:spPr>
          <a:xfrm>
            <a:off x="4659782" y="5140757"/>
            <a:ext cx="403555" cy="182880"/>
          </a:xfrm>
          <a:prstGeom prst="rect">
            <a:avLst/>
          </a:prstGeom>
          <a:noFill/>
        </p:spPr>
        <p:txBody>
          <a:bodyPr wrap="none" anchor="t" lIns="0" rIns="0" tIns="0" bIns="0">
            <a:noAutofit/>
          </a:bodyPr>
          <a:lstStyle/>
          <a:p>
            <a:pPr algn="ctr" eaLnBrk="0" latinLnBrk="0"/>
            <a:r>
              <a:rPr sz="960" b="1">
                <a:solidFill>
                  <a:srgbClr val="566676"/>
                </a:solidFill>
                <a:latin typeface="Noto Sans KR"/>
                <a:ea typeface="Noto Sans KR"/>
                <a:cs typeface="Noto Sans KR"/>
              </a:rPr>
              <a:t>08:35</a:t>
            </a:r>
          </a:p>
        </p:txBody>
      </p:sp>
      <p:sp>
        <p:nvSpPr>
          <p:cNvPr id="23" name="Rounded Rectangle 22"/>
          <p:cNvSpPr/>
          <p:nvPr/>
        </p:nvSpPr>
        <p:spPr>
          <a:xfrm>
            <a:off x="5334000" y="2910840"/>
            <a:ext cx="762000" cy="2133600"/>
          </a:xfrm>
          <a:prstGeom prst="roundRect">
            <a:avLst>
              <a:gd name="adj" fmla="val 6000"/>
            </a:avLst>
          </a:prstGeom>
          <a:solidFill>
            <a:srgbClr val="B42318">
              <a:alpha val="85000"/>
            </a:srgbClr>
          </a:solidFill>
          <a:ln>
            <a:noFill/>
          </a:ln>
        </p:spPr>
        <p:txBody>
          <a:bodyPr rtlCol="0" anchor="ctr"/>
          <a:lstStyle/>
          <a:p>
            <a:pPr algn="ctr"/>
          </a:p>
        </p:txBody>
      </p:sp>
      <p:sp>
        <p:nvSpPr>
          <p:cNvPr id="24" name="글 352"/>
          <p:cNvSpPr txBox="1"/>
          <p:nvPr/>
        </p:nvSpPr>
        <p:spPr>
          <a:xfrm>
            <a:off x="5542026" y="2688336"/>
            <a:ext cx="345948"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352</a:t>
            </a:r>
          </a:p>
        </p:txBody>
      </p:sp>
      <p:sp>
        <p:nvSpPr>
          <p:cNvPr id="25" name="글 08:40"/>
          <p:cNvSpPr txBox="1"/>
          <p:nvPr/>
        </p:nvSpPr>
        <p:spPr>
          <a:xfrm>
            <a:off x="5513222" y="5140757"/>
            <a:ext cx="403555" cy="182880"/>
          </a:xfrm>
          <a:prstGeom prst="rect">
            <a:avLst/>
          </a:prstGeom>
          <a:noFill/>
        </p:spPr>
        <p:txBody>
          <a:bodyPr wrap="none" anchor="t" lIns="0" rIns="0" tIns="0" bIns="0">
            <a:noAutofit/>
          </a:bodyPr>
          <a:lstStyle/>
          <a:p>
            <a:pPr algn="ctr" eaLnBrk="0" latinLnBrk="0"/>
            <a:r>
              <a:rPr sz="960" b="1">
                <a:solidFill>
                  <a:srgbClr val="566676"/>
                </a:solidFill>
                <a:latin typeface="Noto Sans KR"/>
                <a:ea typeface="Noto Sans KR"/>
                <a:cs typeface="Noto Sans KR"/>
              </a:rPr>
              <a:t>08:40</a:t>
            </a:r>
          </a:p>
        </p:txBody>
      </p:sp>
      <p:cxnSp>
        <p:nvCxnSpPr>
          <p:cNvPr id="26" name="Connector 25"/>
          <p:cNvCxnSpPr/>
          <p:nvPr/>
        </p:nvCxnSpPr>
        <p:spPr>
          <a:xfrm>
            <a:off x="914400" y="5044440"/>
            <a:ext cx="5181600" cy="0"/>
          </a:xfrm>
          <a:prstGeom prst="line">
            <a:avLst/>
          </a:prstGeom>
          <a:ln w="11430">
            <a:solidFill>
              <a:srgbClr val="D6DEE6"/>
            </a:solidFill>
          </a:ln>
        </p:spPr>
      </p:cxnSp>
      <p:sp>
        <p:nvSpPr>
          <p:cNvPr id="27" name="Rounded Rectangle 26"/>
          <p:cNvSpPr/>
          <p:nvPr/>
        </p:nvSpPr>
        <p:spPr>
          <a:xfrm>
            <a:off x="6705600" y="1996440"/>
            <a:ext cx="4876800" cy="1097280"/>
          </a:xfrm>
          <a:prstGeom prst="roundRect">
            <a:avLst>
              <a:gd name="adj" fmla="val 9722"/>
            </a:avLst>
          </a:prstGeom>
          <a:solidFill>
            <a:srgbClr val="F2F5F8"/>
          </a:solidFill>
          <a:ln>
            <a:noFill/>
          </a:ln>
        </p:spPr>
        <p:txBody>
          <a:bodyPr rtlCol="0" anchor="ctr"/>
          <a:lstStyle/>
          <a:p>
            <a:pPr algn="ctr"/>
          </a:p>
        </p:txBody>
      </p:sp>
      <p:sp>
        <p:nvSpPr>
          <p:cNvPr id="28" name="글 임계는 관측에서"/>
          <p:cNvSpPr txBox="1"/>
          <p:nvPr/>
        </p:nvSpPr>
        <p:spPr>
          <a:xfrm>
            <a:off x="6949440" y="2170786"/>
            <a:ext cx="1193856"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임계는 관측에서</a:t>
            </a:r>
          </a:p>
        </p:txBody>
      </p:sp>
      <p:sp>
        <p:nvSpPr>
          <p:cNvPr id="29" name="글 미호강교(3011665) 10분 수위의 단계"/>
          <p:cNvSpPr txBox="1"/>
          <p:nvPr/>
        </p:nvSpPr>
        <p:spPr>
          <a:xfrm>
            <a:off x="6949440" y="2458060"/>
            <a:ext cx="4760976" cy="427482"/>
          </a:xfrm>
          <a:prstGeom prst="rect">
            <a:avLst/>
          </a:prstGeom>
          <a:noFill/>
        </p:spPr>
        <p:txBody>
          <a:bodyPr wrap="none" anchor="t" lIns="0" rIns="0" tIns="0" bIns="0">
            <a:noAutofit/>
          </a:bodyPr>
          <a:lstStyle/>
          <a:p>
            <a:pPr algn="l" eaLnBrk="0" latinLnBrk="0">
              <a:lnSpc>
                <a:spcPct val="125000"/>
              </a:lnSpc>
            </a:pPr>
            <a:r>
              <a:rPr sz="1019" b="0">
                <a:solidFill>
                  <a:srgbClr val="566676"/>
                </a:solidFill>
                <a:latin typeface="Noto Sans KR"/>
                <a:ea typeface="Noto Sans KR"/>
                <a:cs typeface="Noto Sans KR"/>
              </a:rPr>
              <a:t>미호강교(3011665) 10분 수위의 단계별 상승분에 단계 가중분을 더한 값을 HAND</a:t>
            </a:r>
            <a:br/>
            <a:r>
              <a:rPr sz="1019" b="0">
                <a:solidFill>
                  <a:srgbClr val="566676"/>
                </a:solidFill>
                <a:latin typeface="Noto Sans KR"/>
                <a:ea typeface="Noto Sans KR"/>
                <a:cs typeface="Noto Sans KR"/>
              </a:rPr>
              <a:t>임계로 씁니다. 수위를 절대 수면고로 쓰지 않습니다.</a:t>
            </a:r>
          </a:p>
        </p:txBody>
      </p:sp>
      <p:sp>
        <p:nvSpPr>
          <p:cNvPr id="30" name="Rounded Rectangle 29"/>
          <p:cNvSpPr/>
          <p:nvPr/>
        </p:nvSpPr>
        <p:spPr>
          <a:xfrm>
            <a:off x="6705600" y="3215640"/>
            <a:ext cx="4876800" cy="1097280"/>
          </a:xfrm>
          <a:prstGeom prst="roundRect">
            <a:avLst>
              <a:gd name="adj" fmla="val 9722"/>
            </a:avLst>
          </a:prstGeom>
          <a:solidFill>
            <a:srgbClr val="F2F5F8"/>
          </a:solidFill>
          <a:ln>
            <a:noFill/>
          </a:ln>
        </p:spPr>
        <p:txBody>
          <a:bodyPr rtlCol="0" anchor="ctr"/>
          <a:lstStyle/>
          <a:p>
            <a:pPr algn="ctr"/>
          </a:p>
        </p:txBody>
      </p:sp>
      <p:sp>
        <p:nvSpPr>
          <p:cNvPr id="31" name="글 연결된 셀만"/>
          <p:cNvSpPr txBox="1"/>
          <p:nvPr/>
        </p:nvSpPr>
        <p:spPr>
          <a:xfrm>
            <a:off x="6949440" y="3389986"/>
            <a:ext cx="885398"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연결된 셀만</a:t>
            </a:r>
          </a:p>
        </p:txBody>
      </p:sp>
      <p:sp>
        <p:nvSpPr>
          <p:cNvPr id="32" name="글 미호강 쪽 셀과 붕괴 셀에서 4방향으로 이어"/>
          <p:cNvSpPr txBox="1"/>
          <p:nvPr/>
        </p:nvSpPr>
        <p:spPr>
          <a:xfrm>
            <a:off x="6949440" y="3677260"/>
            <a:ext cx="4760976" cy="427482"/>
          </a:xfrm>
          <a:prstGeom prst="rect">
            <a:avLst/>
          </a:prstGeom>
          <a:noFill/>
        </p:spPr>
        <p:txBody>
          <a:bodyPr wrap="none" anchor="t" lIns="0" rIns="0" tIns="0" bIns="0">
            <a:noAutofit/>
          </a:bodyPr>
          <a:lstStyle/>
          <a:p>
            <a:pPr algn="l" eaLnBrk="0" latinLnBrk="0">
              <a:lnSpc>
                <a:spcPct val="125000"/>
              </a:lnSpc>
            </a:pPr>
            <a:r>
              <a:rPr sz="1019" b="0">
                <a:solidFill>
                  <a:srgbClr val="566676"/>
                </a:solidFill>
                <a:latin typeface="Noto Sans KR"/>
                <a:ea typeface="Noto Sans KR"/>
                <a:cs typeface="Noto Sans KR"/>
              </a:rPr>
              <a:t>미호강 쪽 셀과 붕괴 셀에서 4방향으로 이어진 셀만 남깁니다. 다른 배수로 쪽 낮은</a:t>
            </a:r>
            <a:br/>
            <a:r>
              <a:rPr sz="1019" b="0">
                <a:solidFill>
                  <a:srgbClr val="566676"/>
                </a:solidFill>
                <a:latin typeface="Noto Sans KR"/>
                <a:ea typeface="Noto Sans KR"/>
                <a:cs typeface="Noto Sans KR"/>
              </a:rPr>
              <a:t>셀은 참고 레이어로 분리합니다.</a:t>
            </a:r>
          </a:p>
        </p:txBody>
      </p:sp>
      <p:sp>
        <p:nvSpPr>
          <p:cNvPr id="33" name="Rounded Rectangle 32"/>
          <p:cNvSpPr/>
          <p:nvPr/>
        </p:nvSpPr>
        <p:spPr>
          <a:xfrm>
            <a:off x="6705600" y="4434840"/>
            <a:ext cx="4876800" cy="1097280"/>
          </a:xfrm>
          <a:prstGeom prst="roundRect">
            <a:avLst>
              <a:gd name="adj" fmla="val 9722"/>
            </a:avLst>
          </a:prstGeom>
          <a:solidFill>
            <a:srgbClr val="F2F5F8"/>
          </a:solidFill>
          <a:ln>
            <a:noFill/>
          </a:ln>
        </p:spPr>
        <p:txBody>
          <a:bodyPr rtlCol="0" anchor="ctr"/>
          <a:lstStyle/>
          <a:p>
            <a:pPr algn="ctr"/>
          </a:p>
        </p:txBody>
      </p:sp>
      <p:sp>
        <p:nvSpPr>
          <p:cNvPr id="34" name="글 범위를 함께 표시"/>
          <p:cNvSpPr txBox="1"/>
          <p:nvPr/>
        </p:nvSpPr>
        <p:spPr>
          <a:xfrm>
            <a:off x="6949440" y="4609186"/>
            <a:ext cx="1231910"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범위를 함께 표시</a:t>
            </a:r>
          </a:p>
        </p:txBody>
      </p:sp>
      <p:sp>
        <p:nvSpPr>
          <p:cNvPr id="35" name="글 마지막 단계 15.4 km²는 분석 범위의 "/>
          <p:cNvSpPr txBox="1"/>
          <p:nvPr/>
        </p:nvSpPr>
        <p:spPr>
          <a:xfrm>
            <a:off x="6949440" y="4896460"/>
            <a:ext cx="4760976" cy="427482"/>
          </a:xfrm>
          <a:prstGeom prst="rect">
            <a:avLst/>
          </a:prstGeom>
          <a:noFill/>
        </p:spPr>
        <p:txBody>
          <a:bodyPr wrap="none" anchor="t" lIns="0" rIns="0" tIns="0" bIns="0">
            <a:noAutofit/>
          </a:bodyPr>
          <a:lstStyle/>
          <a:p>
            <a:pPr algn="l" eaLnBrk="0" latinLnBrk="0">
              <a:lnSpc>
                <a:spcPct val="125000"/>
              </a:lnSpc>
            </a:pPr>
            <a:r>
              <a:rPr sz="1019" b="0">
                <a:solidFill>
                  <a:srgbClr val="566676"/>
                </a:solidFill>
                <a:latin typeface="Noto Sans KR"/>
                <a:ea typeface="Noto Sans KR"/>
                <a:cs typeface="Noto Sans KR"/>
              </a:rPr>
              <a:t>마지막 단계 15.4 km²는 분석 범위의 38.1%입니다. 그래서 침수 건물 수 같은 노출</a:t>
            </a:r>
            <a:br/>
            <a:r>
              <a:rPr sz="1019" b="0">
                <a:solidFill>
                  <a:srgbClr val="566676"/>
                </a:solidFill>
                <a:latin typeface="Noto Sans KR"/>
                <a:ea typeface="Noto Sans KR"/>
                <a:cs typeface="Noto Sans KR"/>
              </a:rPr>
              <a:t>지표로 쓰지 않습니다(DQ-008).</a:t>
            </a:r>
          </a:p>
        </p:txBody>
      </p:sp>
      <p:sp>
        <p:nvSpPr>
          <p:cNvPr id="36" name="Rounded Rectangle 35"/>
          <p:cNvSpPr/>
          <p:nvPr/>
        </p:nvSpPr>
        <p:spPr>
          <a:xfrm>
            <a:off x="609600" y="5882640"/>
            <a:ext cx="10972800" cy="426720"/>
          </a:xfrm>
          <a:prstGeom prst="roundRect">
            <a:avLst>
              <a:gd name="adj" fmla="val 21428"/>
            </a:avLst>
          </a:prstGeom>
          <a:solidFill>
            <a:srgbClr val="FAF0DC"/>
          </a:solidFill>
          <a:ln>
            <a:noFill/>
          </a:ln>
        </p:spPr>
        <p:txBody>
          <a:bodyPr rtlCol="0" anchor="ctr"/>
          <a:lstStyle/>
          <a:p>
            <a:pPr algn="ctr"/>
          </a:p>
        </p:txBody>
      </p:sp>
      <p:pic>
        <p:nvPicPr>
          <p:cNvPr id="37" name="아이콘 주의" descr="08-hand-1.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6760" y="5974080"/>
            <a:ext cx="243840" cy="243840"/>
          </a:xfrm>
          <a:prstGeom prst="rect">
            <a:avLst/>
          </a:prstGeom>
        </p:spPr>
      </p:pic>
      <p:sp>
        <p:nvSpPr>
          <p:cNvPr id="38" name="글 붉은 셀은 재생을 위한 지형 근사이며 공식 "/>
          <p:cNvSpPr txBox="1"/>
          <p:nvPr/>
        </p:nvSpPr>
        <p:spPr>
          <a:xfrm>
            <a:off x="1097280" y="6010351"/>
            <a:ext cx="7004647"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붉은 셀은 재생을 위한 지형 근사이며 공식 침수범위·침수심·유속이 아닙니다. 화면 범례에 «HAND 근사»로 적습니다.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9"/>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09</a:t>
            </a:r>
          </a:p>
        </p:txBody>
      </p:sp>
      <p:sp>
        <p:nvSpPr>
          <p:cNvPr id="3" name="글 해결과 결과"/>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해결과 결과</a:t>
            </a:r>
          </a:p>
        </p:txBody>
      </p:sp>
      <p:sp>
        <p:nvSpPr>
          <p:cNvPr id="4" name="글 네 사례, 실제 대응과 가정한 대응의 선행 "/>
          <p:cNvSpPr txBox="1"/>
          <p:nvPr/>
        </p:nvSpPr>
        <p:spPr>
          <a:xfrm>
            <a:off x="609600" y="853440"/>
            <a:ext cx="7114794"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네 사례, 실제 대응과 가정한 대응의 선행 시간</a:t>
            </a:r>
          </a:p>
        </p:txBody>
      </p:sp>
      <p:sp>
        <p:nvSpPr>
          <p:cNvPr id="5" name="글 각 사례의 기준 사건보다 몇 분 앞섰는지를 "/>
          <p:cNvSpPr txBox="1"/>
          <p:nvPr/>
        </p:nvSpPr>
        <p:spPr>
          <a:xfrm>
            <a:off x="609600" y="1409395"/>
            <a:ext cx="6431829"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각 사례의 기준 사건보다 몇 분 앞섰는지를 한 축에 모았습니다 · 순위 비교가 아닙니다</a:t>
            </a:r>
          </a:p>
        </p:txBody>
      </p:sp>
      <p:sp>
        <p:nvSpPr>
          <p:cNvPr id="6" name="Rounded Rectangle 5"/>
          <p:cNvSpPr/>
          <p:nvPr/>
        </p:nvSpPr>
        <p:spPr>
          <a:xfrm>
            <a:off x="609600" y="1996440"/>
            <a:ext cx="10972800" cy="3733800"/>
          </a:xfrm>
          <a:prstGeom prst="roundRect">
            <a:avLst>
              <a:gd name="adj" fmla="val 2857"/>
            </a:avLst>
          </a:prstGeom>
          <a:solidFill>
            <a:srgbClr val="F2F5F8"/>
          </a:solidFill>
          <a:ln>
            <a:noFill/>
          </a:ln>
        </p:spPr>
        <p:txBody>
          <a:bodyPr rtlCol="0" anchor="ctr"/>
          <a:lstStyle/>
          <a:p>
            <a:pPr algn="ctr"/>
          </a:p>
        </p:txBody>
      </p:sp>
      <p:cxnSp>
        <p:nvCxnSpPr>
          <p:cNvPr id="7" name="Connector 6"/>
          <p:cNvCxnSpPr/>
          <p:nvPr/>
        </p:nvCxnSpPr>
        <p:spPr>
          <a:xfrm>
            <a:off x="5882640" y="2301240"/>
            <a:ext cx="0" cy="3124200"/>
          </a:xfrm>
          <a:prstGeom prst="line">
            <a:avLst/>
          </a:prstGeom>
          <a:ln w="15240">
            <a:solidFill>
              <a:srgbClr val="B9C7D3"/>
            </a:solidFill>
            <a:prstDash val="dash"/>
          </a:ln>
        </p:spPr>
      </p:cxnSp>
      <p:sp>
        <p:nvSpPr>
          <p:cNvPr id="8" name="글 기준 사건"/>
          <p:cNvSpPr txBox="1"/>
          <p:nvPr/>
        </p:nvSpPr>
        <p:spPr>
          <a:xfrm>
            <a:off x="5636141" y="2153107"/>
            <a:ext cx="492999" cy="160020"/>
          </a:xfrm>
          <a:prstGeom prst="rect">
            <a:avLst/>
          </a:prstGeom>
          <a:noFill/>
        </p:spPr>
        <p:txBody>
          <a:bodyPr wrap="none" anchor="t" lIns="0" rIns="0" tIns="0" bIns="0">
            <a:noAutofit/>
          </a:bodyPr>
          <a:lstStyle/>
          <a:p>
            <a:pPr algn="ctr" eaLnBrk="0" latinLnBrk="0"/>
            <a:r>
              <a:rPr sz="840" b="1">
                <a:solidFill>
                  <a:srgbClr val="8494A3"/>
                </a:solidFill>
                <a:latin typeface="Noto Sans KR"/>
                <a:ea typeface="Noto Sans KR"/>
                <a:cs typeface="Noto Sans KR"/>
              </a:rPr>
              <a:t>기준 사건</a:t>
            </a:r>
          </a:p>
        </p:txBody>
      </p:sp>
      <p:sp>
        <p:nvSpPr>
          <p:cNvPr id="9" name="글 -20분"/>
          <p:cNvSpPr txBox="1"/>
          <p:nvPr/>
        </p:nvSpPr>
        <p:spPr>
          <a:xfrm>
            <a:off x="4843991" y="5475427"/>
            <a:ext cx="329778"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-20분</a:t>
            </a:r>
          </a:p>
        </p:txBody>
      </p:sp>
      <p:sp>
        <p:nvSpPr>
          <p:cNvPr id="10" name="글 0"/>
          <p:cNvSpPr txBox="1"/>
          <p:nvPr/>
        </p:nvSpPr>
        <p:spPr>
          <a:xfrm>
            <a:off x="5814936" y="5475427"/>
            <a:ext cx="135407"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0</a:t>
            </a:r>
          </a:p>
        </p:txBody>
      </p:sp>
      <p:sp>
        <p:nvSpPr>
          <p:cNvPr id="11" name="글 +30분"/>
          <p:cNvSpPr txBox="1"/>
          <p:nvPr/>
        </p:nvSpPr>
        <p:spPr>
          <a:xfrm>
            <a:off x="7017296" y="5475427"/>
            <a:ext cx="351968"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+30분</a:t>
            </a:r>
          </a:p>
        </p:txBody>
      </p:sp>
      <p:sp>
        <p:nvSpPr>
          <p:cNvPr id="12" name="글 +60분"/>
          <p:cNvSpPr txBox="1"/>
          <p:nvPr/>
        </p:nvSpPr>
        <p:spPr>
          <a:xfrm>
            <a:off x="8327936" y="5475427"/>
            <a:ext cx="351968"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+60분</a:t>
            </a:r>
          </a:p>
        </p:txBody>
      </p:sp>
      <p:sp>
        <p:nvSpPr>
          <p:cNvPr id="13" name="글 +90분"/>
          <p:cNvSpPr txBox="1"/>
          <p:nvPr/>
        </p:nvSpPr>
        <p:spPr>
          <a:xfrm>
            <a:off x="9638576" y="5475427"/>
            <a:ext cx="351968"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+90분</a:t>
            </a:r>
          </a:p>
        </p:txBody>
      </p:sp>
      <p:sp>
        <p:nvSpPr>
          <p:cNvPr id="14" name="글 +120분"/>
          <p:cNvSpPr txBox="1"/>
          <p:nvPr/>
        </p:nvSpPr>
        <p:spPr>
          <a:xfrm>
            <a:off x="10919612" y="5475427"/>
            <a:ext cx="411175"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+120분</a:t>
            </a:r>
          </a:p>
        </p:txBody>
      </p:sp>
      <p:sp>
        <p:nvSpPr>
          <p:cNvPr id="15" name="글 2023 오송"/>
          <p:cNvSpPr txBox="1"/>
          <p:nvPr/>
        </p:nvSpPr>
        <p:spPr>
          <a:xfrm>
            <a:off x="822960" y="2620366"/>
            <a:ext cx="818342"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2023 오송</a:t>
            </a:r>
          </a:p>
        </p:txBody>
      </p:sp>
      <p:sp>
        <p:nvSpPr>
          <p:cNvPr id="16" name="글 지하차도 진입 통제"/>
          <p:cNvSpPr txBox="1"/>
          <p:nvPr/>
        </p:nvSpPr>
        <p:spPr>
          <a:xfrm>
            <a:off x="822960" y="2884932"/>
            <a:ext cx="968654" cy="171450"/>
          </a:xfrm>
          <a:prstGeom prst="rect">
            <a:avLst/>
          </a:prstGeom>
          <a:noFill/>
        </p:spPr>
        <p:txBody>
          <a:bodyPr wrap="none" anchor="t" lIns="0" rIns="0" tIns="0" bIns="0">
            <a:noAutofit/>
          </a:bodyPr>
          <a:lstStyle/>
          <a:p>
            <a:pPr algn="l" eaLnBrk="0" latinLnBrk="0"/>
            <a:r>
              <a:rPr sz="900" b="0">
                <a:solidFill>
                  <a:srgbClr val="0B8577"/>
                </a:solidFill>
                <a:latin typeface="Noto Sans KR"/>
                <a:ea typeface="Noto Sans KR"/>
                <a:cs typeface="Noto Sans KR"/>
              </a:rPr>
              <a:t>지하차도 진입 통제</a:t>
            </a:r>
          </a:p>
        </p:txBody>
      </p:sp>
      <p:sp>
        <p:nvSpPr>
          <p:cNvPr id="17" name="글 유입 08:27"/>
          <p:cNvSpPr txBox="1"/>
          <p:nvPr/>
        </p:nvSpPr>
        <p:spPr>
          <a:xfrm>
            <a:off x="2895600" y="2671572"/>
            <a:ext cx="597637" cy="171450"/>
          </a:xfrm>
          <a:prstGeom prst="rect">
            <a:avLst/>
          </a:prstGeom>
          <a:noFill/>
        </p:spPr>
        <p:txBody>
          <a:bodyPr wrap="none" anchor="t" lIns="0" rIns="0" tIns="0" bIns="0">
            <a:noAutofit/>
          </a:bodyPr>
          <a:lstStyle/>
          <a:p>
            <a:pPr algn="l" eaLnBrk="0" latinLnBrk="0"/>
            <a:r>
              <a:rPr sz="900" b="0">
                <a:solidFill>
                  <a:srgbClr val="566676"/>
                </a:solidFill>
                <a:latin typeface="Noto Sans KR"/>
                <a:ea typeface="Noto Sans KR"/>
                <a:cs typeface="Noto Sans KR"/>
              </a:rPr>
              <a:t>유입 08:27</a:t>
            </a:r>
          </a:p>
        </p:txBody>
      </p:sp>
      <p:sp>
        <p:nvSpPr>
          <p:cNvPr id="18" name="글 기준 사건"/>
          <p:cNvSpPr txBox="1"/>
          <p:nvPr/>
        </p:nvSpPr>
        <p:spPr>
          <a:xfrm>
            <a:off x="2895600" y="2869082"/>
            <a:ext cx="462930" cy="148590"/>
          </a:xfrm>
          <a:prstGeom prst="rect">
            <a:avLst/>
          </a:prstGeom>
          <a:noFill/>
        </p:spPr>
        <p:txBody>
          <a:bodyPr wrap="none" anchor="t" lIns="0" rIns="0" tIns="0" bIns="0">
            <a:noAutofit/>
          </a:bodyPr>
          <a:lstStyle/>
          <a:p>
            <a:pPr algn="l" eaLnBrk="0" latinLnBrk="0"/>
            <a:r>
              <a:rPr sz="780" b="0">
                <a:solidFill>
                  <a:srgbClr val="8494A3"/>
                </a:solidFill>
                <a:latin typeface="Noto Sans KR"/>
                <a:ea typeface="Noto Sans KR"/>
                <a:cs typeface="Noto Sans KR"/>
              </a:rPr>
              <a:t>기준 사건</a:t>
            </a:r>
          </a:p>
        </p:txBody>
      </p:sp>
      <p:sp>
        <p:nvSpPr>
          <p:cNvPr id="19" name="글 실제: 통제 없음"/>
          <p:cNvSpPr txBox="1"/>
          <p:nvPr/>
        </p:nvSpPr>
        <p:spPr>
          <a:xfrm>
            <a:off x="5027783" y="2663647"/>
            <a:ext cx="748177" cy="160020"/>
          </a:xfrm>
          <a:prstGeom prst="rect">
            <a:avLst/>
          </a:prstGeom>
          <a:noFill/>
        </p:spPr>
        <p:txBody>
          <a:bodyPr wrap="none" anchor="t" lIns="0" rIns="0" tIns="0" bIns="0">
            <a:noAutofit/>
          </a:bodyPr>
          <a:lstStyle/>
          <a:p>
            <a:pPr algn="r" eaLnBrk="0" latinLnBrk="0"/>
            <a:r>
              <a:rPr sz="840" b="1">
                <a:solidFill>
                  <a:srgbClr val="D97014"/>
                </a:solidFill>
                <a:latin typeface="Noto Sans KR"/>
                <a:ea typeface="Noto Sans KR"/>
                <a:cs typeface="Noto Sans KR"/>
              </a:rPr>
              <a:t>실제: 통제 없음</a:t>
            </a:r>
          </a:p>
        </p:txBody>
      </p:sp>
      <p:sp>
        <p:nvSpPr>
          <p:cNvPr id="20" name="Rounded Rectangle 19"/>
          <p:cNvSpPr/>
          <p:nvPr/>
        </p:nvSpPr>
        <p:spPr>
          <a:xfrm>
            <a:off x="10473436" y="2636520"/>
            <a:ext cx="167640" cy="167640"/>
          </a:xfrm>
          <a:prstGeom prst="roundRect">
            <a:avLst>
              <a:gd name="adj" fmla="val 18181"/>
            </a:avLst>
          </a:prstGeom>
          <a:solidFill>
            <a:srgbClr val="109C8E"/>
          </a:solidFill>
          <a:ln>
            <a:noFill/>
          </a:ln>
        </p:spPr>
        <p:txBody>
          <a:bodyPr rtlCol="0" anchor="ctr"/>
          <a:lstStyle/>
          <a:p>
            <a:pPr algn="ctr"/>
          </a:p>
        </p:txBody>
      </p:sp>
      <p:sp>
        <p:nvSpPr>
          <p:cNvPr id="21" name="글 가정 +107분"/>
          <p:cNvSpPr txBox="1"/>
          <p:nvPr/>
        </p:nvSpPr>
        <p:spPr>
          <a:xfrm>
            <a:off x="10233947" y="2922727"/>
            <a:ext cx="646618" cy="160020"/>
          </a:xfrm>
          <a:prstGeom prst="rect">
            <a:avLst/>
          </a:prstGeom>
          <a:noFill/>
        </p:spPr>
        <p:txBody>
          <a:bodyPr wrap="none" anchor="t" lIns="0" rIns="0" tIns="0" bIns="0">
            <a:noAutofit/>
          </a:bodyPr>
          <a:lstStyle/>
          <a:p>
            <a:pPr algn="ctr" eaLnBrk="0" latinLnBrk="0"/>
            <a:r>
              <a:rPr sz="840" b="1">
                <a:solidFill>
                  <a:srgbClr val="109C8E"/>
                </a:solidFill>
                <a:latin typeface="Noto Sans KR"/>
                <a:ea typeface="Noto Sans KR"/>
                <a:cs typeface="Noto Sans KR"/>
              </a:rPr>
              <a:t>가정 +107분</a:t>
            </a:r>
          </a:p>
        </p:txBody>
      </p:sp>
      <p:sp>
        <p:nvSpPr>
          <p:cNvPr id="22" name="글 06:40 계획홍수위 도달 시 통제"/>
          <p:cNvSpPr txBox="1"/>
          <p:nvPr/>
        </p:nvSpPr>
        <p:spPr>
          <a:xfrm>
            <a:off x="10709656" y="2670962"/>
            <a:ext cx="1323762" cy="148590"/>
          </a:xfrm>
          <a:prstGeom prst="rect">
            <a:avLst/>
          </a:prstGeom>
          <a:noFill/>
        </p:spPr>
        <p:txBody>
          <a:bodyPr wrap="none" anchor="t" lIns="0" rIns="0" tIns="0" bIns="0">
            <a:noAutofit/>
          </a:bodyPr>
          <a:lstStyle/>
          <a:p>
            <a:pPr algn="l" eaLnBrk="0" latinLnBrk="0"/>
            <a:r>
              <a:rPr sz="780" b="0">
                <a:solidFill>
                  <a:srgbClr val="566676"/>
                </a:solidFill>
                <a:latin typeface="Noto Sans KR"/>
                <a:ea typeface="Noto Sans KR"/>
                <a:cs typeface="Noto Sans KR"/>
              </a:rPr>
              <a:t>06:40 계획홍수위 도달 시 통제</a:t>
            </a:r>
          </a:p>
        </p:txBody>
      </p:sp>
      <p:sp>
        <p:nvSpPr>
          <p:cNvPr id="23" name="글 2022 서울"/>
          <p:cNvSpPr txBox="1"/>
          <p:nvPr/>
        </p:nvSpPr>
        <p:spPr>
          <a:xfrm>
            <a:off x="822960" y="3344266"/>
            <a:ext cx="818342"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2022 서울</a:t>
            </a:r>
          </a:p>
        </p:txBody>
      </p:sp>
      <p:sp>
        <p:nvSpPr>
          <p:cNvPr id="24" name="글 저지대 침수 경보"/>
          <p:cNvSpPr txBox="1"/>
          <p:nvPr/>
        </p:nvSpPr>
        <p:spPr>
          <a:xfrm>
            <a:off x="822960" y="3608832"/>
            <a:ext cx="863498" cy="171450"/>
          </a:xfrm>
          <a:prstGeom prst="rect">
            <a:avLst/>
          </a:prstGeom>
          <a:noFill/>
        </p:spPr>
        <p:txBody>
          <a:bodyPr wrap="none" anchor="t" lIns="0" rIns="0" tIns="0" bIns="0">
            <a:noAutofit/>
          </a:bodyPr>
          <a:lstStyle/>
          <a:p>
            <a:pPr algn="l" eaLnBrk="0" latinLnBrk="0"/>
            <a:r>
              <a:rPr sz="900" b="0">
                <a:solidFill>
                  <a:srgbClr val="0B8577"/>
                </a:solidFill>
                <a:latin typeface="Noto Sans KR"/>
                <a:ea typeface="Noto Sans KR"/>
                <a:cs typeface="Noto Sans KR"/>
              </a:rPr>
              <a:t>저지대 침수 경보</a:t>
            </a:r>
          </a:p>
        </p:txBody>
      </p:sp>
      <p:sp>
        <p:nvSpPr>
          <p:cNvPr id="25" name="글 첫 구조 신고 20:59"/>
          <p:cNvSpPr txBox="1"/>
          <p:nvPr/>
        </p:nvSpPr>
        <p:spPr>
          <a:xfrm>
            <a:off x="2895600" y="3395472"/>
            <a:ext cx="964311" cy="171450"/>
          </a:xfrm>
          <a:prstGeom prst="rect">
            <a:avLst/>
          </a:prstGeom>
          <a:noFill/>
        </p:spPr>
        <p:txBody>
          <a:bodyPr wrap="none" anchor="t" lIns="0" rIns="0" tIns="0" bIns="0">
            <a:noAutofit/>
          </a:bodyPr>
          <a:lstStyle/>
          <a:p>
            <a:pPr algn="l" eaLnBrk="0" latinLnBrk="0"/>
            <a:r>
              <a:rPr sz="900" b="0">
                <a:solidFill>
                  <a:srgbClr val="566676"/>
                </a:solidFill>
                <a:latin typeface="Noto Sans KR"/>
                <a:ea typeface="Noto Sans KR"/>
                <a:cs typeface="Noto Sans KR"/>
              </a:rPr>
              <a:t>첫 구조 신고 20:59</a:t>
            </a:r>
          </a:p>
        </p:txBody>
      </p:sp>
      <p:sp>
        <p:nvSpPr>
          <p:cNvPr id="26" name="글 기준 사건"/>
          <p:cNvSpPr txBox="1"/>
          <p:nvPr/>
        </p:nvSpPr>
        <p:spPr>
          <a:xfrm>
            <a:off x="2895600" y="3592982"/>
            <a:ext cx="462930" cy="148590"/>
          </a:xfrm>
          <a:prstGeom prst="rect">
            <a:avLst/>
          </a:prstGeom>
          <a:noFill/>
        </p:spPr>
        <p:txBody>
          <a:bodyPr wrap="none" anchor="t" lIns="0" rIns="0" tIns="0" bIns="0">
            <a:noAutofit/>
          </a:bodyPr>
          <a:lstStyle/>
          <a:p>
            <a:pPr algn="l" eaLnBrk="0" latinLnBrk="0"/>
            <a:r>
              <a:rPr sz="780" b="0">
                <a:solidFill>
                  <a:srgbClr val="8494A3"/>
                </a:solidFill>
                <a:latin typeface="Noto Sans KR"/>
                <a:ea typeface="Noto Sans KR"/>
                <a:cs typeface="Noto Sans KR"/>
              </a:rPr>
              <a:t>기준 사건</a:t>
            </a:r>
          </a:p>
        </p:txBody>
      </p:sp>
      <p:cxnSp>
        <p:nvCxnSpPr>
          <p:cNvPr id="27" name="Connector 26"/>
          <p:cNvCxnSpPr/>
          <p:nvPr/>
        </p:nvCxnSpPr>
        <p:spPr>
          <a:xfrm>
            <a:off x="5008880" y="3444240"/>
            <a:ext cx="1310640" cy="0"/>
          </a:xfrm>
          <a:prstGeom prst="line">
            <a:avLst/>
          </a:prstGeom>
          <a:ln w="45720">
            <a:solidFill>
              <a:srgbClr val="D6DEE6"/>
            </a:solidFill>
          </a:ln>
        </p:spPr>
      </p:cxnSp>
      <p:sp>
        <p:nvSpPr>
          <p:cNvPr id="28" name="Oval 27"/>
          <p:cNvSpPr/>
          <p:nvPr/>
        </p:nvSpPr>
        <p:spPr>
          <a:xfrm>
            <a:off x="4925060" y="3360420"/>
            <a:ext cx="167640" cy="167640"/>
          </a:xfrm>
          <a:prstGeom prst="ellipse">
            <a:avLst/>
          </a:prstGeom>
          <a:solidFill>
            <a:srgbClr val="D97014"/>
          </a:solidFill>
          <a:ln>
            <a:noFill/>
          </a:ln>
        </p:spPr>
        <p:txBody>
          <a:bodyPr rtlCol="0" anchor="ctr"/>
          <a:lstStyle/>
          <a:p>
            <a:pPr algn="ctr"/>
          </a:p>
        </p:txBody>
      </p:sp>
      <p:sp>
        <p:nvSpPr>
          <p:cNvPr id="29" name="글 실제 -20분"/>
          <p:cNvSpPr txBox="1"/>
          <p:nvPr/>
        </p:nvSpPr>
        <p:spPr>
          <a:xfrm>
            <a:off x="4728776" y="3189427"/>
            <a:ext cx="560207" cy="160020"/>
          </a:xfrm>
          <a:prstGeom prst="rect">
            <a:avLst/>
          </a:prstGeom>
          <a:noFill/>
        </p:spPr>
        <p:txBody>
          <a:bodyPr wrap="none" anchor="t" lIns="0" rIns="0" tIns="0" bIns="0">
            <a:noAutofit/>
          </a:bodyPr>
          <a:lstStyle/>
          <a:p>
            <a:pPr algn="ctr" eaLnBrk="0" latinLnBrk="0"/>
            <a:r>
              <a:rPr sz="840" b="1">
                <a:solidFill>
                  <a:srgbClr val="D97014"/>
                </a:solidFill>
                <a:latin typeface="Noto Sans KR"/>
                <a:ea typeface="Noto Sans KR"/>
                <a:cs typeface="Noto Sans KR"/>
              </a:rPr>
              <a:t>실제 -20분</a:t>
            </a:r>
          </a:p>
        </p:txBody>
      </p:sp>
      <p:sp>
        <p:nvSpPr>
          <p:cNvPr id="30" name="Rounded Rectangle 29"/>
          <p:cNvSpPr/>
          <p:nvPr/>
        </p:nvSpPr>
        <p:spPr>
          <a:xfrm>
            <a:off x="6235700" y="3360420"/>
            <a:ext cx="167640" cy="167640"/>
          </a:xfrm>
          <a:prstGeom prst="roundRect">
            <a:avLst>
              <a:gd name="adj" fmla="val 18181"/>
            </a:avLst>
          </a:prstGeom>
          <a:solidFill>
            <a:srgbClr val="109C8E"/>
          </a:solidFill>
          <a:ln>
            <a:noFill/>
          </a:ln>
        </p:spPr>
        <p:txBody>
          <a:bodyPr rtlCol="0" anchor="ctr"/>
          <a:lstStyle/>
          <a:p>
            <a:pPr algn="ctr"/>
          </a:p>
        </p:txBody>
      </p:sp>
      <p:sp>
        <p:nvSpPr>
          <p:cNvPr id="31" name="글 가정 +10분"/>
          <p:cNvSpPr txBox="1"/>
          <p:nvPr/>
        </p:nvSpPr>
        <p:spPr>
          <a:xfrm>
            <a:off x="6027682" y="3646627"/>
            <a:ext cx="583677" cy="160020"/>
          </a:xfrm>
          <a:prstGeom prst="rect">
            <a:avLst/>
          </a:prstGeom>
          <a:noFill/>
        </p:spPr>
        <p:txBody>
          <a:bodyPr wrap="none" anchor="t" lIns="0" rIns="0" tIns="0" bIns="0">
            <a:noAutofit/>
          </a:bodyPr>
          <a:lstStyle/>
          <a:p>
            <a:pPr algn="ctr" eaLnBrk="0" latinLnBrk="0"/>
            <a:r>
              <a:rPr sz="840" b="1">
                <a:solidFill>
                  <a:srgbClr val="109C8E"/>
                </a:solidFill>
                <a:latin typeface="Noto Sans KR"/>
                <a:ea typeface="Noto Sans KR"/>
                <a:cs typeface="Noto Sans KR"/>
              </a:rPr>
              <a:t>가정 +10분</a:t>
            </a:r>
          </a:p>
        </p:txBody>
      </p:sp>
      <p:sp>
        <p:nvSpPr>
          <p:cNvPr id="32" name="글 20:49 설계강우 초과 시 경보"/>
          <p:cNvSpPr txBox="1"/>
          <p:nvPr/>
        </p:nvSpPr>
        <p:spPr>
          <a:xfrm>
            <a:off x="6471920" y="3394862"/>
            <a:ext cx="1232626" cy="148590"/>
          </a:xfrm>
          <a:prstGeom prst="rect">
            <a:avLst/>
          </a:prstGeom>
          <a:noFill/>
        </p:spPr>
        <p:txBody>
          <a:bodyPr wrap="none" anchor="t" lIns="0" rIns="0" tIns="0" bIns="0">
            <a:noAutofit/>
          </a:bodyPr>
          <a:lstStyle/>
          <a:p>
            <a:pPr algn="l" eaLnBrk="0" latinLnBrk="0"/>
            <a:r>
              <a:rPr sz="780" b="0">
                <a:solidFill>
                  <a:srgbClr val="566676"/>
                </a:solidFill>
                <a:latin typeface="Noto Sans KR"/>
                <a:ea typeface="Noto Sans KR"/>
                <a:cs typeface="Noto Sans KR"/>
              </a:rPr>
              <a:t>20:49 설계강우 초과 시 경보</a:t>
            </a:r>
          </a:p>
        </p:txBody>
      </p:sp>
      <p:sp>
        <p:nvSpPr>
          <p:cNvPr id="33" name="글 2022 포항"/>
          <p:cNvSpPr txBox="1"/>
          <p:nvPr/>
        </p:nvSpPr>
        <p:spPr>
          <a:xfrm>
            <a:off x="822960" y="4068166"/>
            <a:ext cx="818342"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2022 포항</a:t>
            </a:r>
          </a:p>
        </p:txBody>
      </p:sp>
      <p:sp>
        <p:nvSpPr>
          <p:cNvPr id="34" name="글 지하주차장 진입 금지"/>
          <p:cNvSpPr txBox="1"/>
          <p:nvPr/>
        </p:nvSpPr>
        <p:spPr>
          <a:xfrm>
            <a:off x="822960" y="4332732"/>
            <a:ext cx="1073810" cy="171450"/>
          </a:xfrm>
          <a:prstGeom prst="rect">
            <a:avLst/>
          </a:prstGeom>
          <a:noFill/>
        </p:spPr>
        <p:txBody>
          <a:bodyPr wrap="none" anchor="t" lIns="0" rIns="0" tIns="0" bIns="0">
            <a:noAutofit/>
          </a:bodyPr>
          <a:lstStyle/>
          <a:p>
            <a:pPr algn="l" eaLnBrk="0" latinLnBrk="0"/>
            <a:r>
              <a:rPr sz="900" b="0">
                <a:solidFill>
                  <a:srgbClr val="0B8577"/>
                </a:solidFill>
                <a:latin typeface="Noto Sans KR"/>
                <a:ea typeface="Noto Sans KR"/>
                <a:cs typeface="Noto Sans KR"/>
              </a:rPr>
              <a:t>지하주차장 진입 금지</a:t>
            </a:r>
          </a:p>
        </p:txBody>
      </p:sp>
      <p:sp>
        <p:nvSpPr>
          <p:cNvPr id="35" name="글 침수 시작 06:37"/>
          <p:cNvSpPr txBox="1"/>
          <p:nvPr/>
        </p:nvSpPr>
        <p:spPr>
          <a:xfrm>
            <a:off x="2895600" y="4119372"/>
            <a:ext cx="833552" cy="171450"/>
          </a:xfrm>
          <a:prstGeom prst="rect">
            <a:avLst/>
          </a:prstGeom>
          <a:noFill/>
        </p:spPr>
        <p:txBody>
          <a:bodyPr wrap="none" anchor="t" lIns="0" rIns="0" tIns="0" bIns="0">
            <a:noAutofit/>
          </a:bodyPr>
          <a:lstStyle/>
          <a:p>
            <a:pPr algn="l" eaLnBrk="0" latinLnBrk="0"/>
            <a:r>
              <a:rPr sz="900" b="0">
                <a:solidFill>
                  <a:srgbClr val="566676"/>
                </a:solidFill>
                <a:latin typeface="Noto Sans KR"/>
                <a:ea typeface="Noto Sans KR"/>
                <a:cs typeface="Noto Sans KR"/>
              </a:rPr>
              <a:t>침수 시작 06:37</a:t>
            </a:r>
          </a:p>
        </p:txBody>
      </p:sp>
      <p:sp>
        <p:nvSpPr>
          <p:cNvPr id="36" name="글 기준 사건"/>
          <p:cNvSpPr txBox="1"/>
          <p:nvPr/>
        </p:nvSpPr>
        <p:spPr>
          <a:xfrm>
            <a:off x="2895600" y="4316882"/>
            <a:ext cx="462930" cy="148590"/>
          </a:xfrm>
          <a:prstGeom prst="rect">
            <a:avLst/>
          </a:prstGeom>
          <a:noFill/>
        </p:spPr>
        <p:txBody>
          <a:bodyPr wrap="none" anchor="t" lIns="0" rIns="0" tIns="0" bIns="0">
            <a:noAutofit/>
          </a:bodyPr>
          <a:lstStyle/>
          <a:p>
            <a:pPr algn="l" eaLnBrk="0" latinLnBrk="0"/>
            <a:r>
              <a:rPr sz="780" b="0">
                <a:solidFill>
                  <a:srgbClr val="8494A3"/>
                </a:solidFill>
                <a:latin typeface="Noto Sans KR"/>
                <a:ea typeface="Noto Sans KR"/>
                <a:cs typeface="Noto Sans KR"/>
              </a:rPr>
              <a:t>기준 사건</a:t>
            </a:r>
          </a:p>
        </p:txBody>
      </p:sp>
      <p:cxnSp>
        <p:nvCxnSpPr>
          <p:cNvPr id="37" name="Connector 36"/>
          <p:cNvCxnSpPr/>
          <p:nvPr/>
        </p:nvCxnSpPr>
        <p:spPr>
          <a:xfrm>
            <a:off x="6188456" y="4168140"/>
            <a:ext cx="1310640" cy="0"/>
          </a:xfrm>
          <a:prstGeom prst="line">
            <a:avLst/>
          </a:prstGeom>
          <a:ln w="45720">
            <a:solidFill>
              <a:srgbClr val="D6DEE6"/>
            </a:solidFill>
          </a:ln>
        </p:spPr>
      </p:cxnSp>
      <p:sp>
        <p:nvSpPr>
          <p:cNvPr id="38" name="Oval 37"/>
          <p:cNvSpPr/>
          <p:nvPr/>
        </p:nvSpPr>
        <p:spPr>
          <a:xfrm>
            <a:off x="6104636" y="4084320"/>
            <a:ext cx="167640" cy="167640"/>
          </a:xfrm>
          <a:prstGeom prst="ellipse">
            <a:avLst/>
          </a:prstGeom>
          <a:solidFill>
            <a:srgbClr val="D97014"/>
          </a:solidFill>
          <a:ln>
            <a:noFill/>
          </a:ln>
        </p:spPr>
        <p:txBody>
          <a:bodyPr rtlCol="0" anchor="ctr"/>
          <a:lstStyle/>
          <a:p>
            <a:pPr algn="ctr"/>
          </a:p>
        </p:txBody>
      </p:sp>
      <p:sp>
        <p:nvSpPr>
          <p:cNvPr id="39" name="글 실제 +7분"/>
          <p:cNvSpPr txBox="1"/>
          <p:nvPr/>
        </p:nvSpPr>
        <p:spPr>
          <a:xfrm>
            <a:off x="5928088" y="3913327"/>
            <a:ext cx="520736" cy="160020"/>
          </a:xfrm>
          <a:prstGeom prst="rect">
            <a:avLst/>
          </a:prstGeom>
          <a:noFill/>
        </p:spPr>
        <p:txBody>
          <a:bodyPr wrap="none" anchor="t" lIns="0" rIns="0" tIns="0" bIns="0">
            <a:noAutofit/>
          </a:bodyPr>
          <a:lstStyle/>
          <a:p>
            <a:pPr algn="ctr" eaLnBrk="0" latinLnBrk="0"/>
            <a:r>
              <a:rPr sz="840" b="1">
                <a:solidFill>
                  <a:srgbClr val="D97014"/>
                </a:solidFill>
                <a:latin typeface="Noto Sans KR"/>
                <a:ea typeface="Noto Sans KR"/>
                <a:cs typeface="Noto Sans KR"/>
              </a:rPr>
              <a:t>실제 +7분</a:t>
            </a:r>
          </a:p>
        </p:txBody>
      </p:sp>
      <p:sp>
        <p:nvSpPr>
          <p:cNvPr id="40" name="Rounded Rectangle 39"/>
          <p:cNvSpPr/>
          <p:nvPr/>
        </p:nvSpPr>
        <p:spPr>
          <a:xfrm>
            <a:off x="7415276" y="4084320"/>
            <a:ext cx="167640" cy="167640"/>
          </a:xfrm>
          <a:prstGeom prst="roundRect">
            <a:avLst>
              <a:gd name="adj" fmla="val 18181"/>
            </a:avLst>
          </a:prstGeom>
          <a:solidFill>
            <a:srgbClr val="109C8E"/>
          </a:solidFill>
          <a:ln>
            <a:noFill/>
          </a:ln>
        </p:spPr>
        <p:txBody>
          <a:bodyPr rtlCol="0" anchor="ctr"/>
          <a:lstStyle/>
          <a:p>
            <a:pPr algn="ctr"/>
          </a:p>
        </p:txBody>
      </p:sp>
      <p:sp>
        <p:nvSpPr>
          <p:cNvPr id="41" name="글 가정 +37분"/>
          <p:cNvSpPr txBox="1"/>
          <p:nvPr/>
        </p:nvSpPr>
        <p:spPr>
          <a:xfrm>
            <a:off x="7207258" y="4370527"/>
            <a:ext cx="583677" cy="160020"/>
          </a:xfrm>
          <a:prstGeom prst="rect">
            <a:avLst/>
          </a:prstGeom>
          <a:noFill/>
        </p:spPr>
        <p:txBody>
          <a:bodyPr wrap="none" anchor="t" lIns="0" rIns="0" tIns="0" bIns="0">
            <a:noAutofit/>
          </a:bodyPr>
          <a:lstStyle/>
          <a:p>
            <a:pPr algn="ctr" eaLnBrk="0" latinLnBrk="0"/>
            <a:r>
              <a:rPr sz="840" b="1">
                <a:solidFill>
                  <a:srgbClr val="109C8E"/>
                </a:solidFill>
                <a:latin typeface="Noto Sans KR"/>
                <a:ea typeface="Noto Sans KR"/>
                <a:cs typeface="Noto Sans KR"/>
              </a:rPr>
              <a:t>가정 +37분</a:t>
            </a:r>
          </a:p>
        </p:txBody>
      </p:sp>
      <p:sp>
        <p:nvSpPr>
          <p:cNvPr id="42" name="글 06:00 범람 시작 시 안내"/>
          <p:cNvSpPr txBox="1"/>
          <p:nvPr/>
        </p:nvSpPr>
        <p:spPr>
          <a:xfrm>
            <a:off x="7651496" y="4118762"/>
            <a:ext cx="1050356" cy="148590"/>
          </a:xfrm>
          <a:prstGeom prst="rect">
            <a:avLst/>
          </a:prstGeom>
          <a:noFill/>
        </p:spPr>
        <p:txBody>
          <a:bodyPr wrap="none" anchor="t" lIns="0" rIns="0" tIns="0" bIns="0">
            <a:noAutofit/>
          </a:bodyPr>
          <a:lstStyle/>
          <a:p>
            <a:pPr algn="l" eaLnBrk="0" latinLnBrk="0"/>
            <a:r>
              <a:rPr sz="780" b="0">
                <a:solidFill>
                  <a:srgbClr val="566676"/>
                </a:solidFill>
                <a:latin typeface="Noto Sans KR"/>
                <a:ea typeface="Noto Sans KR"/>
                <a:cs typeface="Noto Sans KR"/>
              </a:rPr>
              <a:t>06:00 범람 시작 시 안내</a:t>
            </a:r>
          </a:p>
        </p:txBody>
      </p:sp>
      <p:sp>
        <p:nvSpPr>
          <p:cNvPr id="43" name="글 2026 안동·의성"/>
          <p:cNvSpPr txBox="1"/>
          <p:nvPr/>
        </p:nvSpPr>
        <p:spPr>
          <a:xfrm>
            <a:off x="822960" y="4792066"/>
            <a:ext cx="1226043"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2026 안동·의성</a:t>
            </a:r>
          </a:p>
        </p:txBody>
      </p:sp>
      <p:sp>
        <p:nvSpPr>
          <p:cNvPr id="44" name="글 대피명령"/>
          <p:cNvSpPr txBox="1"/>
          <p:nvPr/>
        </p:nvSpPr>
        <p:spPr>
          <a:xfrm>
            <a:off x="822960" y="5056632"/>
            <a:ext cx="496824" cy="171450"/>
          </a:xfrm>
          <a:prstGeom prst="rect">
            <a:avLst/>
          </a:prstGeom>
          <a:noFill/>
        </p:spPr>
        <p:txBody>
          <a:bodyPr wrap="none" anchor="t" lIns="0" rIns="0" tIns="0" bIns="0">
            <a:noAutofit/>
          </a:bodyPr>
          <a:lstStyle/>
          <a:p>
            <a:pPr algn="l" eaLnBrk="0" latinLnBrk="0"/>
            <a:r>
              <a:rPr sz="900" b="0">
                <a:solidFill>
                  <a:srgbClr val="0B8577"/>
                </a:solidFill>
                <a:latin typeface="Noto Sans KR"/>
                <a:ea typeface="Noto Sans KR"/>
                <a:cs typeface="Noto Sans KR"/>
              </a:rPr>
              <a:t>대피명령</a:t>
            </a:r>
          </a:p>
        </p:txBody>
      </p:sp>
      <p:sp>
        <p:nvSpPr>
          <p:cNvPr id="45" name="글 경보 수위 예측 00:30"/>
          <p:cNvSpPr txBox="1"/>
          <p:nvPr/>
        </p:nvSpPr>
        <p:spPr>
          <a:xfrm>
            <a:off x="2895600" y="4843272"/>
            <a:ext cx="1069467" cy="171450"/>
          </a:xfrm>
          <a:prstGeom prst="rect">
            <a:avLst/>
          </a:prstGeom>
          <a:noFill/>
        </p:spPr>
        <p:txBody>
          <a:bodyPr wrap="none" anchor="t" lIns="0" rIns="0" tIns="0" bIns="0">
            <a:noAutofit/>
          </a:bodyPr>
          <a:lstStyle/>
          <a:p>
            <a:pPr algn="l" eaLnBrk="0" latinLnBrk="0"/>
            <a:r>
              <a:rPr sz="900" b="0">
                <a:solidFill>
                  <a:srgbClr val="566676"/>
                </a:solidFill>
                <a:latin typeface="Noto Sans KR"/>
                <a:ea typeface="Noto Sans KR"/>
                <a:cs typeface="Noto Sans KR"/>
              </a:rPr>
              <a:t>경보 수위 예측 00:30</a:t>
            </a:r>
          </a:p>
        </p:txBody>
      </p:sp>
      <p:sp>
        <p:nvSpPr>
          <p:cNvPr id="46" name="글 기준 사건"/>
          <p:cNvSpPr txBox="1"/>
          <p:nvPr/>
        </p:nvSpPr>
        <p:spPr>
          <a:xfrm>
            <a:off x="2895600" y="5040782"/>
            <a:ext cx="462930" cy="148590"/>
          </a:xfrm>
          <a:prstGeom prst="rect">
            <a:avLst/>
          </a:prstGeom>
          <a:noFill/>
        </p:spPr>
        <p:txBody>
          <a:bodyPr wrap="none" anchor="t" lIns="0" rIns="0" tIns="0" bIns="0">
            <a:noAutofit/>
          </a:bodyPr>
          <a:lstStyle/>
          <a:p>
            <a:pPr algn="l" eaLnBrk="0" latinLnBrk="0"/>
            <a:r>
              <a:rPr sz="780" b="0">
                <a:solidFill>
                  <a:srgbClr val="8494A3"/>
                </a:solidFill>
                <a:latin typeface="Noto Sans KR"/>
                <a:ea typeface="Noto Sans KR"/>
                <a:cs typeface="Noto Sans KR"/>
              </a:rPr>
              <a:t>기준 사건</a:t>
            </a:r>
          </a:p>
        </p:txBody>
      </p:sp>
      <p:cxnSp>
        <p:nvCxnSpPr>
          <p:cNvPr id="47" name="Connector 46"/>
          <p:cNvCxnSpPr/>
          <p:nvPr/>
        </p:nvCxnSpPr>
        <p:spPr>
          <a:xfrm>
            <a:off x="7193280" y="4892040"/>
            <a:ext cx="873760" cy="0"/>
          </a:xfrm>
          <a:prstGeom prst="line">
            <a:avLst/>
          </a:prstGeom>
          <a:ln w="45720">
            <a:solidFill>
              <a:srgbClr val="D6DEE6"/>
            </a:solidFill>
          </a:ln>
        </p:spPr>
      </p:cxnSp>
      <p:sp>
        <p:nvSpPr>
          <p:cNvPr id="48" name="Oval 47"/>
          <p:cNvSpPr/>
          <p:nvPr/>
        </p:nvSpPr>
        <p:spPr>
          <a:xfrm>
            <a:off x="7109460" y="4808220"/>
            <a:ext cx="167640" cy="167640"/>
          </a:xfrm>
          <a:prstGeom prst="ellipse">
            <a:avLst/>
          </a:prstGeom>
          <a:solidFill>
            <a:srgbClr val="D97014"/>
          </a:solidFill>
          <a:ln>
            <a:noFill/>
          </a:ln>
        </p:spPr>
        <p:txBody>
          <a:bodyPr rtlCol="0" anchor="ctr"/>
          <a:lstStyle/>
          <a:p>
            <a:pPr algn="ctr"/>
          </a:p>
        </p:txBody>
      </p:sp>
      <p:sp>
        <p:nvSpPr>
          <p:cNvPr id="49" name="글 실제 +30분"/>
          <p:cNvSpPr txBox="1"/>
          <p:nvPr/>
        </p:nvSpPr>
        <p:spPr>
          <a:xfrm>
            <a:off x="6901442" y="4637227"/>
            <a:ext cx="583677" cy="160020"/>
          </a:xfrm>
          <a:prstGeom prst="rect">
            <a:avLst/>
          </a:prstGeom>
          <a:noFill/>
        </p:spPr>
        <p:txBody>
          <a:bodyPr wrap="none" anchor="t" lIns="0" rIns="0" tIns="0" bIns="0">
            <a:noAutofit/>
          </a:bodyPr>
          <a:lstStyle/>
          <a:p>
            <a:pPr algn="ctr" eaLnBrk="0" latinLnBrk="0"/>
            <a:r>
              <a:rPr sz="840" b="1">
                <a:solidFill>
                  <a:srgbClr val="D97014"/>
                </a:solidFill>
                <a:latin typeface="Noto Sans KR"/>
                <a:ea typeface="Noto Sans KR"/>
                <a:cs typeface="Noto Sans KR"/>
              </a:rPr>
              <a:t>실제 +30분</a:t>
            </a:r>
          </a:p>
        </p:txBody>
      </p:sp>
      <p:sp>
        <p:nvSpPr>
          <p:cNvPr id="50" name="Rounded Rectangle 49"/>
          <p:cNvSpPr/>
          <p:nvPr/>
        </p:nvSpPr>
        <p:spPr>
          <a:xfrm>
            <a:off x="7983220" y="4808220"/>
            <a:ext cx="167640" cy="167640"/>
          </a:xfrm>
          <a:prstGeom prst="roundRect">
            <a:avLst>
              <a:gd name="adj" fmla="val 18181"/>
            </a:avLst>
          </a:prstGeom>
          <a:solidFill>
            <a:srgbClr val="109C8E"/>
          </a:solidFill>
          <a:ln>
            <a:noFill/>
          </a:ln>
        </p:spPr>
        <p:txBody>
          <a:bodyPr rtlCol="0" anchor="ctr"/>
          <a:lstStyle/>
          <a:p>
            <a:pPr algn="ctr"/>
          </a:p>
        </p:txBody>
      </p:sp>
      <p:sp>
        <p:nvSpPr>
          <p:cNvPr id="51" name="글 가정 +50분"/>
          <p:cNvSpPr txBox="1"/>
          <p:nvPr/>
        </p:nvSpPr>
        <p:spPr>
          <a:xfrm>
            <a:off x="7775202" y="5094427"/>
            <a:ext cx="583677" cy="160020"/>
          </a:xfrm>
          <a:prstGeom prst="rect">
            <a:avLst/>
          </a:prstGeom>
          <a:noFill/>
        </p:spPr>
        <p:txBody>
          <a:bodyPr wrap="none" anchor="t" lIns="0" rIns="0" tIns="0" bIns="0">
            <a:noAutofit/>
          </a:bodyPr>
          <a:lstStyle/>
          <a:p>
            <a:pPr algn="ctr" eaLnBrk="0" latinLnBrk="0"/>
            <a:r>
              <a:rPr sz="840" b="1">
                <a:solidFill>
                  <a:srgbClr val="109C8E"/>
                </a:solidFill>
                <a:latin typeface="Noto Sans KR"/>
                <a:ea typeface="Noto Sans KR"/>
                <a:cs typeface="Noto Sans KR"/>
              </a:rPr>
              <a:t>가정 +50분</a:t>
            </a:r>
          </a:p>
        </p:txBody>
      </p:sp>
      <p:sp>
        <p:nvSpPr>
          <p:cNvPr id="52" name="글 23:40 홍수경보와 동시"/>
          <p:cNvSpPr txBox="1"/>
          <p:nvPr/>
        </p:nvSpPr>
        <p:spPr>
          <a:xfrm>
            <a:off x="8219440" y="4842662"/>
            <a:ext cx="1005977" cy="148590"/>
          </a:xfrm>
          <a:prstGeom prst="rect">
            <a:avLst/>
          </a:prstGeom>
          <a:noFill/>
        </p:spPr>
        <p:txBody>
          <a:bodyPr wrap="none" anchor="t" lIns="0" rIns="0" tIns="0" bIns="0">
            <a:noAutofit/>
          </a:bodyPr>
          <a:lstStyle/>
          <a:p>
            <a:pPr algn="l" eaLnBrk="0" latinLnBrk="0"/>
            <a:r>
              <a:rPr sz="780" b="0">
                <a:solidFill>
                  <a:srgbClr val="566676"/>
                </a:solidFill>
                <a:latin typeface="Noto Sans KR"/>
                <a:ea typeface="Noto Sans KR"/>
                <a:cs typeface="Noto Sans KR"/>
              </a:rPr>
              <a:t>23:40 홍수경보와 동시</a:t>
            </a:r>
          </a:p>
        </p:txBody>
      </p:sp>
      <p:sp>
        <p:nvSpPr>
          <p:cNvPr id="53" name="Oval 52"/>
          <p:cNvSpPr/>
          <p:nvPr/>
        </p:nvSpPr>
        <p:spPr>
          <a:xfrm>
            <a:off x="8930640" y="2209800"/>
            <a:ext cx="121920" cy="121920"/>
          </a:xfrm>
          <a:prstGeom prst="ellipse">
            <a:avLst/>
          </a:prstGeom>
          <a:solidFill>
            <a:srgbClr val="D97014"/>
          </a:solidFill>
          <a:ln>
            <a:noFill/>
          </a:ln>
        </p:spPr>
        <p:txBody>
          <a:bodyPr rtlCol="0" anchor="ctr"/>
          <a:lstStyle/>
          <a:p>
            <a:pPr algn="ctr"/>
          </a:p>
        </p:txBody>
      </p:sp>
      <p:sp>
        <p:nvSpPr>
          <p:cNvPr id="54" name="글 실제 대응"/>
          <p:cNvSpPr txBox="1"/>
          <p:nvPr/>
        </p:nvSpPr>
        <p:spPr>
          <a:xfrm>
            <a:off x="9113520" y="2214067"/>
            <a:ext cx="492679" cy="160020"/>
          </a:xfrm>
          <a:prstGeom prst="rect">
            <a:avLst/>
          </a:prstGeom>
          <a:noFill/>
        </p:spPr>
        <p:txBody>
          <a:bodyPr wrap="none" anchor="t" lIns="0" rIns="0" tIns="0" bIns="0">
            <a:noAutofit/>
          </a:bodyPr>
          <a:lstStyle/>
          <a:p>
            <a:pPr algn="l" eaLnBrk="0" latinLnBrk="0"/>
            <a:r>
              <a:rPr sz="840" b="0">
                <a:solidFill>
                  <a:srgbClr val="566676"/>
                </a:solidFill>
                <a:latin typeface="Noto Sans KR"/>
                <a:ea typeface="Noto Sans KR"/>
                <a:cs typeface="Noto Sans KR"/>
              </a:rPr>
              <a:t>실제 대응</a:t>
            </a:r>
          </a:p>
        </p:txBody>
      </p:sp>
      <p:sp>
        <p:nvSpPr>
          <p:cNvPr id="55" name="Rounded Rectangle 54"/>
          <p:cNvSpPr/>
          <p:nvPr/>
        </p:nvSpPr>
        <p:spPr>
          <a:xfrm>
            <a:off x="9845040" y="2209800"/>
            <a:ext cx="121920" cy="121920"/>
          </a:xfrm>
          <a:prstGeom prst="roundRect">
            <a:avLst>
              <a:gd name="adj" fmla="val 18750"/>
            </a:avLst>
          </a:prstGeom>
          <a:solidFill>
            <a:srgbClr val="109C8E"/>
          </a:solidFill>
          <a:ln>
            <a:noFill/>
          </a:ln>
        </p:spPr>
        <p:txBody>
          <a:bodyPr rtlCol="0" anchor="ctr"/>
          <a:lstStyle/>
          <a:p>
            <a:pPr algn="ctr"/>
          </a:p>
        </p:txBody>
      </p:sp>
      <p:sp>
        <p:nvSpPr>
          <p:cNvPr id="56" name="글 가정한 대응"/>
          <p:cNvSpPr txBox="1"/>
          <p:nvPr/>
        </p:nvSpPr>
        <p:spPr>
          <a:xfrm>
            <a:off x="10027920" y="2214067"/>
            <a:ext cx="590824" cy="160020"/>
          </a:xfrm>
          <a:prstGeom prst="rect">
            <a:avLst/>
          </a:prstGeom>
          <a:noFill/>
        </p:spPr>
        <p:txBody>
          <a:bodyPr wrap="none" anchor="t" lIns="0" rIns="0" tIns="0" bIns="0">
            <a:noAutofit/>
          </a:bodyPr>
          <a:lstStyle/>
          <a:p>
            <a:pPr algn="l" eaLnBrk="0" latinLnBrk="0"/>
            <a:r>
              <a:rPr sz="840" b="0">
                <a:solidFill>
                  <a:srgbClr val="566676"/>
                </a:solidFill>
                <a:latin typeface="Noto Sans KR"/>
                <a:ea typeface="Noto Sans KR"/>
                <a:cs typeface="Noto Sans KR"/>
              </a:rPr>
              <a:t>가정한 대응</a:t>
            </a:r>
          </a:p>
        </p:txBody>
      </p:sp>
      <p:sp>
        <p:nvSpPr>
          <p:cNvPr id="57" name="Rounded Rectangle 56"/>
          <p:cNvSpPr/>
          <p:nvPr/>
        </p:nvSpPr>
        <p:spPr>
          <a:xfrm>
            <a:off x="609600" y="5958840"/>
            <a:ext cx="10972800" cy="426720"/>
          </a:xfrm>
          <a:prstGeom prst="roundRect">
            <a:avLst>
              <a:gd name="adj" fmla="val 21428"/>
            </a:avLst>
          </a:prstGeom>
          <a:solidFill>
            <a:srgbClr val="FAF0DC"/>
          </a:solidFill>
          <a:ln>
            <a:noFill/>
          </a:ln>
        </p:spPr>
        <p:txBody>
          <a:bodyPr rtlCol="0" anchor="ctr"/>
          <a:lstStyle/>
          <a:p>
            <a:pPr algn="ctr"/>
          </a:p>
        </p:txBody>
      </p:sp>
      <p:pic>
        <p:nvPicPr>
          <p:cNvPr id="58" name="아이콘 주의" descr="08-hand-1.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6760" y="6050280"/>
            <a:ext cx="243840" cy="243840"/>
          </a:xfrm>
          <a:prstGeom prst="rect">
            <a:avLst/>
          </a:prstGeom>
        </p:spPr>
      </p:pic>
      <p:sp>
        <p:nvSpPr>
          <p:cNvPr id="59" name="글 선행 시간은 기록된 시각 사이의 산술입니다."/>
          <p:cNvSpPr txBox="1"/>
          <p:nvPr/>
        </p:nvSpPr>
        <p:spPr>
          <a:xfrm>
            <a:off x="1097280" y="6086551"/>
            <a:ext cx="720690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선행 시간은 기록된 시각 사이의 산술입니다. 대피 성공·인명·피해 감소를 뜻하지 않으며, 사례마다 근거 수준이 다릅니다.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0"/>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10</a:t>
            </a:r>
          </a:p>
        </p:txBody>
      </p:sp>
      <p:sp>
        <p:nvSpPr>
          <p:cNvPr id="3" name="글 해결과 결과"/>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해결과 결과</a:t>
            </a:r>
          </a:p>
        </p:txBody>
      </p:sp>
      <p:sp>
        <p:nvSpPr>
          <p:cNvPr id="4" name="글 사례마다 자료 수준이 다르고, 화면은 그만큼"/>
          <p:cNvSpPr txBox="1"/>
          <p:nvPr/>
        </p:nvSpPr>
        <p:spPr>
          <a:xfrm>
            <a:off x="609600" y="853440"/>
            <a:ext cx="9131427"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사례마다 자료 수준이 다르고, 화면은 그만큼만 보여줍니다</a:t>
            </a:r>
          </a:p>
        </p:txBody>
      </p:sp>
      <p:sp>
        <p:nvSpPr>
          <p:cNvPr id="5" name="글 없는 자료를 채워 넣는 대신 가능한 분석을 "/>
          <p:cNvSpPr txBox="1"/>
          <p:nvPr/>
        </p:nvSpPr>
        <p:spPr>
          <a:xfrm>
            <a:off x="609600" y="1409395"/>
            <a:ext cx="5324124"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없는 자료를 채워 넣는 대신 가능한 분석을 제한하고 상태를 표시합니다</a:t>
            </a:r>
          </a:p>
        </p:txBody>
      </p:sp>
      <p:sp>
        <p:nvSpPr>
          <p:cNvPr id="6" name="글 사례"/>
          <p:cNvSpPr txBox="1"/>
          <p:nvPr/>
        </p:nvSpPr>
        <p:spPr>
          <a:xfrm>
            <a:off x="762000" y="1940966"/>
            <a:ext cx="328574"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사례</a:t>
            </a:r>
          </a:p>
        </p:txBody>
      </p:sp>
      <p:sp>
        <p:nvSpPr>
          <p:cNvPr id="7" name="글 관측"/>
          <p:cNvSpPr txBox="1"/>
          <p:nvPr/>
        </p:nvSpPr>
        <p:spPr>
          <a:xfrm>
            <a:off x="2514600" y="1940966"/>
            <a:ext cx="328574"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관측</a:t>
            </a:r>
          </a:p>
        </p:txBody>
      </p:sp>
      <p:sp>
        <p:nvSpPr>
          <p:cNvPr id="8" name="글 공간 자료"/>
          <p:cNvSpPr txBox="1"/>
          <p:nvPr/>
        </p:nvSpPr>
        <p:spPr>
          <a:xfrm>
            <a:off x="4267200" y="1940966"/>
            <a:ext cx="612084"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공간 자료</a:t>
            </a:r>
          </a:p>
        </p:txBody>
      </p:sp>
      <p:sp>
        <p:nvSpPr>
          <p:cNvPr id="9" name="글 사건 시각 근거"/>
          <p:cNvSpPr txBox="1"/>
          <p:nvPr/>
        </p:nvSpPr>
        <p:spPr>
          <a:xfrm>
            <a:off x="6248400" y="1940966"/>
            <a:ext cx="895594"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사건 시각 근거</a:t>
            </a:r>
          </a:p>
        </p:txBody>
      </p:sp>
      <p:sp>
        <p:nvSpPr>
          <p:cNvPr id="10" name="글 시나리오 비교"/>
          <p:cNvSpPr txBox="1"/>
          <p:nvPr/>
        </p:nvSpPr>
        <p:spPr>
          <a:xfrm>
            <a:off x="8229600" y="1940966"/>
            <a:ext cx="864459"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시나리오 비교</a:t>
            </a:r>
          </a:p>
        </p:txBody>
      </p:sp>
      <p:sp>
        <p:nvSpPr>
          <p:cNvPr id="11" name="글 재생 시 지도 변화"/>
          <p:cNvSpPr txBox="1"/>
          <p:nvPr/>
        </p:nvSpPr>
        <p:spPr>
          <a:xfrm>
            <a:off x="9982200" y="1940966"/>
            <a:ext cx="1052916"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재생 시 지도 변화</a:t>
            </a:r>
          </a:p>
        </p:txBody>
      </p:sp>
      <p:cxnSp>
        <p:nvCxnSpPr>
          <p:cNvPr id="12" name="Connector 11"/>
          <p:cNvCxnSpPr/>
          <p:nvPr/>
        </p:nvCxnSpPr>
        <p:spPr>
          <a:xfrm>
            <a:off x="609600" y="2194560"/>
            <a:ext cx="10972800" cy="0"/>
          </a:xfrm>
          <a:prstGeom prst="line">
            <a:avLst/>
          </a:prstGeom>
          <a:ln w="11430">
            <a:solidFill>
              <a:srgbClr val="0F1E2E"/>
            </a:solidFill>
          </a:ln>
        </p:spPr>
      </p:cxnSp>
      <p:sp>
        <p:nvSpPr>
          <p:cNvPr id="13" name="Rounded Rectangle 12"/>
          <p:cNvSpPr/>
          <p:nvPr/>
        </p:nvSpPr>
        <p:spPr>
          <a:xfrm>
            <a:off x="548640" y="2286000"/>
            <a:ext cx="11094720" cy="563880"/>
          </a:xfrm>
          <a:prstGeom prst="roundRect">
            <a:avLst>
              <a:gd name="adj" fmla="val 8108"/>
            </a:avLst>
          </a:prstGeom>
          <a:solidFill>
            <a:srgbClr val="F2F5F8"/>
          </a:solidFill>
          <a:ln>
            <a:noFill/>
          </a:ln>
        </p:spPr>
        <p:txBody>
          <a:bodyPr rtlCol="0" anchor="ctr"/>
          <a:lstStyle/>
          <a:p>
            <a:pPr algn="ctr"/>
          </a:p>
        </p:txBody>
      </p:sp>
      <p:sp>
        <p:nvSpPr>
          <p:cNvPr id="14" name="글 2023 오송"/>
          <p:cNvSpPr txBox="1"/>
          <p:nvPr/>
        </p:nvSpPr>
        <p:spPr>
          <a:xfrm>
            <a:off x="762000" y="2467051"/>
            <a:ext cx="717141"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2023 오송</a:t>
            </a:r>
          </a:p>
        </p:txBody>
      </p:sp>
      <p:sp>
        <p:nvSpPr>
          <p:cNvPr id="15" name="글 강우·수위 10분"/>
          <p:cNvSpPr txBox="1"/>
          <p:nvPr/>
        </p:nvSpPr>
        <p:spPr>
          <a:xfrm>
            <a:off x="2514600" y="2467051"/>
            <a:ext cx="101654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강우·수위 10분</a:t>
            </a:r>
          </a:p>
        </p:txBody>
      </p:sp>
      <p:sp>
        <p:nvSpPr>
          <p:cNvPr id="16" name="글 DEM·하천·건물·도로"/>
          <p:cNvSpPr txBox="1"/>
          <p:nvPr/>
        </p:nvSpPr>
        <p:spPr>
          <a:xfrm>
            <a:off x="4267200" y="2467051"/>
            <a:ext cx="142149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DEM·하천·건물·도로</a:t>
            </a:r>
          </a:p>
        </p:txBody>
      </p:sp>
      <p:sp>
        <p:nvSpPr>
          <p:cNvPr id="17" name="글 감찰 발표 · CCTV · 기록"/>
          <p:cNvSpPr txBox="1"/>
          <p:nvPr/>
        </p:nvSpPr>
        <p:spPr>
          <a:xfrm>
            <a:off x="6248400" y="2467051"/>
            <a:ext cx="1554693"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감찰 발표 · CCTV · 기록</a:t>
            </a:r>
          </a:p>
        </p:txBody>
      </p:sp>
      <p:sp>
        <p:nvSpPr>
          <p:cNvPr id="18" name="글 통제 시각 · 유입 지연"/>
          <p:cNvSpPr txBox="1"/>
          <p:nvPr/>
        </p:nvSpPr>
        <p:spPr>
          <a:xfrm>
            <a:off x="8229600" y="2467051"/>
            <a:ext cx="135272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통제 시각 · 유입 지연</a:t>
            </a:r>
          </a:p>
        </p:txBody>
      </p:sp>
      <p:sp>
        <p:nvSpPr>
          <p:cNvPr id="19" name="글 관측 수위 기준 HAND 셀"/>
          <p:cNvSpPr txBox="1"/>
          <p:nvPr/>
        </p:nvSpPr>
        <p:spPr>
          <a:xfrm>
            <a:off x="9982200" y="2467051"/>
            <a:ext cx="1536017"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관측 수위 기준 HAND 셀</a:t>
            </a:r>
          </a:p>
        </p:txBody>
      </p:sp>
      <p:sp>
        <p:nvSpPr>
          <p:cNvPr id="20" name="글 2022 서울"/>
          <p:cNvSpPr txBox="1"/>
          <p:nvPr/>
        </p:nvSpPr>
        <p:spPr>
          <a:xfrm>
            <a:off x="762000" y="3030931"/>
            <a:ext cx="717141"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2022 서울</a:t>
            </a:r>
          </a:p>
        </p:txBody>
      </p:sp>
      <p:sp>
        <p:nvSpPr>
          <p:cNvPr id="21" name="글 강우계 6곳 10분"/>
          <p:cNvSpPr txBox="1"/>
          <p:nvPr/>
        </p:nvSpPr>
        <p:spPr>
          <a:xfrm>
            <a:off x="2514600" y="3030931"/>
            <a:ext cx="104810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강우계 6곳 10분</a:t>
            </a:r>
          </a:p>
        </p:txBody>
      </p:sp>
      <p:sp>
        <p:nvSpPr>
          <p:cNvPr id="22" name="글 공식 침수흔적 10,468건"/>
          <p:cNvSpPr txBox="1"/>
          <p:nvPr/>
        </p:nvSpPr>
        <p:spPr>
          <a:xfrm>
            <a:off x="4267200" y="3030931"/>
            <a:ext cx="151545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공식 침수흔적 10,468건</a:t>
            </a:r>
          </a:p>
        </p:txBody>
      </p:sp>
      <p:sp>
        <p:nvSpPr>
          <p:cNvPr id="23" name="글 관측 임계 + 보도"/>
          <p:cNvSpPr txBox="1"/>
          <p:nvPr/>
        </p:nvSpPr>
        <p:spPr>
          <a:xfrm>
            <a:off x="6248400" y="3030931"/>
            <a:ext cx="105303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관측 임계 + 보도</a:t>
            </a:r>
          </a:p>
        </p:txBody>
      </p:sp>
      <p:sp>
        <p:nvSpPr>
          <p:cNvPr id="24" name="글 경보 시각 · 빗물터널"/>
          <p:cNvSpPr txBox="1"/>
          <p:nvPr/>
        </p:nvSpPr>
        <p:spPr>
          <a:xfrm>
            <a:off x="8229600" y="3030931"/>
            <a:ext cx="132029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경보 시각 · 빗물터널</a:t>
            </a:r>
          </a:p>
        </p:txBody>
      </p:sp>
      <p:sp>
        <p:nvSpPr>
          <p:cNvPr id="25" name="글 흔적 순서 + 강우 비율 띠"/>
          <p:cNvSpPr txBox="1"/>
          <p:nvPr/>
        </p:nvSpPr>
        <p:spPr>
          <a:xfrm>
            <a:off x="9982200" y="3030931"/>
            <a:ext cx="151748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흔적 순서 + 강우 비율 띠</a:t>
            </a:r>
          </a:p>
        </p:txBody>
      </p:sp>
      <p:sp>
        <p:nvSpPr>
          <p:cNvPr id="26" name="Rounded Rectangle 25"/>
          <p:cNvSpPr/>
          <p:nvPr/>
        </p:nvSpPr>
        <p:spPr>
          <a:xfrm>
            <a:off x="548640" y="3413760"/>
            <a:ext cx="11094720" cy="563880"/>
          </a:xfrm>
          <a:prstGeom prst="roundRect">
            <a:avLst>
              <a:gd name="adj" fmla="val 8108"/>
            </a:avLst>
          </a:prstGeom>
          <a:solidFill>
            <a:srgbClr val="F2F5F8"/>
          </a:solidFill>
          <a:ln>
            <a:noFill/>
          </a:ln>
        </p:spPr>
        <p:txBody>
          <a:bodyPr rtlCol="0" anchor="ctr"/>
          <a:lstStyle/>
          <a:p>
            <a:pPr algn="ctr"/>
          </a:p>
        </p:txBody>
      </p:sp>
      <p:sp>
        <p:nvSpPr>
          <p:cNvPr id="27" name="글 2022 포항"/>
          <p:cNvSpPr txBox="1"/>
          <p:nvPr/>
        </p:nvSpPr>
        <p:spPr>
          <a:xfrm>
            <a:off x="762000" y="3594811"/>
            <a:ext cx="717141"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2022 포항</a:t>
            </a:r>
          </a:p>
        </p:txBody>
      </p:sp>
      <p:sp>
        <p:nvSpPr>
          <p:cNvPr id="28" name="글 없음"/>
          <p:cNvSpPr txBox="1"/>
          <p:nvPr/>
        </p:nvSpPr>
        <p:spPr>
          <a:xfrm>
            <a:off x="2514600" y="3594811"/>
            <a:ext cx="34259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없음</a:t>
            </a:r>
          </a:p>
        </p:txBody>
      </p:sp>
      <p:sp>
        <p:nvSpPr>
          <p:cNvPr id="29" name="글 사건일 OSM"/>
          <p:cNvSpPr txBox="1"/>
          <p:nvPr/>
        </p:nvSpPr>
        <p:spPr>
          <a:xfrm>
            <a:off x="4267200" y="3594811"/>
            <a:ext cx="81950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사건일 OSM</a:t>
            </a:r>
          </a:p>
        </p:txBody>
      </p:sp>
      <p:sp>
        <p:nvSpPr>
          <p:cNvPr id="30" name="글 언론 보도"/>
          <p:cNvSpPr txBox="1"/>
          <p:nvPr/>
        </p:nvSpPr>
        <p:spPr>
          <a:xfrm>
            <a:off x="6248400" y="3594811"/>
            <a:ext cx="64142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언론 보도</a:t>
            </a:r>
          </a:p>
        </p:txBody>
      </p:sp>
      <p:sp>
        <p:nvSpPr>
          <p:cNvPr id="31" name="글 진입 금지 안내 시각"/>
          <p:cNvSpPr txBox="1"/>
          <p:nvPr/>
        </p:nvSpPr>
        <p:spPr>
          <a:xfrm>
            <a:off x="8229600" y="3594811"/>
            <a:ext cx="1239073"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진입 금지 안내 시각</a:t>
            </a:r>
          </a:p>
        </p:txBody>
      </p:sp>
      <p:sp>
        <p:nvSpPr>
          <p:cNvPr id="32" name="글 보도 순서 냉천 띠"/>
          <p:cNvSpPr txBox="1"/>
          <p:nvPr/>
        </p:nvSpPr>
        <p:spPr>
          <a:xfrm>
            <a:off x="9982200" y="3594811"/>
            <a:ext cx="110587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보도 순서 냉천 띠</a:t>
            </a:r>
          </a:p>
        </p:txBody>
      </p:sp>
      <p:sp>
        <p:nvSpPr>
          <p:cNvPr id="33" name="글 2026 안동·의성"/>
          <p:cNvSpPr txBox="1"/>
          <p:nvPr/>
        </p:nvSpPr>
        <p:spPr>
          <a:xfrm>
            <a:off x="762000" y="4158691"/>
            <a:ext cx="1069246"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2026 안동·의성</a:t>
            </a:r>
          </a:p>
        </p:txBody>
      </p:sp>
      <p:sp>
        <p:nvSpPr>
          <p:cNvPr id="34" name="글 없음"/>
          <p:cNvSpPr txBox="1"/>
          <p:nvPr/>
        </p:nvSpPr>
        <p:spPr>
          <a:xfrm>
            <a:off x="2514600" y="4158691"/>
            <a:ext cx="34259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없음</a:t>
            </a:r>
          </a:p>
        </p:txBody>
      </p:sp>
      <p:sp>
        <p:nvSpPr>
          <p:cNvPr id="35" name="글 사건일 OSM"/>
          <p:cNvSpPr txBox="1"/>
          <p:nvPr/>
        </p:nvSpPr>
        <p:spPr>
          <a:xfrm>
            <a:off x="4267200" y="4158691"/>
            <a:ext cx="81950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사건일 OSM</a:t>
            </a:r>
          </a:p>
        </p:txBody>
      </p:sp>
      <p:sp>
        <p:nvSpPr>
          <p:cNvPr id="36" name="글 보도 · 중대본 보고"/>
          <p:cNvSpPr txBox="1"/>
          <p:nvPr/>
        </p:nvSpPr>
        <p:spPr>
          <a:xfrm>
            <a:off x="6248400" y="4158691"/>
            <a:ext cx="1187097"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보도 · 중대본 보고</a:t>
            </a:r>
          </a:p>
        </p:txBody>
      </p:sp>
      <p:sp>
        <p:nvSpPr>
          <p:cNvPr id="37" name="글 대피명령 · 경보 상향"/>
          <p:cNvSpPr txBox="1"/>
          <p:nvPr/>
        </p:nvSpPr>
        <p:spPr>
          <a:xfrm>
            <a:off x="8229600" y="4158691"/>
            <a:ext cx="132029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대피명령 · 경보 상향</a:t>
            </a:r>
          </a:p>
        </p:txBody>
      </p:sp>
      <p:sp>
        <p:nvSpPr>
          <p:cNvPr id="38" name="글 보도 수위 순서 미천 띠"/>
          <p:cNvSpPr txBox="1"/>
          <p:nvPr/>
        </p:nvSpPr>
        <p:spPr>
          <a:xfrm>
            <a:off x="9982200" y="4158691"/>
            <a:ext cx="140470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보도 수위 순서 미천 띠</a:t>
            </a:r>
          </a:p>
        </p:txBody>
      </p:sp>
      <p:sp>
        <p:nvSpPr>
          <p:cNvPr id="39" name="Rounded Rectangle 38"/>
          <p:cNvSpPr/>
          <p:nvPr/>
        </p:nvSpPr>
        <p:spPr>
          <a:xfrm>
            <a:off x="548640" y="4541520"/>
            <a:ext cx="11094720" cy="563880"/>
          </a:xfrm>
          <a:prstGeom prst="roundRect">
            <a:avLst>
              <a:gd name="adj" fmla="val 8108"/>
            </a:avLst>
          </a:prstGeom>
          <a:solidFill>
            <a:srgbClr val="F2F5F8"/>
          </a:solidFill>
          <a:ln>
            <a:noFill/>
          </a:ln>
        </p:spPr>
        <p:txBody>
          <a:bodyPr rtlCol="0" anchor="ctr"/>
          <a:lstStyle/>
          <a:p>
            <a:pPr algn="ctr"/>
          </a:p>
        </p:txBody>
      </p:sp>
      <p:sp>
        <p:nvSpPr>
          <p:cNvPr id="40" name="글 2024 익산"/>
          <p:cNvSpPr txBox="1"/>
          <p:nvPr/>
        </p:nvSpPr>
        <p:spPr>
          <a:xfrm>
            <a:off x="762000" y="4722571"/>
            <a:ext cx="717141" cy="217170"/>
          </a:xfrm>
          <a:prstGeom prst="rect">
            <a:avLst/>
          </a:prstGeom>
          <a:noFill/>
        </p:spPr>
        <p:txBody>
          <a:bodyPr wrap="none" anchor="t" lIns="0" rIns="0" tIns="0" bIns="0">
            <a:noAutofit/>
          </a:bodyPr>
          <a:lstStyle/>
          <a:p>
            <a:pPr algn="l" eaLnBrk="0" latinLnBrk="0"/>
            <a:r>
              <a:rPr sz="1140" b="1">
                <a:solidFill>
                  <a:srgbClr val="8494A3"/>
                </a:solidFill>
                <a:latin typeface="Noto Sans KR"/>
                <a:ea typeface="Noto Sans KR"/>
                <a:cs typeface="Noto Sans KR"/>
              </a:rPr>
              <a:t>2024 익산</a:t>
            </a:r>
          </a:p>
        </p:txBody>
      </p:sp>
      <p:sp>
        <p:nvSpPr>
          <p:cNvPr id="41" name="글 없음"/>
          <p:cNvSpPr txBox="1"/>
          <p:nvPr/>
        </p:nvSpPr>
        <p:spPr>
          <a:xfrm>
            <a:off x="2514600" y="4722571"/>
            <a:ext cx="342595" cy="217170"/>
          </a:xfrm>
          <a:prstGeom prst="rect">
            <a:avLst/>
          </a:prstGeom>
          <a:noFill/>
        </p:spPr>
        <p:txBody>
          <a:bodyPr wrap="none" anchor="t" lIns="0" rIns="0" tIns="0" bIns="0">
            <a:noAutofit/>
          </a:bodyPr>
          <a:lstStyle/>
          <a:p>
            <a:pPr algn="l" eaLnBrk="0" latinLnBrk="0"/>
            <a:r>
              <a:rPr sz="1140" b="0">
                <a:solidFill>
                  <a:srgbClr val="8494A3"/>
                </a:solidFill>
                <a:latin typeface="Noto Sans KR"/>
                <a:ea typeface="Noto Sans KR"/>
                <a:cs typeface="Noto Sans KR"/>
              </a:rPr>
              <a:t>없음</a:t>
            </a:r>
          </a:p>
        </p:txBody>
      </p:sp>
      <p:sp>
        <p:nvSpPr>
          <p:cNvPr id="42" name="글 없음"/>
          <p:cNvSpPr txBox="1"/>
          <p:nvPr/>
        </p:nvSpPr>
        <p:spPr>
          <a:xfrm>
            <a:off x="4267200" y="4722571"/>
            <a:ext cx="342595" cy="217170"/>
          </a:xfrm>
          <a:prstGeom prst="rect">
            <a:avLst/>
          </a:prstGeom>
          <a:noFill/>
        </p:spPr>
        <p:txBody>
          <a:bodyPr wrap="none" anchor="t" lIns="0" rIns="0" tIns="0" bIns="0">
            <a:noAutofit/>
          </a:bodyPr>
          <a:lstStyle/>
          <a:p>
            <a:pPr algn="l" eaLnBrk="0" latinLnBrk="0"/>
            <a:r>
              <a:rPr sz="1140" b="0">
                <a:solidFill>
                  <a:srgbClr val="8494A3"/>
                </a:solidFill>
                <a:latin typeface="Noto Sans KR"/>
                <a:ea typeface="Noto Sans KR"/>
                <a:cs typeface="Noto Sans KR"/>
              </a:rPr>
              <a:t>없음</a:t>
            </a:r>
          </a:p>
        </p:txBody>
      </p:sp>
      <p:sp>
        <p:nvSpPr>
          <p:cNvPr id="43" name="글 시각 근거 없음"/>
          <p:cNvSpPr txBox="1"/>
          <p:nvPr/>
        </p:nvSpPr>
        <p:spPr>
          <a:xfrm>
            <a:off x="6248400" y="4722571"/>
            <a:ext cx="940247" cy="217170"/>
          </a:xfrm>
          <a:prstGeom prst="rect">
            <a:avLst/>
          </a:prstGeom>
          <a:noFill/>
        </p:spPr>
        <p:txBody>
          <a:bodyPr wrap="none" anchor="t" lIns="0" rIns="0" tIns="0" bIns="0">
            <a:noAutofit/>
          </a:bodyPr>
          <a:lstStyle/>
          <a:p>
            <a:pPr algn="l" eaLnBrk="0" latinLnBrk="0"/>
            <a:r>
              <a:rPr sz="1140" b="0">
                <a:solidFill>
                  <a:srgbClr val="8494A3"/>
                </a:solidFill>
                <a:latin typeface="Noto Sans KR"/>
                <a:ea typeface="Noto Sans KR"/>
                <a:cs typeface="Noto Sans KR"/>
              </a:rPr>
              <a:t>시각 근거 없음</a:t>
            </a:r>
          </a:p>
        </p:txBody>
      </p:sp>
      <p:sp>
        <p:nvSpPr>
          <p:cNvPr id="44" name="글 잠금"/>
          <p:cNvSpPr txBox="1"/>
          <p:nvPr/>
        </p:nvSpPr>
        <p:spPr>
          <a:xfrm>
            <a:off x="8229600" y="4722571"/>
            <a:ext cx="342595" cy="217170"/>
          </a:xfrm>
          <a:prstGeom prst="rect">
            <a:avLst/>
          </a:prstGeom>
          <a:noFill/>
        </p:spPr>
        <p:txBody>
          <a:bodyPr wrap="none" anchor="t" lIns="0" rIns="0" tIns="0" bIns="0">
            <a:noAutofit/>
          </a:bodyPr>
          <a:lstStyle/>
          <a:p>
            <a:pPr algn="l" eaLnBrk="0" latinLnBrk="0"/>
            <a:r>
              <a:rPr sz="1140" b="0">
                <a:solidFill>
                  <a:srgbClr val="8494A3"/>
                </a:solidFill>
                <a:latin typeface="Noto Sans KR"/>
                <a:ea typeface="Noto Sans KR"/>
                <a:cs typeface="Noto Sans KR"/>
              </a:rPr>
              <a:t>잠금</a:t>
            </a:r>
          </a:p>
        </p:txBody>
      </p:sp>
      <p:sp>
        <p:nvSpPr>
          <p:cNvPr id="45" name="글 잠금"/>
          <p:cNvSpPr txBox="1"/>
          <p:nvPr/>
        </p:nvSpPr>
        <p:spPr>
          <a:xfrm>
            <a:off x="9982200" y="4722571"/>
            <a:ext cx="342595" cy="217170"/>
          </a:xfrm>
          <a:prstGeom prst="rect">
            <a:avLst/>
          </a:prstGeom>
          <a:noFill/>
        </p:spPr>
        <p:txBody>
          <a:bodyPr wrap="none" anchor="t" lIns="0" rIns="0" tIns="0" bIns="0">
            <a:noAutofit/>
          </a:bodyPr>
          <a:lstStyle/>
          <a:p>
            <a:pPr algn="l" eaLnBrk="0" latinLnBrk="0"/>
            <a:r>
              <a:rPr sz="1140" b="0">
                <a:solidFill>
                  <a:srgbClr val="8494A3"/>
                </a:solidFill>
                <a:latin typeface="Noto Sans KR"/>
                <a:ea typeface="Noto Sans KR"/>
                <a:cs typeface="Noto Sans KR"/>
              </a:rPr>
              <a:t>잠금</a:t>
            </a:r>
          </a:p>
        </p:txBody>
      </p:sp>
      <p:sp>
        <p:nvSpPr>
          <p:cNvPr id="46" name="Rounded Rectangle 45"/>
          <p:cNvSpPr/>
          <p:nvPr/>
        </p:nvSpPr>
        <p:spPr>
          <a:xfrm>
            <a:off x="609600" y="5120640"/>
            <a:ext cx="10972800" cy="1143000"/>
          </a:xfrm>
          <a:prstGeom prst="roundRect">
            <a:avLst>
              <a:gd name="adj" fmla="val 9333"/>
            </a:avLst>
          </a:prstGeom>
          <a:solidFill>
            <a:srgbClr val="0B1B2B"/>
          </a:solidFill>
          <a:ln>
            <a:noFill/>
          </a:ln>
        </p:spPr>
        <p:txBody>
          <a:bodyPr rtlCol="0" anchor="ctr"/>
          <a:lstStyle/>
          <a:p>
            <a:pPr algn="ctr"/>
          </a:p>
        </p:txBody>
      </p:sp>
      <p:sp>
        <p:nvSpPr>
          <p:cNvPr id="47" name="글 확장 규칙"/>
          <p:cNvSpPr txBox="1"/>
          <p:nvPr/>
        </p:nvSpPr>
        <p:spPr>
          <a:xfrm>
            <a:off x="853440" y="5316931"/>
            <a:ext cx="641855" cy="217170"/>
          </a:xfrm>
          <a:prstGeom prst="rect">
            <a:avLst/>
          </a:prstGeom>
          <a:noFill/>
        </p:spPr>
        <p:txBody>
          <a:bodyPr wrap="none" anchor="t" lIns="0" rIns="0" tIns="0" bIns="0">
            <a:noAutofit/>
          </a:bodyPr>
          <a:lstStyle/>
          <a:p>
            <a:pPr algn="l" eaLnBrk="0" latinLnBrk="0"/>
            <a:r>
              <a:rPr sz="1140" b="1">
                <a:solidFill>
                  <a:srgbClr val="5EEAD4"/>
                </a:solidFill>
                <a:latin typeface="Noto Sans KR"/>
                <a:ea typeface="Noto Sans KR"/>
                <a:cs typeface="Noto Sans KR"/>
              </a:rPr>
              <a:t>확장 규칙</a:t>
            </a:r>
          </a:p>
        </p:txBody>
      </p:sp>
      <p:sp>
        <p:nvSpPr>
          <p:cNvPr id="48" name="글 관측이 없으면 추정하지 않고 «보도 순서»라"/>
          <p:cNvSpPr txBox="1"/>
          <p:nvPr/>
        </p:nvSpPr>
        <p:spPr>
          <a:xfrm>
            <a:off x="853440" y="5540578"/>
            <a:ext cx="7308540" cy="492252"/>
          </a:xfrm>
          <a:prstGeom prst="rect">
            <a:avLst/>
          </a:prstGeom>
          <a:noFill/>
        </p:spPr>
        <p:txBody>
          <a:bodyPr wrap="none" anchor="t" lIns="0" rIns="0" tIns="0" bIns="0">
            <a:noAutofit/>
          </a:bodyPr>
          <a:lstStyle/>
          <a:p>
            <a:pPr algn="l" eaLnBrk="0" latinLnBrk="0">
              <a:lnSpc>
                <a:spcPct val="129167"/>
              </a:lnSpc>
            </a:pPr>
            <a:r>
              <a:rPr sz="1140" b="0">
                <a:solidFill>
                  <a:srgbClr val="FFFFFF"/>
                </a:solidFill>
                <a:latin typeface="Noto Sans KR"/>
                <a:ea typeface="Noto Sans KR"/>
                <a:cs typeface="Noto Sans KR"/>
              </a:rPr>
              <a:t>관측이 없으면 추정하지 않고 «보도 순서»라고 적습니다. 익산처럼 시각 근거가 없으면 사례 목록에는 두되 화면을 잠급니다.</a:t>
            </a:r>
          </a:p>
          <a:p>
            <a:pPr algn="l" eaLnBrk="0" latinLnBrk="0">
              <a:lnSpc>
                <a:spcPct val="129167"/>
              </a:lnSpc>
            </a:pPr>
            <a:r>
              <a:rPr sz="1140" b="0">
                <a:solidFill>
                  <a:srgbClr val="FFFFFF"/>
                </a:solidFill>
                <a:latin typeface="Noto Sans KR"/>
                <a:ea typeface="Noto Sans KR"/>
                <a:cs typeface="Noto Sans KR"/>
              </a:rPr>
              <a:t>관측 강우·수위가 연결되면 포항·안동의 보도 순서 임계를 오송처럼 관측 기준으로 바꿉니다(DQ-012).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1"/>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11</a:t>
            </a:r>
          </a:p>
        </p:txBody>
      </p:sp>
      <p:sp>
        <p:nvSpPr>
          <p:cNvPr id="3" name="글 근거와 한계"/>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근거와 한계</a:t>
            </a:r>
          </a:p>
        </p:txBody>
      </p:sp>
      <p:sp>
        <p:nvSpPr>
          <p:cNvPr id="4" name="글 계산하지 않는 것을 먼저 정했습니다"/>
          <p:cNvSpPr txBox="1"/>
          <p:nvPr/>
        </p:nvSpPr>
        <p:spPr>
          <a:xfrm>
            <a:off x="609600" y="853440"/>
            <a:ext cx="5679948"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계산하지 않는 것을 먼저 정했습니다</a:t>
            </a:r>
          </a:p>
        </p:txBody>
      </p:sp>
      <p:sp>
        <p:nvSpPr>
          <p:cNvPr id="5" name="글 그럴듯한 숫자보다 «왜 못 내는지»를 남기는"/>
          <p:cNvSpPr txBox="1"/>
          <p:nvPr/>
        </p:nvSpPr>
        <p:spPr>
          <a:xfrm>
            <a:off x="609600" y="1409395"/>
            <a:ext cx="4576145"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그럴듯한 숫자보다 «왜 못 내는지»를 남기는 쪽을 택했습니다</a:t>
            </a:r>
          </a:p>
        </p:txBody>
      </p:sp>
      <p:sp>
        <p:nvSpPr>
          <p:cNvPr id="6" name="Rounded Rectangle 5"/>
          <p:cNvSpPr/>
          <p:nvPr/>
        </p:nvSpPr>
        <p:spPr>
          <a:xfrm>
            <a:off x="609600" y="1950720"/>
            <a:ext cx="3489960" cy="3200400"/>
          </a:xfrm>
          <a:prstGeom prst="roundRect">
            <a:avLst>
              <a:gd name="adj" fmla="val 3333"/>
            </a:avLst>
          </a:prstGeom>
          <a:solidFill>
            <a:srgbClr val="F2F5F8"/>
          </a:solidFill>
          <a:ln>
            <a:noFill/>
          </a:ln>
        </p:spPr>
        <p:txBody>
          <a:bodyPr rtlCol="0" anchor="ctr"/>
          <a:lstStyle/>
          <a:p>
            <a:pPr algn="ctr"/>
          </a:p>
        </p:txBody>
      </p:sp>
      <p:sp>
        <p:nvSpPr>
          <p:cNvPr id="7" name="Oval 6"/>
          <p:cNvSpPr/>
          <p:nvPr/>
        </p:nvSpPr>
        <p:spPr>
          <a:xfrm>
            <a:off x="838200" y="2209800"/>
            <a:ext cx="335280" cy="335280"/>
          </a:xfrm>
          <a:prstGeom prst="ellipse">
            <a:avLst/>
          </a:prstGeom>
          <a:solidFill>
            <a:srgbClr val="B42318"/>
          </a:solidFill>
          <a:ln>
            <a:noFill/>
          </a:ln>
        </p:spPr>
        <p:txBody>
          <a:bodyPr rtlCol="0" anchor="ctr"/>
          <a:lstStyle/>
          <a:p>
            <a:pPr algn="ctr"/>
          </a:p>
        </p:txBody>
      </p:sp>
      <p:sp>
        <p:nvSpPr>
          <p:cNvPr id="8" name="글 1"/>
          <p:cNvSpPr txBox="1"/>
          <p:nvPr/>
        </p:nvSpPr>
        <p:spPr>
          <a:xfrm>
            <a:off x="918286" y="227685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1</a:t>
            </a:r>
          </a:p>
        </p:txBody>
      </p:sp>
      <p:sp>
        <p:nvSpPr>
          <p:cNvPr id="9" name="글 노출 지표를 내지 않음"/>
          <p:cNvSpPr txBox="1"/>
          <p:nvPr/>
        </p:nvSpPr>
        <p:spPr>
          <a:xfrm>
            <a:off x="853440" y="2750515"/>
            <a:ext cx="1714988"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노출 지표를 내지 않음</a:t>
            </a:r>
          </a:p>
        </p:txBody>
      </p:sp>
      <p:sp>
        <p:nvSpPr>
          <p:cNvPr id="10" name="Rounded Rectangle 9"/>
          <p:cNvSpPr/>
          <p:nvPr/>
        </p:nvSpPr>
        <p:spPr>
          <a:xfrm>
            <a:off x="853440" y="3078480"/>
            <a:ext cx="1678076" cy="243840"/>
          </a:xfrm>
          <a:prstGeom prst="roundRect">
            <a:avLst>
              <a:gd name="adj" fmla="val 50000"/>
            </a:avLst>
          </a:prstGeom>
          <a:solidFill>
            <a:srgbClr val="FFFFFF"/>
          </a:solidFill>
          <a:ln>
            <a:noFill/>
          </a:ln>
        </p:spPr>
        <p:txBody>
          <a:bodyPr rtlCol="0" anchor="ctr"/>
          <a:lstStyle/>
          <a:p>
            <a:pPr algn="ctr"/>
          </a:p>
        </p:txBody>
      </p:sp>
      <p:sp>
        <p:nvSpPr>
          <p:cNvPr id="11" name="글 PENDING_FLOOD_EXTENT"/>
          <p:cNvSpPr txBox="1"/>
          <p:nvPr/>
        </p:nvSpPr>
        <p:spPr>
          <a:xfrm>
            <a:off x="952500" y="3131820"/>
            <a:ext cx="1556156" cy="171450"/>
          </a:xfrm>
          <a:prstGeom prst="rect">
            <a:avLst/>
          </a:prstGeom>
          <a:noFill/>
        </p:spPr>
        <p:txBody>
          <a:bodyPr wrap="none" anchor="t" lIns="0" rIns="0" tIns="0" bIns="0">
            <a:noAutofit/>
          </a:bodyPr>
          <a:lstStyle/>
          <a:p>
            <a:pPr algn="l" eaLnBrk="0" latinLnBrk="0"/>
            <a:r>
              <a:rPr sz="900" b="1">
                <a:solidFill>
                  <a:srgbClr val="566676"/>
                </a:solidFill>
                <a:latin typeface="Noto Sans KR"/>
                <a:ea typeface="Noto Sans KR"/>
                <a:cs typeface="Noto Sans KR"/>
              </a:rPr>
              <a:t>PENDING_FLOOD_EXTENT</a:t>
            </a:r>
          </a:p>
        </p:txBody>
      </p:sp>
      <p:sp>
        <p:nvSpPr>
          <p:cNvPr id="12" name="글 공식 침수범위(DSSP-IF-00117)가 "/>
          <p:cNvSpPr txBox="1"/>
          <p:nvPr/>
        </p:nvSpPr>
        <p:spPr>
          <a:xfrm>
            <a:off x="853440" y="3477920"/>
            <a:ext cx="3274771" cy="891540"/>
          </a:xfrm>
          <a:prstGeom prst="rect">
            <a:avLst/>
          </a:prstGeom>
          <a:noFill/>
        </p:spPr>
        <p:txBody>
          <a:bodyPr wrap="none" anchor="t" lIns="0" rIns="0" tIns="0" bIns="0">
            <a:noAutofit/>
          </a:bodyPr>
          <a:lstStyle/>
          <a:p>
            <a:pPr algn="l" eaLnBrk="0" latinLnBrk="0">
              <a:lnSpc>
                <a:spcPct val="129167"/>
              </a:lnSpc>
            </a:pPr>
            <a:r>
              <a:rPr sz="1080" b="0">
                <a:solidFill>
                  <a:srgbClr val="566676"/>
                </a:solidFill>
                <a:latin typeface="Noto Sans KR"/>
                <a:ea typeface="Noto Sans KR"/>
                <a:cs typeface="Noto Sans KR"/>
              </a:rPr>
              <a:t>공식 침수범위(DSSP-IF-00117)가 없어 침수 건물</a:t>
            </a:r>
            <a:br/>
            <a:r>
              <a:rPr sz="1080" b="0">
                <a:solidFill>
                  <a:srgbClr val="566676"/>
                </a:solidFill>
                <a:latin typeface="Noto Sans KR"/>
                <a:ea typeface="Noto Sans KR"/>
                <a:cs typeface="Noto Sans KR"/>
              </a:rPr>
              <a:t>수·도로 길이를 산출하지 않습니다. HAND 범위로</a:t>
            </a:r>
            <a:br/>
            <a:r>
              <a:rPr sz="1080" b="0">
                <a:solidFill>
                  <a:srgbClr val="566676"/>
                </a:solidFill>
                <a:latin typeface="Noto Sans KR"/>
                <a:ea typeface="Noto Sans KR"/>
                <a:cs typeface="Noto Sans KR"/>
              </a:rPr>
              <a:t>세면 분석 범위 안 건물의 48.7%가 잡혀 근거로 쓸 수</a:t>
            </a:r>
            <a:br/>
            <a:r>
              <a:rPr sz="1080" b="0">
                <a:solidFill>
                  <a:srgbClr val="566676"/>
                </a:solidFill>
                <a:latin typeface="Noto Sans KR"/>
                <a:ea typeface="Noto Sans KR"/>
                <a:cs typeface="Noto Sans KR"/>
              </a:rPr>
              <a:t>없었습니다.</a:t>
            </a:r>
          </a:p>
        </p:txBody>
      </p:sp>
      <p:sp>
        <p:nvSpPr>
          <p:cNvPr id="13" name="Rounded Rectangle 12"/>
          <p:cNvSpPr/>
          <p:nvPr/>
        </p:nvSpPr>
        <p:spPr>
          <a:xfrm>
            <a:off x="4351020" y="1950720"/>
            <a:ext cx="3489960" cy="3200400"/>
          </a:xfrm>
          <a:prstGeom prst="roundRect">
            <a:avLst>
              <a:gd name="adj" fmla="val 3333"/>
            </a:avLst>
          </a:prstGeom>
          <a:solidFill>
            <a:srgbClr val="F2F5F8"/>
          </a:solidFill>
          <a:ln>
            <a:noFill/>
          </a:ln>
        </p:spPr>
        <p:txBody>
          <a:bodyPr rtlCol="0" anchor="ctr"/>
          <a:lstStyle/>
          <a:p>
            <a:pPr algn="ctr"/>
          </a:p>
        </p:txBody>
      </p:sp>
      <p:sp>
        <p:nvSpPr>
          <p:cNvPr id="14" name="Oval 13"/>
          <p:cNvSpPr/>
          <p:nvPr/>
        </p:nvSpPr>
        <p:spPr>
          <a:xfrm>
            <a:off x="4579620" y="2209800"/>
            <a:ext cx="335280" cy="335280"/>
          </a:xfrm>
          <a:prstGeom prst="ellipse">
            <a:avLst/>
          </a:prstGeom>
          <a:solidFill>
            <a:srgbClr val="B42318"/>
          </a:solidFill>
          <a:ln>
            <a:noFill/>
          </a:ln>
        </p:spPr>
        <p:txBody>
          <a:bodyPr rtlCol="0" anchor="ctr"/>
          <a:lstStyle/>
          <a:p>
            <a:pPr algn="ctr"/>
          </a:p>
        </p:txBody>
      </p:sp>
      <p:sp>
        <p:nvSpPr>
          <p:cNvPr id="15" name="글 2"/>
          <p:cNvSpPr txBox="1"/>
          <p:nvPr/>
        </p:nvSpPr>
        <p:spPr>
          <a:xfrm>
            <a:off x="4659706" y="227685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2</a:t>
            </a:r>
          </a:p>
        </p:txBody>
      </p:sp>
      <p:sp>
        <p:nvSpPr>
          <p:cNvPr id="16" name="글 피해·인명을 묻는 질문은 거절"/>
          <p:cNvSpPr txBox="1"/>
          <p:nvPr/>
        </p:nvSpPr>
        <p:spPr>
          <a:xfrm>
            <a:off x="4594860" y="2750515"/>
            <a:ext cx="2328001"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피해·인명을 묻는 질문은 거절</a:t>
            </a:r>
          </a:p>
        </p:txBody>
      </p:sp>
      <p:sp>
        <p:nvSpPr>
          <p:cNvPr id="17" name="Rounded Rectangle 16"/>
          <p:cNvSpPr/>
          <p:nvPr/>
        </p:nvSpPr>
        <p:spPr>
          <a:xfrm>
            <a:off x="4594860" y="3078480"/>
            <a:ext cx="1067829" cy="243840"/>
          </a:xfrm>
          <a:prstGeom prst="roundRect">
            <a:avLst>
              <a:gd name="adj" fmla="val 50000"/>
            </a:avLst>
          </a:prstGeom>
          <a:solidFill>
            <a:srgbClr val="FFFFFF"/>
          </a:solidFill>
          <a:ln>
            <a:noFill/>
          </a:ln>
        </p:spPr>
        <p:txBody>
          <a:bodyPr rtlCol="0" anchor="ctr"/>
          <a:lstStyle/>
          <a:p>
            <a:pPr algn="ctr"/>
          </a:p>
        </p:txBody>
      </p:sp>
      <p:sp>
        <p:nvSpPr>
          <p:cNvPr id="18" name="글 UNSUPPORTED"/>
          <p:cNvSpPr txBox="1"/>
          <p:nvPr/>
        </p:nvSpPr>
        <p:spPr>
          <a:xfrm>
            <a:off x="4693920" y="3131820"/>
            <a:ext cx="945909" cy="171450"/>
          </a:xfrm>
          <a:prstGeom prst="rect">
            <a:avLst/>
          </a:prstGeom>
          <a:noFill/>
        </p:spPr>
        <p:txBody>
          <a:bodyPr wrap="none" anchor="t" lIns="0" rIns="0" tIns="0" bIns="0">
            <a:noAutofit/>
          </a:bodyPr>
          <a:lstStyle/>
          <a:p>
            <a:pPr algn="l" eaLnBrk="0" latinLnBrk="0"/>
            <a:r>
              <a:rPr sz="900" b="1">
                <a:solidFill>
                  <a:srgbClr val="566676"/>
                </a:solidFill>
                <a:latin typeface="Noto Sans KR"/>
                <a:ea typeface="Noto Sans KR"/>
                <a:cs typeface="Noto Sans KR"/>
              </a:rPr>
              <a:t>UNSUPPORTED</a:t>
            </a:r>
          </a:p>
        </p:txBody>
      </p:sp>
      <p:sp>
        <p:nvSpPr>
          <p:cNvPr id="19" name="글 사망자·피해액·침수심 예측 요청은 Agent"/>
          <p:cNvSpPr txBox="1"/>
          <p:nvPr/>
        </p:nvSpPr>
        <p:spPr>
          <a:xfrm>
            <a:off x="4594860" y="3477920"/>
            <a:ext cx="3274771" cy="678942"/>
          </a:xfrm>
          <a:prstGeom prst="rect">
            <a:avLst/>
          </a:prstGeom>
          <a:noFill/>
        </p:spPr>
        <p:txBody>
          <a:bodyPr wrap="none" anchor="t" lIns="0" rIns="0" tIns="0" bIns="0">
            <a:noAutofit/>
          </a:bodyPr>
          <a:lstStyle/>
          <a:p>
            <a:pPr algn="l" eaLnBrk="0" latinLnBrk="0">
              <a:lnSpc>
                <a:spcPct val="129167"/>
              </a:lnSpc>
            </a:pPr>
            <a:r>
              <a:rPr sz="1080" b="0">
                <a:solidFill>
                  <a:srgbClr val="566676"/>
                </a:solidFill>
                <a:latin typeface="Noto Sans KR"/>
                <a:ea typeface="Noto Sans KR"/>
                <a:cs typeface="Noto Sans KR"/>
              </a:rPr>
              <a:t>사망자·피해액·침수심 예측 요청은 Agent가 모델을</a:t>
            </a:r>
            <a:br/>
            <a:r>
              <a:rPr sz="1080" b="0">
                <a:solidFill>
                  <a:srgbClr val="566676"/>
                </a:solidFill>
                <a:latin typeface="Noto Sans KR"/>
                <a:ea typeface="Noto Sans KR"/>
                <a:cs typeface="Noto Sans KR"/>
              </a:rPr>
              <a:t>부르기 전에 거절하고, 답할 수 있는 인접 질문을 대신</a:t>
            </a:r>
            <a:br/>
            <a:r>
              <a:rPr sz="1080" b="0">
                <a:solidFill>
                  <a:srgbClr val="566676"/>
                </a:solidFill>
                <a:latin typeface="Noto Sans KR"/>
                <a:ea typeface="Noto Sans KR"/>
                <a:cs typeface="Noto Sans KR"/>
              </a:rPr>
              <a:t>제시합니다. 한국어 평가셋 15문항으로 고정했습니다.</a:t>
            </a:r>
          </a:p>
        </p:txBody>
      </p:sp>
      <p:sp>
        <p:nvSpPr>
          <p:cNvPr id="20" name="Rounded Rectangle 19"/>
          <p:cNvSpPr/>
          <p:nvPr/>
        </p:nvSpPr>
        <p:spPr>
          <a:xfrm>
            <a:off x="8092440" y="1950720"/>
            <a:ext cx="3489960" cy="3200400"/>
          </a:xfrm>
          <a:prstGeom prst="roundRect">
            <a:avLst>
              <a:gd name="adj" fmla="val 3333"/>
            </a:avLst>
          </a:prstGeom>
          <a:solidFill>
            <a:srgbClr val="F2F5F8"/>
          </a:solidFill>
          <a:ln>
            <a:noFill/>
          </a:ln>
        </p:spPr>
        <p:txBody>
          <a:bodyPr rtlCol="0" anchor="ctr"/>
          <a:lstStyle/>
          <a:p>
            <a:pPr algn="ctr"/>
          </a:p>
        </p:txBody>
      </p:sp>
      <p:sp>
        <p:nvSpPr>
          <p:cNvPr id="21" name="Oval 20"/>
          <p:cNvSpPr/>
          <p:nvPr/>
        </p:nvSpPr>
        <p:spPr>
          <a:xfrm>
            <a:off x="8321040" y="2209800"/>
            <a:ext cx="335280" cy="335280"/>
          </a:xfrm>
          <a:prstGeom prst="ellipse">
            <a:avLst/>
          </a:prstGeom>
          <a:solidFill>
            <a:srgbClr val="B7791F"/>
          </a:solidFill>
          <a:ln>
            <a:noFill/>
          </a:ln>
        </p:spPr>
        <p:txBody>
          <a:bodyPr rtlCol="0" anchor="ctr"/>
          <a:lstStyle/>
          <a:p>
            <a:pPr algn="ctr"/>
          </a:p>
        </p:txBody>
      </p:sp>
      <p:sp>
        <p:nvSpPr>
          <p:cNvPr id="22" name="글 3"/>
          <p:cNvSpPr txBox="1"/>
          <p:nvPr/>
        </p:nvSpPr>
        <p:spPr>
          <a:xfrm>
            <a:off x="8401126" y="227685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3</a:t>
            </a:r>
          </a:p>
        </p:txBody>
      </p:sp>
      <p:sp>
        <p:nvSpPr>
          <p:cNvPr id="23" name="글 지형 띠는 근거로 쓰지 않음"/>
          <p:cNvSpPr txBox="1"/>
          <p:nvPr/>
        </p:nvSpPr>
        <p:spPr>
          <a:xfrm>
            <a:off x="8336280" y="2750515"/>
            <a:ext cx="2093001"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지형 띠는 근거로 쓰지 않음</a:t>
            </a:r>
          </a:p>
        </p:txBody>
      </p:sp>
      <p:sp>
        <p:nvSpPr>
          <p:cNvPr id="24" name="Rounded Rectangle 23"/>
          <p:cNvSpPr/>
          <p:nvPr/>
        </p:nvSpPr>
        <p:spPr>
          <a:xfrm>
            <a:off x="8336280" y="3078480"/>
            <a:ext cx="612343" cy="243840"/>
          </a:xfrm>
          <a:prstGeom prst="roundRect">
            <a:avLst>
              <a:gd name="adj" fmla="val 50000"/>
            </a:avLst>
          </a:prstGeom>
          <a:solidFill>
            <a:srgbClr val="FFFFFF"/>
          </a:solidFill>
          <a:ln>
            <a:noFill/>
          </a:ln>
        </p:spPr>
        <p:txBody>
          <a:bodyPr rtlCol="0" anchor="ctr"/>
          <a:lstStyle/>
          <a:p>
            <a:pPr algn="ctr"/>
          </a:p>
        </p:txBody>
      </p:sp>
      <p:sp>
        <p:nvSpPr>
          <p:cNvPr id="25" name="글 DQ-012"/>
          <p:cNvSpPr txBox="1"/>
          <p:nvPr/>
        </p:nvSpPr>
        <p:spPr>
          <a:xfrm>
            <a:off x="8435340" y="3131820"/>
            <a:ext cx="490423" cy="171450"/>
          </a:xfrm>
          <a:prstGeom prst="rect">
            <a:avLst/>
          </a:prstGeom>
          <a:noFill/>
        </p:spPr>
        <p:txBody>
          <a:bodyPr wrap="none" anchor="t" lIns="0" rIns="0" tIns="0" bIns="0">
            <a:noAutofit/>
          </a:bodyPr>
          <a:lstStyle/>
          <a:p>
            <a:pPr algn="l" eaLnBrk="0" latinLnBrk="0"/>
            <a:r>
              <a:rPr sz="900" b="1">
                <a:solidFill>
                  <a:srgbClr val="566676"/>
                </a:solidFill>
                <a:latin typeface="Noto Sans KR"/>
                <a:ea typeface="Noto Sans KR"/>
                <a:cs typeface="Noto Sans KR"/>
              </a:rPr>
              <a:t>DQ-012</a:t>
            </a:r>
          </a:p>
        </p:txBody>
      </p:sp>
      <p:sp>
        <p:nvSpPr>
          <p:cNvPr id="26" name="글 서울의 지형 띠를 공식 침수흔적과 대조하니 "/>
          <p:cNvSpPr txBox="1"/>
          <p:nvPr/>
        </p:nvSpPr>
        <p:spPr>
          <a:xfrm>
            <a:off x="8336280" y="3477920"/>
            <a:ext cx="3274771" cy="891540"/>
          </a:xfrm>
          <a:prstGeom prst="rect">
            <a:avLst/>
          </a:prstGeom>
          <a:noFill/>
        </p:spPr>
        <p:txBody>
          <a:bodyPr wrap="none" anchor="t" lIns="0" rIns="0" tIns="0" bIns="0">
            <a:noAutofit/>
          </a:bodyPr>
          <a:lstStyle/>
          <a:p>
            <a:pPr algn="l" eaLnBrk="0" latinLnBrk="0">
              <a:lnSpc>
                <a:spcPct val="129167"/>
              </a:lnSpc>
            </a:pPr>
            <a:r>
              <a:rPr sz="1080" b="0">
                <a:solidFill>
                  <a:srgbClr val="566676"/>
                </a:solidFill>
                <a:latin typeface="Noto Sans KR"/>
                <a:ea typeface="Noto Sans KR"/>
                <a:cs typeface="Noto Sans KR"/>
              </a:rPr>
              <a:t>서울의 지형 띠를 공식 침수흔적과 대조하니 임계와</a:t>
            </a:r>
            <a:br/>
            <a:r>
              <a:rPr sz="1080" b="0">
                <a:solidFill>
                  <a:srgbClr val="566676"/>
                </a:solidFill>
                <a:latin typeface="Noto Sans KR"/>
                <a:ea typeface="Noto Sans KR"/>
                <a:cs typeface="Noto Sans KR"/>
              </a:rPr>
              <a:t>거리를 어떻게 바꿔도 14~16%만 흔적 위에 있어 회랑</a:t>
            </a:r>
            <a:br/>
            <a:r>
              <a:rPr sz="1080" b="0">
                <a:solidFill>
                  <a:srgbClr val="566676"/>
                </a:solidFill>
                <a:latin typeface="Noto Sans KR"/>
                <a:ea typeface="Noto Sans KR"/>
                <a:cs typeface="Noto Sans KR"/>
              </a:rPr>
              <a:t>평균과 같았습니다. 그래서 띠는 재생용 도식으로만</a:t>
            </a:r>
            <a:br/>
            <a:r>
              <a:rPr sz="1080" b="0">
                <a:solidFill>
                  <a:srgbClr val="566676"/>
                </a:solidFill>
                <a:latin typeface="Noto Sans KR"/>
                <a:ea typeface="Noto Sans KR"/>
                <a:cs typeface="Noto Sans KR"/>
              </a:rPr>
              <a:t>두고, 침수 근거는 공식 흔적도만 씁니다.</a:t>
            </a:r>
          </a:p>
        </p:txBody>
      </p:sp>
      <p:sp>
        <p:nvSpPr>
          <p:cNvPr id="27" name="Rounded Rectangle 26"/>
          <p:cNvSpPr/>
          <p:nvPr/>
        </p:nvSpPr>
        <p:spPr>
          <a:xfrm>
            <a:off x="609600" y="5394960"/>
            <a:ext cx="10972800" cy="914400"/>
          </a:xfrm>
          <a:prstGeom prst="roundRect">
            <a:avLst>
              <a:gd name="adj" fmla="val 11666"/>
            </a:avLst>
          </a:prstGeom>
          <a:solidFill>
            <a:srgbClr val="E1F2EF"/>
          </a:solidFill>
          <a:ln>
            <a:noFill/>
          </a:ln>
        </p:spPr>
        <p:txBody>
          <a:bodyPr rtlCol="0" anchor="ctr"/>
          <a:lstStyle/>
          <a:p>
            <a:pPr algn="ctr"/>
          </a:p>
        </p:txBody>
      </p:sp>
      <p:sp>
        <p:nvSpPr>
          <p:cNvPr id="28" name="글 대신 남기는 것"/>
          <p:cNvSpPr txBox="1"/>
          <p:nvPr/>
        </p:nvSpPr>
        <p:spPr>
          <a:xfrm>
            <a:off x="853440" y="5591251"/>
            <a:ext cx="941116"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대신 남기는 것</a:t>
            </a:r>
          </a:p>
        </p:txBody>
      </p:sp>
      <p:sp>
        <p:nvSpPr>
          <p:cNvPr id="29" name="글 자료 품질 이슈 12건(DQ-001~012)"/>
          <p:cNvSpPr txBox="1"/>
          <p:nvPr/>
        </p:nvSpPr>
        <p:spPr>
          <a:xfrm>
            <a:off x="853440" y="5888736"/>
            <a:ext cx="8661044" cy="228600"/>
          </a:xfrm>
          <a:prstGeom prst="rect">
            <a:avLst/>
          </a:prstGeom>
          <a:noFill/>
        </p:spPr>
        <p:txBody>
          <a:bodyPr wrap="none" anchor="t" lIns="0" rIns="0" tIns="0" bIns="0">
            <a:noAutofit/>
          </a:bodyPr>
          <a:lstStyle/>
          <a:p>
            <a:pPr algn="l" eaLnBrk="0" latinLnBrk="0"/>
            <a:r>
              <a:rPr sz="1200" b="0">
                <a:solidFill>
                  <a:srgbClr val="0F1E2E"/>
                </a:solidFill>
                <a:latin typeface="Noto Sans KR"/>
                <a:ea typeface="Noto Sans KR"/>
                <a:cs typeface="Noto Sans KR"/>
              </a:rPr>
              <a:t>자료 품질 이슈 12건(DQ-001~012)을 문서로 관리하고, API 응답과 화면에 status·source_type·coverage_status 를 함께 돌려줍니다.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2"/>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12</a:t>
            </a:r>
          </a:p>
        </p:txBody>
      </p:sp>
      <p:sp>
        <p:nvSpPr>
          <p:cNvPr id="3" name="글 근거와 한계 · 화면 출처·한계"/>
          <p:cNvSpPr txBox="1"/>
          <p:nvPr/>
        </p:nvSpPr>
        <p:spPr>
          <a:xfrm>
            <a:off x="896112" y="509016"/>
            <a:ext cx="1926031"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근거와 한계 · 화면 출처·한계</a:t>
            </a:r>
          </a:p>
        </p:txBody>
      </p:sp>
      <p:sp>
        <p:nvSpPr>
          <p:cNvPr id="4" name="글 출처·자료 시점·역할·한계를 한 화면에 둡니"/>
          <p:cNvSpPr txBox="1"/>
          <p:nvPr/>
        </p:nvSpPr>
        <p:spPr>
          <a:xfrm>
            <a:off x="609600" y="853440"/>
            <a:ext cx="7408164"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출처·자료 시점·역할·한계를 한 화면에 둡니다</a:t>
            </a:r>
          </a:p>
        </p:txBody>
      </p:sp>
      <p:sp>
        <p:nvSpPr>
          <p:cNvPr id="5" name="글 결과를 보여주는 화면마다 «무엇을 계산하지 "/>
          <p:cNvSpPr txBox="1"/>
          <p:nvPr/>
        </p:nvSpPr>
        <p:spPr>
          <a:xfrm>
            <a:off x="609600" y="1409395"/>
            <a:ext cx="5249144"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결과를 보여주는 화면마다 «무엇을 계산하지 않는가»가 함께 보입니다</a:t>
            </a:r>
          </a:p>
        </p:txBody>
      </p:sp>
      <p:sp>
        <p:nvSpPr>
          <p:cNvPr id="6" name="Rounded Rectangle 5"/>
          <p:cNvSpPr/>
          <p:nvPr/>
        </p:nvSpPr>
        <p:spPr>
          <a:xfrm>
            <a:off x="563880" y="1950720"/>
            <a:ext cx="7711440" cy="4377690"/>
          </a:xfrm>
          <a:prstGeom prst="roundRect">
            <a:avLst>
              <a:gd name="adj" fmla="val 1740"/>
            </a:avLst>
          </a:prstGeom>
          <a:solidFill>
            <a:srgbClr val="E3E9EF"/>
          </a:solidFill>
          <a:ln>
            <a:noFill/>
          </a:ln>
        </p:spPr>
        <p:txBody>
          <a:bodyPr rtlCol="0" anchor="ctr"/>
          <a:lstStyle/>
          <a:p>
            <a:pPr algn="ctr"/>
          </a:p>
        </p:txBody>
      </p:sp>
      <p:sp>
        <p:nvSpPr>
          <p:cNvPr id="7" name="Rounded Rectangle 6"/>
          <p:cNvSpPr/>
          <p:nvPr/>
        </p:nvSpPr>
        <p:spPr>
          <a:xfrm>
            <a:off x="609600" y="1996440"/>
            <a:ext cx="7620000" cy="4286250"/>
          </a:xfrm>
          <a:prstGeom prst="roundRect">
            <a:avLst>
              <a:gd name="adj" fmla="val 711"/>
            </a:avLst>
          </a:prstGeom>
          <a:solidFill>
            <a:srgbClr val="0B1B2B"/>
          </a:solidFill>
          <a:ln>
            <a:noFill/>
          </a:ln>
        </p:spPr>
        <p:txBody>
          <a:bodyPr rtlCol="0" anchor="ctr"/>
          <a:lstStyle/>
          <a:p>
            <a:pPr algn="ctr"/>
          </a:p>
        </p:txBody>
      </p:sp>
      <p:sp>
        <p:nvSpPr>
          <p:cNvPr id="8" name="Oval 7"/>
          <p:cNvSpPr/>
          <p:nvPr/>
        </p:nvSpPr>
        <p:spPr>
          <a:xfrm>
            <a:off x="8549640" y="2057400"/>
            <a:ext cx="274320" cy="274320"/>
          </a:xfrm>
          <a:prstGeom prst="ellipse">
            <a:avLst/>
          </a:prstGeom>
          <a:solidFill>
            <a:srgbClr val="0B8577"/>
          </a:solidFill>
          <a:ln>
            <a:noFill/>
          </a:ln>
        </p:spPr>
        <p:txBody>
          <a:bodyPr rtlCol="0" anchor="ctr"/>
          <a:lstStyle/>
          <a:p>
            <a:pPr algn="ctr"/>
          </a:p>
        </p:txBody>
      </p:sp>
      <p:sp>
        <p:nvSpPr>
          <p:cNvPr id="9" name="글 1"/>
          <p:cNvSpPr txBox="1"/>
          <p:nvPr/>
        </p:nvSpPr>
        <p:spPr>
          <a:xfrm>
            <a:off x="8608238" y="21122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1</a:t>
            </a:r>
          </a:p>
        </p:txBody>
      </p:sp>
      <p:sp>
        <p:nvSpPr>
          <p:cNvPr id="10" name="글 자료별 출처와 쓰임"/>
          <p:cNvSpPr txBox="1"/>
          <p:nvPr/>
        </p:nvSpPr>
        <p:spPr>
          <a:xfrm>
            <a:off x="8930640" y="2094586"/>
            <a:ext cx="1386139"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자료별 출처와 쓰임</a:t>
            </a:r>
          </a:p>
        </p:txBody>
      </p:sp>
      <p:sp>
        <p:nvSpPr>
          <p:cNvPr id="11" name="글 7개 자료의 역할·출처·자료 시점"/>
          <p:cNvSpPr txBox="1"/>
          <p:nvPr/>
        </p:nvSpPr>
        <p:spPr>
          <a:xfrm>
            <a:off x="8930640" y="23486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7개 자료의 역할·출처·자료 시점</a:t>
            </a:r>
          </a:p>
        </p:txBody>
      </p:sp>
      <p:sp>
        <p:nvSpPr>
          <p:cNvPr id="12" name="Oval 11"/>
          <p:cNvSpPr/>
          <p:nvPr/>
        </p:nvSpPr>
        <p:spPr>
          <a:xfrm>
            <a:off x="8549640" y="2895600"/>
            <a:ext cx="274320" cy="274320"/>
          </a:xfrm>
          <a:prstGeom prst="ellipse">
            <a:avLst/>
          </a:prstGeom>
          <a:solidFill>
            <a:srgbClr val="0B8577"/>
          </a:solidFill>
          <a:ln>
            <a:noFill/>
          </a:ln>
        </p:spPr>
        <p:txBody>
          <a:bodyPr rtlCol="0" anchor="ctr"/>
          <a:lstStyle/>
          <a:p>
            <a:pPr algn="ctr"/>
          </a:p>
        </p:txBody>
      </p:sp>
      <p:sp>
        <p:nvSpPr>
          <p:cNvPr id="13" name="글 2"/>
          <p:cNvSpPr txBox="1"/>
          <p:nvPr/>
        </p:nvSpPr>
        <p:spPr>
          <a:xfrm>
            <a:off x="8608238" y="29504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2</a:t>
            </a:r>
          </a:p>
        </p:txBody>
      </p:sp>
      <p:sp>
        <p:nvSpPr>
          <p:cNvPr id="14" name="글 사건 연도와 자료 시점 분리"/>
          <p:cNvSpPr txBox="1"/>
          <p:nvPr/>
        </p:nvSpPr>
        <p:spPr>
          <a:xfrm>
            <a:off x="8930640" y="2932786"/>
            <a:ext cx="1924934"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사건 연도와 자료 시점 분리</a:t>
            </a:r>
          </a:p>
        </p:txBody>
      </p:sp>
      <p:sp>
        <p:nvSpPr>
          <p:cNvPr id="15" name="글 2023년 사건에 2023-07 건물, 20"/>
          <p:cNvSpPr txBox="1"/>
          <p:nvPr/>
        </p:nvSpPr>
        <p:spPr>
          <a:xfrm>
            <a:off x="8930640" y="31868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2023년 사건에 2023-07 건물, 2026 OSM</a:t>
            </a:r>
          </a:p>
        </p:txBody>
      </p:sp>
      <p:sp>
        <p:nvSpPr>
          <p:cNvPr id="16" name="Oval 15"/>
          <p:cNvSpPr/>
          <p:nvPr/>
        </p:nvSpPr>
        <p:spPr>
          <a:xfrm>
            <a:off x="8549640" y="3733800"/>
            <a:ext cx="274320" cy="274320"/>
          </a:xfrm>
          <a:prstGeom prst="ellipse">
            <a:avLst/>
          </a:prstGeom>
          <a:solidFill>
            <a:srgbClr val="0B8577"/>
          </a:solidFill>
          <a:ln>
            <a:noFill/>
          </a:ln>
        </p:spPr>
        <p:txBody>
          <a:bodyPr rtlCol="0" anchor="ctr"/>
          <a:lstStyle/>
          <a:p>
            <a:pPr algn="ctr"/>
          </a:p>
        </p:txBody>
      </p:sp>
      <p:sp>
        <p:nvSpPr>
          <p:cNvPr id="17" name="글 3"/>
          <p:cNvSpPr txBox="1"/>
          <p:nvPr/>
        </p:nvSpPr>
        <p:spPr>
          <a:xfrm>
            <a:off x="8608238" y="37886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3</a:t>
            </a:r>
          </a:p>
        </p:txBody>
      </p:sp>
      <p:sp>
        <p:nvSpPr>
          <p:cNvPr id="18" name="글 재구성의 한계 5개"/>
          <p:cNvSpPr txBox="1"/>
          <p:nvPr/>
        </p:nvSpPr>
        <p:spPr>
          <a:xfrm>
            <a:off x="8930640" y="3770986"/>
            <a:ext cx="1330818"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재구성의 한계 5개</a:t>
            </a:r>
          </a:p>
        </p:txBody>
      </p:sp>
      <p:sp>
        <p:nvSpPr>
          <p:cNvPr id="19" name="글 공식 범위·수리해석 아님, 원문 쪽수"/>
          <p:cNvSpPr txBox="1"/>
          <p:nvPr/>
        </p:nvSpPr>
        <p:spPr>
          <a:xfrm>
            <a:off x="8930640" y="40250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공식 범위·수리해석 아님, 원문 쪽수</a:t>
            </a:r>
          </a:p>
        </p:txBody>
      </p:sp>
      <p:sp>
        <p:nvSpPr>
          <p:cNvPr id="20" name="Oval 19"/>
          <p:cNvSpPr/>
          <p:nvPr/>
        </p:nvSpPr>
        <p:spPr>
          <a:xfrm>
            <a:off x="8549640" y="4572000"/>
            <a:ext cx="274320" cy="274320"/>
          </a:xfrm>
          <a:prstGeom prst="ellipse">
            <a:avLst/>
          </a:prstGeom>
          <a:solidFill>
            <a:srgbClr val="0B8577"/>
          </a:solidFill>
          <a:ln>
            <a:noFill/>
          </a:ln>
        </p:spPr>
        <p:txBody>
          <a:bodyPr rtlCol="0" anchor="ctr"/>
          <a:lstStyle/>
          <a:p>
            <a:pPr algn="ctr"/>
          </a:p>
        </p:txBody>
      </p:sp>
      <p:sp>
        <p:nvSpPr>
          <p:cNvPr id="21" name="글 4"/>
          <p:cNvSpPr txBox="1"/>
          <p:nvPr/>
        </p:nvSpPr>
        <p:spPr>
          <a:xfrm>
            <a:off x="8608238" y="46268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4</a:t>
            </a:r>
          </a:p>
        </p:txBody>
      </p:sp>
      <p:sp>
        <p:nvSpPr>
          <p:cNvPr id="22" name="글 단계마다 확신도"/>
          <p:cNvSpPr txBox="1"/>
          <p:nvPr/>
        </p:nvSpPr>
        <p:spPr>
          <a:xfrm>
            <a:off x="8930640" y="4609186"/>
            <a:ext cx="1193856"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단계마다 확신도</a:t>
            </a:r>
          </a:p>
        </p:txBody>
      </p:sp>
      <p:sp>
        <p:nvSpPr>
          <p:cNvPr id="23" name="글 관측 · 공식 · 보도 · CCTV · 예측"/>
          <p:cNvSpPr txBox="1"/>
          <p:nvPr/>
        </p:nvSpPr>
        <p:spPr>
          <a:xfrm>
            <a:off x="8930640" y="48632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관측 · 공식 · 보도 · CCTV · 예측</a:t>
            </a:r>
          </a:p>
        </p:txBody>
      </p:sp>
      <p:sp>
        <p:nvSpPr>
          <p:cNvPr id="24" name="Oval 23"/>
          <p:cNvSpPr/>
          <p:nvPr/>
        </p:nvSpPr>
        <p:spPr>
          <a:xfrm>
            <a:off x="8549640" y="5410200"/>
            <a:ext cx="274320" cy="274320"/>
          </a:xfrm>
          <a:prstGeom prst="ellipse">
            <a:avLst/>
          </a:prstGeom>
          <a:solidFill>
            <a:srgbClr val="0B8577"/>
          </a:solidFill>
          <a:ln>
            <a:noFill/>
          </a:ln>
        </p:spPr>
        <p:txBody>
          <a:bodyPr rtlCol="0" anchor="ctr"/>
          <a:lstStyle/>
          <a:p>
            <a:pPr algn="ctr"/>
          </a:p>
        </p:txBody>
      </p:sp>
      <p:sp>
        <p:nvSpPr>
          <p:cNvPr id="25" name="글 5"/>
          <p:cNvSpPr txBox="1"/>
          <p:nvPr/>
        </p:nvSpPr>
        <p:spPr>
          <a:xfrm>
            <a:off x="8608238" y="54650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5</a:t>
            </a:r>
          </a:p>
        </p:txBody>
      </p:sp>
      <p:sp>
        <p:nvSpPr>
          <p:cNvPr id="26" name="글 API도 같은 상태값"/>
          <p:cNvSpPr txBox="1"/>
          <p:nvPr/>
        </p:nvSpPr>
        <p:spPr>
          <a:xfrm>
            <a:off x="8930640" y="5447386"/>
            <a:ext cx="1352276"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API도 같은 상태값</a:t>
            </a:r>
          </a:p>
        </p:txBody>
      </p:sp>
      <p:sp>
        <p:nvSpPr>
          <p:cNvPr id="27" name="글 status · source_type · c"/>
          <p:cNvSpPr txBox="1"/>
          <p:nvPr/>
        </p:nvSpPr>
        <p:spPr>
          <a:xfrm>
            <a:off x="8930640" y="57014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status · source_type · coverage_status</a:t>
            </a:r>
          </a:p>
        </p:txBody>
      </p:sp>
      <p:pic>
        <p:nvPicPr>
          <p:cNvPr id="28" name="화면 캡처 1" descr="12-provenance-0.png"/>
          <p:cNvPicPr>
            <a:picLocks noChangeAspect="1"/>
          </p:cNvPicPr>
          <p:nvPr/>
        </p:nvPicPr>
        <p:blipFill>
          <a:blip r:embed="rId2"/>
          <a:stretch>
            <a:fillRect/>
          </a:stretch>
        </p:blipFill>
        <p:spPr>
          <a:xfrm>
            <a:off x="609600" y="1996440"/>
            <a:ext cx="7620000" cy="428625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3"/>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13</a:t>
            </a:r>
          </a:p>
        </p:txBody>
      </p:sp>
      <p:sp>
        <p:nvSpPr>
          <p:cNvPr id="3" name="글 근거와 한계 · Agent"/>
          <p:cNvSpPr txBox="1"/>
          <p:nvPr/>
        </p:nvSpPr>
        <p:spPr>
          <a:xfrm>
            <a:off x="896112" y="509016"/>
            <a:ext cx="1378610"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근거와 한계 · Agent</a:t>
            </a:r>
          </a:p>
        </p:txBody>
      </p:sp>
      <p:sp>
        <p:nvSpPr>
          <p:cNvPr id="4" name="글 Agent는 계산하지 않고, 등록된 도구를 "/>
          <p:cNvSpPr txBox="1"/>
          <p:nvPr/>
        </p:nvSpPr>
        <p:spPr>
          <a:xfrm>
            <a:off x="609600" y="853440"/>
            <a:ext cx="7688961"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Agent는 계산하지 않고, 등록된 도구를 고릅니다</a:t>
            </a:r>
          </a:p>
        </p:txBody>
      </p:sp>
      <p:sp>
        <p:nvSpPr>
          <p:cNvPr id="5" name="글 수치는 전부 결정론 함수가 내고, 모델은 도"/>
          <p:cNvSpPr txBox="1"/>
          <p:nvPr/>
        </p:nvSpPr>
        <p:spPr>
          <a:xfrm>
            <a:off x="609600" y="1409395"/>
            <a:ext cx="5748406"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수치는 전부 결정론 함수가 내고, 모델은 도구 선택·값 추출·설명만 맡습니다</a:t>
            </a:r>
          </a:p>
        </p:txBody>
      </p:sp>
      <p:sp>
        <p:nvSpPr>
          <p:cNvPr id="6" name="Rounded Rectangle 5"/>
          <p:cNvSpPr/>
          <p:nvPr/>
        </p:nvSpPr>
        <p:spPr>
          <a:xfrm>
            <a:off x="609600" y="1996440"/>
            <a:ext cx="1691640" cy="899160"/>
          </a:xfrm>
          <a:prstGeom prst="roundRect">
            <a:avLst>
              <a:gd name="adj" fmla="val 10169"/>
            </a:avLst>
          </a:prstGeom>
          <a:solidFill>
            <a:srgbClr val="F2F5F8"/>
          </a:solidFill>
          <a:ln>
            <a:noFill/>
          </a:ln>
        </p:spPr>
        <p:txBody>
          <a:bodyPr rtlCol="0" anchor="ctr"/>
          <a:lstStyle/>
          <a:p>
            <a:pPr algn="ctr"/>
          </a:p>
        </p:txBody>
      </p:sp>
      <p:sp>
        <p:nvSpPr>
          <p:cNvPr id="7" name="글 질문"/>
          <p:cNvSpPr txBox="1"/>
          <p:nvPr/>
        </p:nvSpPr>
        <p:spPr>
          <a:xfrm>
            <a:off x="762000" y="2162861"/>
            <a:ext cx="370637" cy="240030"/>
          </a:xfrm>
          <a:prstGeom prst="rect">
            <a:avLst/>
          </a:prstGeom>
          <a:noFill/>
        </p:spPr>
        <p:txBody>
          <a:bodyPr wrap="none" anchor="t" lIns="0" rIns="0" tIns="0" bIns="0">
            <a:noAutofit/>
          </a:bodyPr>
          <a:lstStyle/>
          <a:p>
            <a:pPr algn="l" eaLnBrk="0" latinLnBrk="0"/>
            <a:r>
              <a:rPr sz="1260" b="1">
                <a:solidFill>
                  <a:srgbClr val="0F1E2E"/>
                </a:solidFill>
                <a:latin typeface="Noto Sans KR"/>
                <a:ea typeface="Noto Sans KR"/>
                <a:cs typeface="Noto Sans KR"/>
              </a:rPr>
              <a:t>질문</a:t>
            </a:r>
          </a:p>
        </p:txBody>
      </p:sp>
      <p:sp>
        <p:nvSpPr>
          <p:cNvPr id="8" name="글 자연어 · 사건 선택"/>
          <p:cNvSpPr txBox="1"/>
          <p:nvPr/>
        </p:nvSpPr>
        <p:spPr>
          <a:xfrm>
            <a:off x="762000" y="2412492"/>
            <a:ext cx="953224" cy="194310"/>
          </a:xfrm>
          <a:prstGeom prst="rect">
            <a:avLst/>
          </a:prstGeom>
          <a:noFill/>
        </p:spPr>
        <p:txBody>
          <a:bodyPr wrap="none" anchor="t" lIns="0" rIns="0" tIns="0" bIns="0">
            <a:noAutofit/>
          </a:bodyPr>
          <a:lstStyle/>
          <a:p>
            <a:pPr algn="l" eaLnBrk="0" latinLnBrk="0">
              <a:lnSpc>
                <a:spcPct val="116667"/>
              </a:lnSpc>
            </a:pPr>
            <a:r>
              <a:rPr sz="900" b="0">
                <a:solidFill>
                  <a:srgbClr val="566676"/>
                </a:solidFill>
                <a:latin typeface="Noto Sans KR"/>
                <a:ea typeface="Noto Sans KR"/>
                <a:cs typeface="Noto Sans KR"/>
              </a:rPr>
              <a:t>자연어 · 사건 선택</a:t>
            </a:r>
          </a:p>
        </p:txBody>
      </p:sp>
      <p:cxnSp>
        <p:nvCxnSpPr>
          <p:cNvPr id="9" name="Connector 8"/>
          <p:cNvCxnSpPr/>
          <p:nvPr/>
        </p:nvCxnSpPr>
        <p:spPr>
          <a:xfrm>
            <a:off x="2331720" y="2446020"/>
            <a:ext cx="106680" cy="0"/>
          </a:xfrm>
          <a:prstGeom prst="line">
            <a:avLst/>
          </a:prstGeom>
          <a:ln w="19050">
            <a:solidFill>
              <a:srgbClr val="8494A3"/>
            </a:solidFill>
            <a:tailEnd type="triangle" w="med" len="med"/>
          </a:ln>
        </p:spPr>
      </p:cxnSp>
      <p:sp>
        <p:nvSpPr>
          <p:cNvPr id="10" name="Rounded Rectangle 9"/>
          <p:cNvSpPr/>
          <p:nvPr/>
        </p:nvSpPr>
        <p:spPr>
          <a:xfrm>
            <a:off x="2461260" y="1996440"/>
            <a:ext cx="1691640" cy="899160"/>
          </a:xfrm>
          <a:prstGeom prst="roundRect">
            <a:avLst>
              <a:gd name="adj" fmla="val 10169"/>
            </a:avLst>
          </a:prstGeom>
          <a:solidFill>
            <a:srgbClr val="FBEAE8"/>
          </a:solidFill>
          <a:ln>
            <a:noFill/>
          </a:ln>
        </p:spPr>
        <p:txBody>
          <a:bodyPr rtlCol="0" anchor="ctr"/>
          <a:lstStyle/>
          <a:p>
            <a:pPr algn="ctr"/>
          </a:p>
        </p:txBody>
      </p:sp>
      <p:sp>
        <p:nvSpPr>
          <p:cNvPr id="11" name="글 거부 게이트"/>
          <p:cNvSpPr txBox="1"/>
          <p:nvPr/>
        </p:nvSpPr>
        <p:spPr>
          <a:xfrm>
            <a:off x="2613660" y="2162861"/>
            <a:ext cx="848617" cy="240030"/>
          </a:xfrm>
          <a:prstGeom prst="rect">
            <a:avLst/>
          </a:prstGeom>
          <a:noFill/>
        </p:spPr>
        <p:txBody>
          <a:bodyPr wrap="none" anchor="t" lIns="0" rIns="0" tIns="0" bIns="0">
            <a:noAutofit/>
          </a:bodyPr>
          <a:lstStyle/>
          <a:p>
            <a:pPr algn="l" eaLnBrk="0" latinLnBrk="0"/>
            <a:r>
              <a:rPr sz="1260" b="1">
                <a:solidFill>
                  <a:srgbClr val="B42318"/>
                </a:solidFill>
                <a:latin typeface="Noto Sans KR"/>
                <a:ea typeface="Noto Sans KR"/>
                <a:cs typeface="Noto Sans KR"/>
              </a:rPr>
              <a:t>거부 게이트</a:t>
            </a:r>
          </a:p>
        </p:txBody>
      </p:sp>
      <p:sp>
        <p:nvSpPr>
          <p:cNvPr id="12" name="글 사망자·피해액·예측은 모델 전"/>
          <p:cNvSpPr txBox="1"/>
          <p:nvPr/>
        </p:nvSpPr>
        <p:spPr>
          <a:xfrm>
            <a:off x="2613660" y="2412492"/>
            <a:ext cx="1517523" cy="354330"/>
          </a:xfrm>
          <a:prstGeom prst="rect">
            <a:avLst/>
          </a:prstGeom>
          <a:noFill/>
        </p:spPr>
        <p:txBody>
          <a:bodyPr wrap="none" anchor="t" lIns="0" rIns="0" tIns="0" bIns="0">
            <a:noAutofit/>
          </a:bodyPr>
          <a:lstStyle/>
          <a:p>
            <a:pPr algn="l" eaLnBrk="0" latinLnBrk="0">
              <a:lnSpc>
                <a:spcPct val="116667"/>
              </a:lnSpc>
            </a:pPr>
            <a:r>
              <a:rPr sz="900" b="0">
                <a:solidFill>
                  <a:srgbClr val="566676"/>
                </a:solidFill>
                <a:latin typeface="Noto Sans KR"/>
                <a:ea typeface="Noto Sans KR"/>
                <a:cs typeface="Noto Sans KR"/>
              </a:rPr>
              <a:t>사망자·피해액·예측은 모델 전</a:t>
            </a:r>
          </a:p>
          <a:p>
            <a:pPr algn="l" eaLnBrk="0" latinLnBrk="0">
              <a:lnSpc>
                <a:spcPct val="116667"/>
              </a:lnSpc>
            </a:pPr>
            <a:r>
              <a:rPr sz="900" b="0">
                <a:solidFill>
                  <a:srgbClr val="566676"/>
                </a:solidFill>
                <a:latin typeface="Noto Sans KR"/>
                <a:ea typeface="Noto Sans KR"/>
                <a:cs typeface="Noto Sans KR"/>
              </a:rPr>
              <a:t>거절</a:t>
            </a:r>
          </a:p>
        </p:txBody>
      </p:sp>
      <p:cxnSp>
        <p:nvCxnSpPr>
          <p:cNvPr id="13" name="Connector 12"/>
          <p:cNvCxnSpPr/>
          <p:nvPr/>
        </p:nvCxnSpPr>
        <p:spPr>
          <a:xfrm>
            <a:off x="4183380" y="2446020"/>
            <a:ext cx="106680" cy="0"/>
          </a:xfrm>
          <a:prstGeom prst="line">
            <a:avLst/>
          </a:prstGeom>
          <a:ln w="19050">
            <a:solidFill>
              <a:srgbClr val="8494A3"/>
            </a:solidFill>
            <a:tailEnd type="triangle" w="med" len="med"/>
          </a:ln>
        </p:spPr>
      </p:cxnSp>
      <p:sp>
        <p:nvSpPr>
          <p:cNvPr id="14" name="Rounded Rectangle 13"/>
          <p:cNvSpPr/>
          <p:nvPr/>
        </p:nvSpPr>
        <p:spPr>
          <a:xfrm>
            <a:off x="4312920" y="1996440"/>
            <a:ext cx="1691640" cy="899160"/>
          </a:xfrm>
          <a:prstGeom prst="roundRect">
            <a:avLst>
              <a:gd name="adj" fmla="val 10169"/>
            </a:avLst>
          </a:prstGeom>
          <a:solidFill>
            <a:srgbClr val="E1F2EF"/>
          </a:solidFill>
          <a:ln>
            <a:noFill/>
          </a:ln>
        </p:spPr>
        <p:txBody>
          <a:bodyPr rtlCol="0" anchor="ctr"/>
          <a:lstStyle/>
          <a:p>
            <a:pPr algn="ctr"/>
          </a:p>
        </p:txBody>
      </p:sp>
      <p:sp>
        <p:nvSpPr>
          <p:cNvPr id="15" name="글 도구 선택"/>
          <p:cNvSpPr txBox="1"/>
          <p:nvPr/>
        </p:nvSpPr>
        <p:spPr>
          <a:xfrm>
            <a:off x="4465320" y="2162861"/>
            <a:ext cx="701398" cy="240030"/>
          </a:xfrm>
          <a:prstGeom prst="rect">
            <a:avLst/>
          </a:prstGeom>
          <a:noFill/>
        </p:spPr>
        <p:txBody>
          <a:bodyPr wrap="none" anchor="t" lIns="0" rIns="0" tIns="0" bIns="0">
            <a:noAutofit/>
          </a:bodyPr>
          <a:lstStyle/>
          <a:p>
            <a:pPr algn="l" eaLnBrk="0" latinLnBrk="0"/>
            <a:r>
              <a:rPr sz="1260" b="1">
                <a:solidFill>
                  <a:srgbClr val="0B8577"/>
                </a:solidFill>
                <a:latin typeface="Noto Sans KR"/>
                <a:ea typeface="Noto Sans KR"/>
                <a:cs typeface="Noto Sans KR"/>
              </a:rPr>
              <a:t>도구 선택</a:t>
            </a:r>
          </a:p>
        </p:txBody>
      </p:sp>
      <p:sp>
        <p:nvSpPr>
          <p:cNvPr id="16" name="글 사례별 등록 도구 중 하나"/>
          <p:cNvSpPr txBox="1"/>
          <p:nvPr/>
        </p:nvSpPr>
        <p:spPr>
          <a:xfrm>
            <a:off x="4465320" y="2412492"/>
            <a:ext cx="1230173" cy="194310"/>
          </a:xfrm>
          <a:prstGeom prst="rect">
            <a:avLst/>
          </a:prstGeom>
          <a:noFill/>
        </p:spPr>
        <p:txBody>
          <a:bodyPr wrap="none" anchor="t" lIns="0" rIns="0" tIns="0" bIns="0">
            <a:noAutofit/>
          </a:bodyPr>
          <a:lstStyle/>
          <a:p>
            <a:pPr algn="l" eaLnBrk="0" latinLnBrk="0">
              <a:lnSpc>
                <a:spcPct val="116667"/>
              </a:lnSpc>
            </a:pPr>
            <a:r>
              <a:rPr sz="900" b="0">
                <a:solidFill>
                  <a:srgbClr val="566676"/>
                </a:solidFill>
                <a:latin typeface="Noto Sans KR"/>
                <a:ea typeface="Noto Sans KR"/>
                <a:cs typeface="Noto Sans KR"/>
              </a:rPr>
              <a:t>사례별 등록 도구 중 하나</a:t>
            </a:r>
          </a:p>
        </p:txBody>
      </p:sp>
      <p:cxnSp>
        <p:nvCxnSpPr>
          <p:cNvPr id="17" name="Connector 16"/>
          <p:cNvCxnSpPr/>
          <p:nvPr/>
        </p:nvCxnSpPr>
        <p:spPr>
          <a:xfrm>
            <a:off x="6035040" y="2446020"/>
            <a:ext cx="106680" cy="0"/>
          </a:xfrm>
          <a:prstGeom prst="line">
            <a:avLst/>
          </a:prstGeom>
          <a:ln w="19050">
            <a:solidFill>
              <a:srgbClr val="8494A3"/>
            </a:solidFill>
            <a:tailEnd type="triangle" w="med" len="med"/>
          </a:ln>
        </p:spPr>
      </p:cxnSp>
      <p:sp>
        <p:nvSpPr>
          <p:cNvPr id="18" name="Rounded Rectangle 17"/>
          <p:cNvSpPr/>
          <p:nvPr/>
        </p:nvSpPr>
        <p:spPr>
          <a:xfrm>
            <a:off x="6164580" y="1996440"/>
            <a:ext cx="1691640" cy="899160"/>
          </a:xfrm>
          <a:prstGeom prst="roundRect">
            <a:avLst>
              <a:gd name="adj" fmla="val 10169"/>
            </a:avLst>
          </a:prstGeom>
          <a:solidFill>
            <a:srgbClr val="E1F2EF"/>
          </a:solidFill>
          <a:ln>
            <a:noFill/>
          </a:ln>
        </p:spPr>
        <p:txBody>
          <a:bodyPr rtlCol="0" anchor="ctr"/>
          <a:lstStyle/>
          <a:p>
            <a:pPr algn="ctr"/>
          </a:p>
        </p:txBody>
      </p:sp>
      <p:sp>
        <p:nvSpPr>
          <p:cNvPr id="19" name="글 서버 재검증"/>
          <p:cNvSpPr txBox="1"/>
          <p:nvPr/>
        </p:nvSpPr>
        <p:spPr>
          <a:xfrm>
            <a:off x="6316980" y="2162861"/>
            <a:ext cx="848617" cy="240030"/>
          </a:xfrm>
          <a:prstGeom prst="rect">
            <a:avLst/>
          </a:prstGeom>
          <a:noFill/>
        </p:spPr>
        <p:txBody>
          <a:bodyPr wrap="none" anchor="t" lIns="0" rIns="0" tIns="0" bIns="0">
            <a:noAutofit/>
          </a:bodyPr>
          <a:lstStyle/>
          <a:p>
            <a:pPr algn="l" eaLnBrk="0" latinLnBrk="0"/>
            <a:r>
              <a:rPr sz="1260" b="1">
                <a:solidFill>
                  <a:srgbClr val="0B8577"/>
                </a:solidFill>
                <a:latin typeface="Noto Sans KR"/>
                <a:ea typeface="Noto Sans KR"/>
                <a:cs typeface="Noto Sans KR"/>
              </a:rPr>
              <a:t>서버 재검증</a:t>
            </a:r>
          </a:p>
        </p:txBody>
      </p:sp>
      <p:sp>
        <p:nvSpPr>
          <p:cNvPr id="20" name="글 시각·반경·지연 범위 확인"/>
          <p:cNvSpPr txBox="1"/>
          <p:nvPr/>
        </p:nvSpPr>
        <p:spPr>
          <a:xfrm>
            <a:off x="6316980" y="2412492"/>
            <a:ext cx="1307211" cy="194310"/>
          </a:xfrm>
          <a:prstGeom prst="rect">
            <a:avLst/>
          </a:prstGeom>
          <a:noFill/>
        </p:spPr>
        <p:txBody>
          <a:bodyPr wrap="none" anchor="t" lIns="0" rIns="0" tIns="0" bIns="0">
            <a:noAutofit/>
          </a:bodyPr>
          <a:lstStyle/>
          <a:p>
            <a:pPr algn="l" eaLnBrk="0" latinLnBrk="0">
              <a:lnSpc>
                <a:spcPct val="116667"/>
              </a:lnSpc>
            </a:pPr>
            <a:r>
              <a:rPr sz="900" b="0">
                <a:solidFill>
                  <a:srgbClr val="566676"/>
                </a:solidFill>
                <a:latin typeface="Noto Sans KR"/>
                <a:ea typeface="Noto Sans KR"/>
                <a:cs typeface="Noto Sans KR"/>
              </a:rPr>
              <a:t>시각·반경·지연 범위 확인</a:t>
            </a:r>
          </a:p>
        </p:txBody>
      </p:sp>
      <p:cxnSp>
        <p:nvCxnSpPr>
          <p:cNvPr id="21" name="Connector 20"/>
          <p:cNvCxnSpPr/>
          <p:nvPr/>
        </p:nvCxnSpPr>
        <p:spPr>
          <a:xfrm>
            <a:off x="7886700" y="2446020"/>
            <a:ext cx="106680" cy="0"/>
          </a:xfrm>
          <a:prstGeom prst="line">
            <a:avLst/>
          </a:prstGeom>
          <a:ln w="19050">
            <a:solidFill>
              <a:srgbClr val="8494A3"/>
            </a:solidFill>
            <a:tailEnd type="triangle" w="med" len="med"/>
          </a:ln>
        </p:spPr>
      </p:cxnSp>
      <p:sp>
        <p:nvSpPr>
          <p:cNvPr id="22" name="Rounded Rectangle 21"/>
          <p:cNvSpPr/>
          <p:nvPr/>
        </p:nvSpPr>
        <p:spPr>
          <a:xfrm>
            <a:off x="8016240" y="1996440"/>
            <a:ext cx="1691640" cy="899160"/>
          </a:xfrm>
          <a:prstGeom prst="roundRect">
            <a:avLst>
              <a:gd name="adj" fmla="val 10169"/>
            </a:avLst>
          </a:prstGeom>
          <a:solidFill>
            <a:srgbClr val="0B1B2B"/>
          </a:solidFill>
          <a:ln>
            <a:noFill/>
          </a:ln>
        </p:spPr>
        <p:txBody>
          <a:bodyPr rtlCol="0" anchor="ctr"/>
          <a:lstStyle/>
          <a:p>
            <a:pPr algn="ctr"/>
          </a:p>
        </p:txBody>
      </p:sp>
      <p:sp>
        <p:nvSpPr>
          <p:cNvPr id="23" name="글 결정론 계산"/>
          <p:cNvSpPr txBox="1"/>
          <p:nvPr/>
        </p:nvSpPr>
        <p:spPr>
          <a:xfrm>
            <a:off x="8168640" y="2162861"/>
            <a:ext cx="848617" cy="240030"/>
          </a:xfrm>
          <a:prstGeom prst="rect">
            <a:avLst/>
          </a:prstGeom>
          <a:noFill/>
        </p:spPr>
        <p:txBody>
          <a:bodyPr wrap="none" anchor="t" lIns="0" rIns="0" tIns="0" bIns="0">
            <a:noAutofit/>
          </a:bodyPr>
          <a:lstStyle/>
          <a:p>
            <a:pPr algn="l" eaLnBrk="0" latinLnBrk="0"/>
            <a:r>
              <a:rPr sz="1260" b="1">
                <a:solidFill>
                  <a:srgbClr val="FFFFFF"/>
                </a:solidFill>
                <a:latin typeface="Noto Sans KR"/>
                <a:ea typeface="Noto Sans KR"/>
                <a:cs typeface="Noto Sans KR"/>
              </a:rPr>
              <a:t>결정론 계산</a:t>
            </a:r>
          </a:p>
        </p:txBody>
      </p:sp>
      <p:sp>
        <p:nvSpPr>
          <p:cNvPr id="24" name="글 분석 API와 같은 함수"/>
          <p:cNvSpPr txBox="1"/>
          <p:nvPr/>
        </p:nvSpPr>
        <p:spPr>
          <a:xfrm>
            <a:off x="8168640" y="2412492"/>
            <a:ext cx="1064438" cy="194310"/>
          </a:xfrm>
          <a:prstGeom prst="rect">
            <a:avLst/>
          </a:prstGeom>
          <a:noFill/>
        </p:spPr>
        <p:txBody>
          <a:bodyPr wrap="none" anchor="t" lIns="0" rIns="0" tIns="0" bIns="0">
            <a:noAutofit/>
          </a:bodyPr>
          <a:lstStyle/>
          <a:p>
            <a:pPr algn="l" eaLnBrk="0" latinLnBrk="0">
              <a:lnSpc>
                <a:spcPct val="116667"/>
              </a:lnSpc>
            </a:pPr>
            <a:r>
              <a:rPr sz="900" b="0">
                <a:solidFill>
                  <a:srgbClr val="9DB2C6"/>
                </a:solidFill>
                <a:latin typeface="Noto Sans KR"/>
                <a:ea typeface="Noto Sans KR"/>
                <a:cs typeface="Noto Sans KR"/>
              </a:rPr>
              <a:t>분석 API와 같은 함수</a:t>
            </a:r>
          </a:p>
        </p:txBody>
      </p:sp>
      <p:cxnSp>
        <p:nvCxnSpPr>
          <p:cNvPr id="25" name="Connector 24"/>
          <p:cNvCxnSpPr/>
          <p:nvPr/>
        </p:nvCxnSpPr>
        <p:spPr>
          <a:xfrm>
            <a:off x="9738360" y="2446020"/>
            <a:ext cx="106680" cy="0"/>
          </a:xfrm>
          <a:prstGeom prst="line">
            <a:avLst/>
          </a:prstGeom>
          <a:ln w="19050">
            <a:solidFill>
              <a:srgbClr val="8494A3"/>
            </a:solidFill>
            <a:tailEnd type="triangle" w="med" len="med"/>
          </a:ln>
        </p:spPr>
      </p:cxnSp>
      <p:sp>
        <p:nvSpPr>
          <p:cNvPr id="26" name="Rounded Rectangle 25"/>
          <p:cNvSpPr/>
          <p:nvPr/>
        </p:nvSpPr>
        <p:spPr>
          <a:xfrm>
            <a:off x="9867900" y="1996440"/>
            <a:ext cx="1691640" cy="899160"/>
          </a:xfrm>
          <a:prstGeom prst="roundRect">
            <a:avLst>
              <a:gd name="adj" fmla="val 10169"/>
            </a:avLst>
          </a:prstGeom>
          <a:solidFill>
            <a:srgbClr val="F2F5F8"/>
          </a:solidFill>
          <a:ln>
            <a:noFill/>
          </a:ln>
        </p:spPr>
        <p:txBody>
          <a:bodyPr rtlCol="0" anchor="ctr"/>
          <a:lstStyle/>
          <a:p>
            <a:pPr algn="ctr"/>
          </a:p>
        </p:txBody>
      </p:sp>
      <p:sp>
        <p:nvSpPr>
          <p:cNvPr id="27" name="글 근거와 답"/>
          <p:cNvSpPr txBox="1"/>
          <p:nvPr/>
        </p:nvSpPr>
        <p:spPr>
          <a:xfrm>
            <a:off x="10020300" y="2162861"/>
            <a:ext cx="701398" cy="240030"/>
          </a:xfrm>
          <a:prstGeom prst="rect">
            <a:avLst/>
          </a:prstGeom>
          <a:noFill/>
        </p:spPr>
        <p:txBody>
          <a:bodyPr wrap="none" anchor="t" lIns="0" rIns="0" tIns="0" bIns="0">
            <a:noAutofit/>
          </a:bodyPr>
          <a:lstStyle/>
          <a:p>
            <a:pPr algn="l" eaLnBrk="0" latinLnBrk="0"/>
            <a:r>
              <a:rPr sz="1260" b="1">
                <a:solidFill>
                  <a:srgbClr val="0F1E2E"/>
                </a:solidFill>
                <a:latin typeface="Noto Sans KR"/>
                <a:ea typeface="Noto Sans KR"/>
                <a:cs typeface="Noto Sans KR"/>
              </a:rPr>
              <a:t>근거와 답</a:t>
            </a:r>
          </a:p>
        </p:txBody>
      </p:sp>
      <p:sp>
        <p:nvSpPr>
          <p:cNvPr id="28" name="글 호출한 도구·입력·한계 표시"/>
          <p:cNvSpPr txBox="1"/>
          <p:nvPr/>
        </p:nvSpPr>
        <p:spPr>
          <a:xfrm>
            <a:off x="10020300" y="2412492"/>
            <a:ext cx="1412367" cy="194310"/>
          </a:xfrm>
          <a:prstGeom prst="rect">
            <a:avLst/>
          </a:prstGeom>
          <a:noFill/>
        </p:spPr>
        <p:txBody>
          <a:bodyPr wrap="none" anchor="t" lIns="0" rIns="0" tIns="0" bIns="0">
            <a:noAutofit/>
          </a:bodyPr>
          <a:lstStyle/>
          <a:p>
            <a:pPr algn="l" eaLnBrk="0" latinLnBrk="0">
              <a:lnSpc>
                <a:spcPct val="116667"/>
              </a:lnSpc>
            </a:pPr>
            <a:r>
              <a:rPr sz="900" b="0">
                <a:solidFill>
                  <a:srgbClr val="566676"/>
                </a:solidFill>
                <a:latin typeface="Noto Sans KR"/>
                <a:ea typeface="Noto Sans KR"/>
                <a:cs typeface="Noto Sans KR"/>
              </a:rPr>
              <a:t>호출한 도구·입력·한계 표시</a:t>
            </a:r>
          </a:p>
        </p:txBody>
      </p:sp>
      <p:sp>
        <p:nvSpPr>
          <p:cNvPr id="29" name="Rounded Rectangle 28"/>
          <p:cNvSpPr/>
          <p:nvPr/>
        </p:nvSpPr>
        <p:spPr>
          <a:xfrm>
            <a:off x="609600" y="3200400"/>
            <a:ext cx="10972800" cy="822960"/>
          </a:xfrm>
          <a:prstGeom prst="roundRect">
            <a:avLst>
              <a:gd name="adj" fmla="val 12962"/>
            </a:avLst>
          </a:prstGeom>
          <a:solidFill>
            <a:srgbClr val="F2F5F8"/>
          </a:solidFill>
          <a:ln>
            <a:noFill/>
          </a:ln>
        </p:spPr>
        <p:txBody>
          <a:bodyPr rtlCol="0" anchor="ctr"/>
          <a:lstStyle/>
          <a:p>
            <a:pPr algn="ctr"/>
          </a:p>
        </p:txBody>
      </p:sp>
      <p:sp>
        <p:nvSpPr>
          <p:cNvPr id="30" name="Rounded Rectangle 29"/>
          <p:cNvSpPr/>
          <p:nvPr/>
        </p:nvSpPr>
        <p:spPr>
          <a:xfrm>
            <a:off x="609600" y="3200400"/>
            <a:ext cx="60960" cy="822960"/>
          </a:xfrm>
          <a:prstGeom prst="roundRect">
            <a:avLst>
              <a:gd name="adj" fmla="val 50000"/>
            </a:avLst>
          </a:prstGeom>
          <a:solidFill>
            <a:srgbClr val="0B8577"/>
          </a:solidFill>
          <a:ln>
            <a:noFill/>
          </a:ln>
        </p:spPr>
        <p:txBody>
          <a:bodyPr rtlCol="0" anchor="ctr"/>
          <a:lstStyle/>
          <a:p>
            <a:pPr algn="ctr"/>
          </a:p>
        </p:txBody>
      </p:sp>
      <p:sp>
        <p:nvSpPr>
          <p:cNvPr id="31" name="글 “06:00에 지하주차장 진입 금지 안내를 "/>
          <p:cNvSpPr txBox="1"/>
          <p:nvPr/>
        </p:nvSpPr>
        <p:spPr>
          <a:xfrm>
            <a:off x="853440" y="3328416"/>
            <a:ext cx="5010455"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“06:00에 지하주차장 진입 금지 안내를 했다면 침수 시작까지 몇 분 있었나요?”</a:t>
            </a:r>
          </a:p>
        </p:txBody>
      </p:sp>
      <p:sp>
        <p:nvSpPr>
          <p:cNvPr id="32" name="Rounded Rectangle 31"/>
          <p:cNvSpPr/>
          <p:nvPr/>
        </p:nvSpPr>
        <p:spPr>
          <a:xfrm>
            <a:off x="9392984" y="3322320"/>
            <a:ext cx="1976056" cy="243840"/>
          </a:xfrm>
          <a:prstGeom prst="roundRect">
            <a:avLst>
              <a:gd name="adj" fmla="val 50000"/>
            </a:avLst>
          </a:prstGeom>
          <a:solidFill>
            <a:srgbClr val="FFFFFF"/>
          </a:solidFill>
          <a:ln>
            <a:noFill/>
          </a:ln>
        </p:spPr>
        <p:txBody>
          <a:bodyPr rtlCol="0" anchor="ctr"/>
          <a:lstStyle/>
          <a:p>
            <a:pPr algn="ctr"/>
          </a:p>
        </p:txBody>
      </p:sp>
      <p:sp>
        <p:nvSpPr>
          <p:cNvPr id="33" name="글 포항 · analyze_response_ti"/>
          <p:cNvSpPr txBox="1"/>
          <p:nvPr/>
        </p:nvSpPr>
        <p:spPr>
          <a:xfrm>
            <a:off x="9492044" y="3375660"/>
            <a:ext cx="1854136" cy="171450"/>
          </a:xfrm>
          <a:prstGeom prst="rect">
            <a:avLst/>
          </a:prstGeom>
          <a:noFill/>
        </p:spPr>
        <p:txBody>
          <a:bodyPr wrap="none" anchor="t" lIns="0" rIns="0" tIns="0" bIns="0">
            <a:noAutofit/>
          </a:bodyPr>
          <a:lstStyle/>
          <a:p>
            <a:pPr algn="l" eaLnBrk="0" latinLnBrk="0"/>
            <a:r>
              <a:rPr sz="900" b="1">
                <a:solidFill>
                  <a:srgbClr val="566676"/>
                </a:solidFill>
                <a:latin typeface="Noto Sans KR"/>
                <a:ea typeface="Noto Sans KR"/>
                <a:cs typeface="Noto Sans KR"/>
              </a:rPr>
              <a:t>포항 · analyze_response_timing</a:t>
            </a:r>
          </a:p>
        </p:txBody>
      </p:sp>
      <p:sp>
        <p:nvSpPr>
          <p:cNvPr id="34" name="글 침수 시작 37분 전, 완전 침수 45분 전"/>
          <p:cNvSpPr txBox="1"/>
          <p:nvPr/>
        </p:nvSpPr>
        <p:spPr>
          <a:xfrm>
            <a:off x="853440" y="3614014"/>
            <a:ext cx="10576560" cy="220218"/>
          </a:xfrm>
          <a:prstGeom prst="rect">
            <a:avLst/>
          </a:prstGeom>
          <a:noFill/>
        </p:spPr>
        <p:txBody>
          <a:bodyPr wrap="none" anchor="t" lIns="0" rIns="0" tIns="0" bIns="0">
            <a:noAutofit/>
          </a:bodyPr>
          <a:lstStyle/>
          <a:p>
            <a:pPr algn="l" eaLnBrk="0" latinLnBrk="0">
              <a:lnSpc>
                <a:spcPct val="116667"/>
              </a:lnSpc>
            </a:pPr>
            <a:r>
              <a:rPr sz="1019" b="0">
                <a:solidFill>
                  <a:srgbClr val="566676"/>
                </a:solidFill>
                <a:latin typeface="Noto Sans KR"/>
                <a:ea typeface="Noto Sans KR"/>
                <a:cs typeface="Noto Sans KR"/>
              </a:rPr>
              <a:t>침수 시작 37분 전, 완전 침수 45분 전. 실제 06:30 안내는 7분 전이었습니다.</a:t>
            </a:r>
          </a:p>
        </p:txBody>
      </p:sp>
      <p:sp>
        <p:nvSpPr>
          <p:cNvPr id="35" name="Rounded Rectangle 34"/>
          <p:cNvSpPr/>
          <p:nvPr/>
        </p:nvSpPr>
        <p:spPr>
          <a:xfrm>
            <a:off x="609600" y="4145280"/>
            <a:ext cx="10972800" cy="822960"/>
          </a:xfrm>
          <a:prstGeom prst="roundRect">
            <a:avLst>
              <a:gd name="adj" fmla="val 12962"/>
            </a:avLst>
          </a:prstGeom>
          <a:solidFill>
            <a:srgbClr val="F2F5F8"/>
          </a:solidFill>
          <a:ln>
            <a:noFill/>
          </a:ln>
        </p:spPr>
        <p:txBody>
          <a:bodyPr rtlCol="0" anchor="ctr"/>
          <a:lstStyle/>
          <a:p>
            <a:pPr algn="ctr"/>
          </a:p>
        </p:txBody>
      </p:sp>
      <p:sp>
        <p:nvSpPr>
          <p:cNvPr id="36" name="Rounded Rectangle 35"/>
          <p:cNvSpPr/>
          <p:nvPr/>
        </p:nvSpPr>
        <p:spPr>
          <a:xfrm>
            <a:off x="609600" y="4145280"/>
            <a:ext cx="60960" cy="822960"/>
          </a:xfrm>
          <a:prstGeom prst="roundRect">
            <a:avLst>
              <a:gd name="adj" fmla="val 50000"/>
            </a:avLst>
          </a:prstGeom>
          <a:solidFill>
            <a:srgbClr val="B7791F"/>
          </a:solidFill>
          <a:ln>
            <a:noFill/>
          </a:ln>
        </p:spPr>
        <p:txBody>
          <a:bodyPr rtlCol="0" anchor="ctr"/>
          <a:lstStyle/>
          <a:p>
            <a:pPr algn="ctr"/>
          </a:p>
        </p:txBody>
      </p:sp>
      <p:sp>
        <p:nvSpPr>
          <p:cNvPr id="37" name="글 “제방을 3 m 올렸다면 피해가 얼마나 줄었"/>
          <p:cNvSpPr txBox="1"/>
          <p:nvPr/>
        </p:nvSpPr>
        <p:spPr>
          <a:xfrm>
            <a:off x="853440" y="4273296"/>
            <a:ext cx="3157423"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“제방을 3 m 올렸다면 피해가 얼마나 줄었나요?”</a:t>
            </a:r>
          </a:p>
        </p:txBody>
      </p:sp>
      <p:sp>
        <p:nvSpPr>
          <p:cNvPr id="38" name="Rounded Rectangle 37"/>
          <p:cNvSpPr/>
          <p:nvPr/>
        </p:nvSpPr>
        <p:spPr>
          <a:xfrm>
            <a:off x="9484766" y="4267200"/>
            <a:ext cx="1884274" cy="243840"/>
          </a:xfrm>
          <a:prstGeom prst="roundRect">
            <a:avLst>
              <a:gd name="adj" fmla="val 50000"/>
            </a:avLst>
          </a:prstGeom>
          <a:solidFill>
            <a:srgbClr val="FFFFFF"/>
          </a:solidFill>
          <a:ln>
            <a:noFill/>
          </a:ln>
        </p:spPr>
        <p:txBody>
          <a:bodyPr rtlCol="0" anchor="ctr"/>
          <a:lstStyle/>
          <a:p>
            <a:pPr algn="ctr"/>
          </a:p>
        </p:txBody>
      </p:sp>
      <p:sp>
        <p:nvSpPr>
          <p:cNvPr id="39" name="글 오송 · 도구 없음 → NEEDS_DATA"/>
          <p:cNvSpPr txBox="1"/>
          <p:nvPr/>
        </p:nvSpPr>
        <p:spPr>
          <a:xfrm>
            <a:off x="9583826" y="4320540"/>
            <a:ext cx="1762354" cy="171450"/>
          </a:xfrm>
          <a:prstGeom prst="rect">
            <a:avLst/>
          </a:prstGeom>
          <a:noFill/>
        </p:spPr>
        <p:txBody>
          <a:bodyPr wrap="none" anchor="t" lIns="0" rIns="0" tIns="0" bIns="0">
            <a:noAutofit/>
          </a:bodyPr>
          <a:lstStyle/>
          <a:p>
            <a:pPr algn="l" eaLnBrk="0" latinLnBrk="0"/>
            <a:r>
              <a:rPr sz="900" b="1">
                <a:solidFill>
                  <a:srgbClr val="566676"/>
                </a:solidFill>
                <a:latin typeface="Noto Sans KR"/>
                <a:ea typeface="Noto Sans KR"/>
                <a:cs typeface="Noto Sans KR"/>
              </a:rPr>
              <a:t>오송 · 도구 없음 → NEEDS_DATA</a:t>
            </a:r>
          </a:p>
        </p:txBody>
      </p:sp>
      <p:sp>
        <p:nvSpPr>
          <p:cNvPr id="40" name="글 제방 단면·유량·수리모형이 없어 계산하지 않"/>
          <p:cNvSpPr txBox="1"/>
          <p:nvPr/>
        </p:nvSpPr>
        <p:spPr>
          <a:xfrm>
            <a:off x="853440" y="4558894"/>
            <a:ext cx="10576560" cy="220218"/>
          </a:xfrm>
          <a:prstGeom prst="rect">
            <a:avLst/>
          </a:prstGeom>
          <a:noFill/>
        </p:spPr>
        <p:txBody>
          <a:bodyPr wrap="none" anchor="t" lIns="0" rIns="0" tIns="0" bIns="0">
            <a:noAutofit/>
          </a:bodyPr>
          <a:lstStyle/>
          <a:p>
            <a:pPr algn="l" eaLnBrk="0" latinLnBrk="0">
              <a:lnSpc>
                <a:spcPct val="116667"/>
              </a:lnSpc>
            </a:pPr>
            <a:r>
              <a:rPr sz="1019" b="0">
                <a:solidFill>
                  <a:srgbClr val="566676"/>
                </a:solidFill>
                <a:latin typeface="Noto Sans KR"/>
                <a:ea typeface="Noto Sans KR"/>
                <a:cs typeface="Noto Sans KR"/>
              </a:rPr>
              <a:t>제방 단면·유량·수리모형이 없어 계산하지 않습니다. 통제 시각 비교나 HAND 임계 민감도를 대신 제안합니다.</a:t>
            </a:r>
          </a:p>
        </p:txBody>
      </p:sp>
      <p:sp>
        <p:nvSpPr>
          <p:cNvPr id="41" name="Rounded Rectangle 40"/>
          <p:cNvSpPr/>
          <p:nvPr/>
        </p:nvSpPr>
        <p:spPr>
          <a:xfrm>
            <a:off x="609600" y="5090160"/>
            <a:ext cx="10972800" cy="822960"/>
          </a:xfrm>
          <a:prstGeom prst="roundRect">
            <a:avLst>
              <a:gd name="adj" fmla="val 12962"/>
            </a:avLst>
          </a:prstGeom>
          <a:solidFill>
            <a:srgbClr val="F2F5F8"/>
          </a:solidFill>
          <a:ln>
            <a:noFill/>
          </a:ln>
        </p:spPr>
        <p:txBody>
          <a:bodyPr rtlCol="0" anchor="ctr"/>
          <a:lstStyle/>
          <a:p>
            <a:pPr algn="ctr"/>
          </a:p>
        </p:txBody>
      </p:sp>
      <p:sp>
        <p:nvSpPr>
          <p:cNvPr id="42" name="Rounded Rectangle 41"/>
          <p:cNvSpPr/>
          <p:nvPr/>
        </p:nvSpPr>
        <p:spPr>
          <a:xfrm>
            <a:off x="609600" y="5090160"/>
            <a:ext cx="60960" cy="822960"/>
          </a:xfrm>
          <a:prstGeom prst="roundRect">
            <a:avLst>
              <a:gd name="adj" fmla="val 50000"/>
            </a:avLst>
          </a:prstGeom>
          <a:solidFill>
            <a:srgbClr val="B42318"/>
          </a:solidFill>
          <a:ln>
            <a:noFill/>
          </a:ln>
        </p:spPr>
        <p:txBody>
          <a:bodyPr rtlCol="0" anchor="ctr"/>
          <a:lstStyle/>
          <a:p>
            <a:pPr algn="ctr"/>
          </a:p>
        </p:txBody>
      </p:sp>
      <p:sp>
        <p:nvSpPr>
          <p:cNvPr id="43" name="글 “사망자가 몇 명 줄었을까요?”"/>
          <p:cNvSpPr txBox="1"/>
          <p:nvPr/>
        </p:nvSpPr>
        <p:spPr>
          <a:xfrm>
            <a:off x="853440" y="5218176"/>
            <a:ext cx="1975561"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“사망자가 몇 명 줄었을까요?”</a:t>
            </a:r>
          </a:p>
        </p:txBody>
      </p:sp>
      <p:sp>
        <p:nvSpPr>
          <p:cNvPr id="44" name="Rounded Rectangle 43"/>
          <p:cNvSpPr/>
          <p:nvPr/>
        </p:nvSpPr>
        <p:spPr>
          <a:xfrm>
            <a:off x="9735083" y="5212080"/>
            <a:ext cx="1633957" cy="243840"/>
          </a:xfrm>
          <a:prstGeom prst="roundRect">
            <a:avLst>
              <a:gd name="adj" fmla="val 50000"/>
            </a:avLst>
          </a:prstGeom>
          <a:solidFill>
            <a:srgbClr val="FFFFFF"/>
          </a:solidFill>
          <a:ln>
            <a:noFill/>
          </a:ln>
        </p:spPr>
        <p:txBody>
          <a:bodyPr rtlCol="0" anchor="ctr"/>
          <a:lstStyle/>
          <a:p>
            <a:pPr algn="ctr"/>
          </a:p>
        </p:txBody>
      </p:sp>
      <p:sp>
        <p:nvSpPr>
          <p:cNvPr id="45" name="글 모든 사례 · UNSUPPORTED"/>
          <p:cNvSpPr txBox="1"/>
          <p:nvPr/>
        </p:nvSpPr>
        <p:spPr>
          <a:xfrm>
            <a:off x="9834143" y="5265420"/>
            <a:ext cx="1512037" cy="171450"/>
          </a:xfrm>
          <a:prstGeom prst="rect">
            <a:avLst/>
          </a:prstGeom>
          <a:noFill/>
        </p:spPr>
        <p:txBody>
          <a:bodyPr wrap="none" anchor="t" lIns="0" rIns="0" tIns="0" bIns="0">
            <a:noAutofit/>
          </a:bodyPr>
          <a:lstStyle/>
          <a:p>
            <a:pPr algn="l" eaLnBrk="0" latinLnBrk="0"/>
            <a:r>
              <a:rPr sz="900" b="1">
                <a:solidFill>
                  <a:srgbClr val="566676"/>
                </a:solidFill>
                <a:latin typeface="Noto Sans KR"/>
                <a:ea typeface="Noto Sans KR"/>
                <a:cs typeface="Noto Sans KR"/>
              </a:rPr>
              <a:t>모든 사례 · UNSUPPORTED</a:t>
            </a:r>
          </a:p>
        </p:txBody>
      </p:sp>
      <p:sp>
        <p:nvSpPr>
          <p:cNvPr id="46" name="글 모델을 부르기 전에 거절합니다. 답할 수 있"/>
          <p:cNvSpPr txBox="1"/>
          <p:nvPr/>
        </p:nvSpPr>
        <p:spPr>
          <a:xfrm>
            <a:off x="853440" y="5503774"/>
            <a:ext cx="10576560" cy="220218"/>
          </a:xfrm>
          <a:prstGeom prst="rect">
            <a:avLst/>
          </a:prstGeom>
          <a:noFill/>
        </p:spPr>
        <p:txBody>
          <a:bodyPr wrap="none" anchor="t" lIns="0" rIns="0" tIns="0" bIns="0">
            <a:noAutofit/>
          </a:bodyPr>
          <a:lstStyle/>
          <a:p>
            <a:pPr algn="l" eaLnBrk="0" latinLnBrk="0">
              <a:lnSpc>
                <a:spcPct val="116667"/>
              </a:lnSpc>
            </a:pPr>
            <a:r>
              <a:rPr sz="1019" b="0">
                <a:solidFill>
                  <a:srgbClr val="566676"/>
                </a:solidFill>
                <a:latin typeface="Noto Sans KR"/>
                <a:ea typeface="Noto Sans KR"/>
                <a:cs typeface="Noto Sans KR"/>
              </a:rPr>
              <a:t>모델을 부르기 전에 거절합니다. 답할 수 있는 인접 질문 목록을 함께 돌려줍니다.</a:t>
            </a:r>
          </a:p>
        </p:txBody>
      </p:sp>
      <p:sp>
        <p:nvSpPr>
          <p:cNvPr id="47" name="글 도구 8개(오송) · 사례별 도구 등록(ag"/>
          <p:cNvSpPr txBox="1"/>
          <p:nvPr/>
        </p:nvSpPr>
        <p:spPr>
          <a:xfrm>
            <a:off x="609600" y="6116726"/>
            <a:ext cx="6874810" cy="205740"/>
          </a:xfrm>
          <a:prstGeom prst="rect">
            <a:avLst/>
          </a:prstGeom>
          <a:noFill/>
        </p:spPr>
        <p:txBody>
          <a:bodyPr wrap="none" anchor="t" lIns="0" rIns="0" tIns="0" bIns="0">
            <a:noAutofit/>
          </a:bodyPr>
          <a:lstStyle/>
          <a:p>
            <a:pPr algn="l" eaLnBrk="0" latinLnBrk="0"/>
            <a:r>
              <a:rPr sz="1080" b="0">
                <a:solidFill>
                  <a:srgbClr val="566676"/>
                </a:solidFill>
                <a:latin typeface="Noto Sans KR"/>
                <a:ea typeface="Noto Sans KR"/>
                <a:cs typeface="Noto Sans KR"/>
              </a:rPr>
              <a:t>도구 8개(오송) · 사례별 도구 등록(agent_cases.py) · 키가 없거나 모델이 실패하면 규칙 플래너로 폴백 · 분당 호출 제한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4"/>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14</a:t>
            </a:r>
          </a:p>
        </p:txBody>
      </p:sp>
      <p:sp>
        <p:nvSpPr>
          <p:cNvPr id="3" name="글 서비스와 활용 · 서비스 개요"/>
          <p:cNvSpPr txBox="1"/>
          <p:nvPr/>
        </p:nvSpPr>
        <p:spPr>
          <a:xfrm>
            <a:off x="896112" y="509016"/>
            <a:ext cx="1840535"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서비스와 활용 · 서비스 개요</a:t>
            </a:r>
          </a:p>
        </p:txBody>
      </p:sp>
      <p:sp>
        <p:nvSpPr>
          <p:cNvPr id="4" name="글 공개 주소에서 네 사례를 지금 바로 재생할 "/>
          <p:cNvSpPr txBox="1"/>
          <p:nvPr/>
        </p:nvSpPr>
        <p:spPr>
          <a:xfrm>
            <a:off x="609600" y="853440"/>
            <a:ext cx="8479536"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공개 주소에서 네 사례를 지금 바로 재생할 수 있습니다</a:t>
            </a:r>
          </a:p>
        </p:txBody>
      </p:sp>
      <p:sp>
        <p:nvSpPr>
          <p:cNvPr id="5" name="글 floodops.duckdns.org · 화"/>
          <p:cNvSpPr txBox="1"/>
          <p:nvPr/>
        </p:nvSpPr>
        <p:spPr>
          <a:xfrm>
            <a:off x="609600" y="1409395"/>
            <a:ext cx="5163922"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floodops.duckdns.org · 화면 4개 · 분석 API(Swagger) · Agent</a:t>
            </a:r>
          </a:p>
        </p:txBody>
      </p:sp>
      <p:sp>
        <p:nvSpPr>
          <p:cNvPr id="6" name="Rounded Rectangle 5"/>
          <p:cNvSpPr/>
          <p:nvPr/>
        </p:nvSpPr>
        <p:spPr>
          <a:xfrm>
            <a:off x="609600" y="1996440"/>
            <a:ext cx="6248400" cy="914400"/>
          </a:xfrm>
          <a:prstGeom prst="roundRect">
            <a:avLst>
              <a:gd name="adj" fmla="val 11666"/>
            </a:avLst>
          </a:prstGeom>
          <a:solidFill>
            <a:srgbClr val="F2F5F8"/>
          </a:solidFill>
          <a:ln>
            <a:noFill/>
          </a:ln>
        </p:spPr>
        <p:txBody>
          <a:bodyPr rtlCol="0" anchor="ctr"/>
          <a:lstStyle/>
          <a:p>
            <a:pPr algn="ctr"/>
          </a:p>
        </p:txBody>
      </p:sp>
      <p:sp>
        <p:nvSpPr>
          <p:cNvPr id="7" name="Oval 6"/>
          <p:cNvSpPr/>
          <p:nvPr/>
        </p:nvSpPr>
        <p:spPr>
          <a:xfrm>
            <a:off x="807720" y="2255520"/>
            <a:ext cx="396240" cy="396240"/>
          </a:xfrm>
          <a:prstGeom prst="ellipse">
            <a:avLst/>
          </a:prstGeom>
          <a:solidFill>
            <a:srgbClr val="0B8577"/>
          </a:solidFill>
          <a:ln>
            <a:noFill/>
          </a:ln>
        </p:spPr>
        <p:txBody>
          <a:bodyPr rtlCol="0" anchor="ctr"/>
          <a:lstStyle/>
          <a:p>
            <a:pPr algn="ctr"/>
          </a:p>
        </p:txBody>
      </p:sp>
      <p:sp>
        <p:nvSpPr>
          <p:cNvPr id="8" name="글 1"/>
          <p:cNvSpPr txBox="1"/>
          <p:nvPr/>
        </p:nvSpPr>
        <p:spPr>
          <a:xfrm>
            <a:off x="913790" y="2343912"/>
            <a:ext cx="184099" cy="274320"/>
          </a:xfrm>
          <a:prstGeom prst="rect">
            <a:avLst/>
          </a:prstGeom>
          <a:noFill/>
        </p:spPr>
        <p:txBody>
          <a:bodyPr wrap="none" anchor="t" lIns="0" rIns="0" tIns="0" bIns="0">
            <a:noAutofit/>
          </a:bodyPr>
          <a:lstStyle/>
          <a:p>
            <a:pPr algn="ctr" eaLnBrk="0" latinLnBrk="0"/>
            <a:r>
              <a:rPr sz="1439" b="1">
                <a:solidFill>
                  <a:srgbClr val="FFFFFF"/>
                </a:solidFill>
                <a:latin typeface="Noto Sans KR"/>
                <a:ea typeface="Noto Sans KR"/>
                <a:cs typeface="Noto Sans KR"/>
              </a:rPr>
              <a:t>1</a:t>
            </a:r>
          </a:p>
        </p:txBody>
      </p:sp>
      <p:sp>
        <p:nvSpPr>
          <p:cNvPr id="9" name="글 사례 선택 · 사례 간 비교"/>
          <p:cNvSpPr txBox="1"/>
          <p:nvPr/>
        </p:nvSpPr>
        <p:spPr>
          <a:xfrm>
            <a:off x="1371600" y="2195170"/>
            <a:ext cx="2135040"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사례 선택 · 사례 간 비교</a:t>
            </a:r>
          </a:p>
        </p:txBody>
      </p:sp>
      <p:sp>
        <p:nvSpPr>
          <p:cNvPr id="10" name="글 다섯 사례 중 네 개가 관제 가능 · 선행 "/>
          <p:cNvSpPr txBox="1"/>
          <p:nvPr/>
        </p:nvSpPr>
        <p:spPr>
          <a:xfrm>
            <a:off x="1371600" y="2543251"/>
            <a:ext cx="3178112"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다섯 사례 중 네 개가 관제 가능 · 선행 시간 비교 차트</a:t>
            </a:r>
          </a:p>
        </p:txBody>
      </p:sp>
      <p:sp>
        <p:nvSpPr>
          <p:cNvPr id="11" name="Rounded Rectangle 10"/>
          <p:cNvSpPr/>
          <p:nvPr/>
        </p:nvSpPr>
        <p:spPr>
          <a:xfrm>
            <a:off x="5758160" y="2164080"/>
            <a:ext cx="886480" cy="251460"/>
          </a:xfrm>
          <a:prstGeom prst="roundRect">
            <a:avLst>
              <a:gd name="adj" fmla="val 50000"/>
            </a:avLst>
          </a:prstGeom>
          <a:solidFill>
            <a:srgbClr val="FFFFFF"/>
          </a:solidFill>
          <a:ln>
            <a:noFill/>
          </a:ln>
        </p:spPr>
        <p:txBody>
          <a:bodyPr rtlCol="0" anchor="ctr"/>
          <a:lstStyle/>
          <a:p>
            <a:pPr algn="ctr"/>
          </a:p>
        </p:txBody>
      </p:sp>
      <p:sp>
        <p:nvSpPr>
          <p:cNvPr id="12" name="글 담당자 · 교육"/>
          <p:cNvSpPr txBox="1"/>
          <p:nvPr/>
        </p:nvSpPr>
        <p:spPr>
          <a:xfrm>
            <a:off x="5857220" y="2216658"/>
            <a:ext cx="764560"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담당자 · 교육</a:t>
            </a:r>
          </a:p>
        </p:txBody>
      </p:sp>
      <p:sp>
        <p:nvSpPr>
          <p:cNvPr id="13" name="Rounded Rectangle 12"/>
          <p:cNvSpPr/>
          <p:nvPr/>
        </p:nvSpPr>
        <p:spPr>
          <a:xfrm>
            <a:off x="609600" y="3063240"/>
            <a:ext cx="6248400" cy="914400"/>
          </a:xfrm>
          <a:prstGeom prst="roundRect">
            <a:avLst>
              <a:gd name="adj" fmla="val 11666"/>
            </a:avLst>
          </a:prstGeom>
          <a:solidFill>
            <a:srgbClr val="F2F5F8"/>
          </a:solidFill>
          <a:ln>
            <a:noFill/>
          </a:ln>
        </p:spPr>
        <p:txBody>
          <a:bodyPr rtlCol="0" anchor="ctr"/>
          <a:lstStyle/>
          <a:p>
            <a:pPr algn="ctr"/>
          </a:p>
        </p:txBody>
      </p:sp>
      <p:sp>
        <p:nvSpPr>
          <p:cNvPr id="14" name="Oval 13"/>
          <p:cNvSpPr/>
          <p:nvPr/>
        </p:nvSpPr>
        <p:spPr>
          <a:xfrm>
            <a:off x="807720" y="3322320"/>
            <a:ext cx="396240" cy="396240"/>
          </a:xfrm>
          <a:prstGeom prst="ellipse">
            <a:avLst/>
          </a:prstGeom>
          <a:solidFill>
            <a:srgbClr val="0B8577"/>
          </a:solidFill>
          <a:ln>
            <a:noFill/>
          </a:ln>
        </p:spPr>
        <p:txBody>
          <a:bodyPr rtlCol="0" anchor="ctr"/>
          <a:lstStyle/>
          <a:p>
            <a:pPr algn="ctr"/>
          </a:p>
        </p:txBody>
      </p:sp>
      <p:sp>
        <p:nvSpPr>
          <p:cNvPr id="15" name="글 2"/>
          <p:cNvSpPr txBox="1"/>
          <p:nvPr/>
        </p:nvSpPr>
        <p:spPr>
          <a:xfrm>
            <a:off x="913790" y="3410712"/>
            <a:ext cx="184099" cy="274320"/>
          </a:xfrm>
          <a:prstGeom prst="rect">
            <a:avLst/>
          </a:prstGeom>
          <a:noFill/>
        </p:spPr>
        <p:txBody>
          <a:bodyPr wrap="none" anchor="t" lIns="0" rIns="0" tIns="0" bIns="0">
            <a:noAutofit/>
          </a:bodyPr>
          <a:lstStyle/>
          <a:p>
            <a:pPr algn="ctr" eaLnBrk="0" latinLnBrk="0"/>
            <a:r>
              <a:rPr sz="1439" b="1">
                <a:solidFill>
                  <a:srgbClr val="FFFFFF"/>
                </a:solidFill>
                <a:latin typeface="Noto Sans KR"/>
                <a:ea typeface="Noto Sans KR"/>
                <a:cs typeface="Noto Sans KR"/>
              </a:rPr>
              <a:t>2</a:t>
            </a:r>
          </a:p>
        </p:txBody>
      </p:sp>
      <p:sp>
        <p:nvSpPr>
          <p:cNvPr id="16" name="글 관제 화면"/>
          <p:cNvSpPr txBox="1"/>
          <p:nvPr/>
        </p:nvSpPr>
        <p:spPr>
          <a:xfrm>
            <a:off x="1371600" y="3261970"/>
            <a:ext cx="880026"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관제 화면</a:t>
            </a:r>
          </a:p>
        </p:txBody>
      </p:sp>
      <p:sp>
        <p:nvSpPr>
          <p:cNvPr id="17" name="글 7단계 재생 · 지도 레이어 · 관측 근거 "/>
          <p:cNvSpPr txBox="1"/>
          <p:nvPr/>
        </p:nvSpPr>
        <p:spPr>
          <a:xfrm>
            <a:off x="1371600" y="3610051"/>
            <a:ext cx="3527755"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7단계 재생 · 지도 레이어 · 관측 근거 · 단면 · Agent 질의</a:t>
            </a:r>
          </a:p>
        </p:txBody>
      </p:sp>
      <p:sp>
        <p:nvSpPr>
          <p:cNvPr id="18" name="Rounded Rectangle 17"/>
          <p:cNvSpPr/>
          <p:nvPr/>
        </p:nvSpPr>
        <p:spPr>
          <a:xfrm>
            <a:off x="5673669" y="3230880"/>
            <a:ext cx="970971" cy="251460"/>
          </a:xfrm>
          <a:prstGeom prst="roundRect">
            <a:avLst>
              <a:gd name="adj" fmla="val 50000"/>
            </a:avLst>
          </a:prstGeom>
          <a:solidFill>
            <a:srgbClr val="FFFFFF"/>
          </a:solidFill>
          <a:ln>
            <a:noFill/>
          </a:ln>
        </p:spPr>
        <p:txBody>
          <a:bodyPr rtlCol="0" anchor="ctr"/>
          <a:lstStyle/>
          <a:p>
            <a:pPr algn="ctr"/>
          </a:p>
        </p:txBody>
      </p:sp>
      <p:sp>
        <p:nvSpPr>
          <p:cNvPr id="19" name="글 재난·도로 담당"/>
          <p:cNvSpPr txBox="1"/>
          <p:nvPr/>
        </p:nvSpPr>
        <p:spPr>
          <a:xfrm>
            <a:off x="5772729" y="3283458"/>
            <a:ext cx="849051"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재난·도로 담당</a:t>
            </a:r>
          </a:p>
        </p:txBody>
      </p:sp>
      <p:sp>
        <p:nvSpPr>
          <p:cNvPr id="20" name="Rounded Rectangle 19"/>
          <p:cNvSpPr/>
          <p:nvPr/>
        </p:nvSpPr>
        <p:spPr>
          <a:xfrm>
            <a:off x="609600" y="4130040"/>
            <a:ext cx="6248400" cy="914400"/>
          </a:xfrm>
          <a:prstGeom prst="roundRect">
            <a:avLst>
              <a:gd name="adj" fmla="val 11666"/>
            </a:avLst>
          </a:prstGeom>
          <a:solidFill>
            <a:srgbClr val="F2F5F8"/>
          </a:solidFill>
          <a:ln>
            <a:noFill/>
          </a:ln>
        </p:spPr>
        <p:txBody>
          <a:bodyPr rtlCol="0" anchor="ctr"/>
          <a:lstStyle/>
          <a:p>
            <a:pPr algn="ctr"/>
          </a:p>
        </p:txBody>
      </p:sp>
      <p:sp>
        <p:nvSpPr>
          <p:cNvPr id="21" name="Oval 20"/>
          <p:cNvSpPr/>
          <p:nvPr/>
        </p:nvSpPr>
        <p:spPr>
          <a:xfrm>
            <a:off x="807720" y="4389120"/>
            <a:ext cx="396240" cy="396240"/>
          </a:xfrm>
          <a:prstGeom prst="ellipse">
            <a:avLst/>
          </a:prstGeom>
          <a:solidFill>
            <a:srgbClr val="B42318"/>
          </a:solidFill>
          <a:ln>
            <a:noFill/>
          </a:ln>
        </p:spPr>
        <p:txBody>
          <a:bodyPr rtlCol="0" anchor="ctr"/>
          <a:lstStyle/>
          <a:p>
            <a:pPr algn="ctr"/>
          </a:p>
        </p:txBody>
      </p:sp>
      <p:sp>
        <p:nvSpPr>
          <p:cNvPr id="22" name="글 3"/>
          <p:cNvSpPr txBox="1"/>
          <p:nvPr/>
        </p:nvSpPr>
        <p:spPr>
          <a:xfrm>
            <a:off x="913790" y="4477512"/>
            <a:ext cx="184099" cy="274320"/>
          </a:xfrm>
          <a:prstGeom prst="rect">
            <a:avLst/>
          </a:prstGeom>
          <a:noFill/>
        </p:spPr>
        <p:txBody>
          <a:bodyPr wrap="none" anchor="t" lIns="0" rIns="0" tIns="0" bIns="0">
            <a:noAutofit/>
          </a:bodyPr>
          <a:lstStyle/>
          <a:p>
            <a:pPr algn="ctr" eaLnBrk="0" latinLnBrk="0"/>
            <a:r>
              <a:rPr sz="1439" b="1">
                <a:solidFill>
                  <a:srgbClr val="FFFFFF"/>
                </a:solidFill>
                <a:latin typeface="Noto Sans KR"/>
                <a:ea typeface="Noto Sans KR"/>
                <a:cs typeface="Noto Sans KR"/>
              </a:rPr>
              <a:t>3</a:t>
            </a:r>
          </a:p>
        </p:txBody>
      </p:sp>
      <p:sp>
        <p:nvSpPr>
          <p:cNvPr id="23" name="글 시나리오 비교"/>
          <p:cNvSpPr txBox="1"/>
          <p:nvPr/>
        </p:nvSpPr>
        <p:spPr>
          <a:xfrm>
            <a:off x="1371600" y="4328770"/>
            <a:ext cx="1258588"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시나리오 비교</a:t>
            </a:r>
          </a:p>
        </p:txBody>
      </p:sp>
      <p:sp>
        <p:nvSpPr>
          <p:cNvPr id="24" name="글 통제 시각·유입 지연·HAND 임계를 바꿔 "/>
          <p:cNvSpPr txBox="1"/>
          <p:nvPr/>
        </p:nvSpPr>
        <p:spPr>
          <a:xfrm>
            <a:off x="1371600" y="4676851"/>
            <a:ext cx="3793716"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통제 시각·유입 지연·HAND 임계를 바꿔 결과와 가정을 나란히</a:t>
            </a:r>
          </a:p>
        </p:txBody>
      </p:sp>
      <p:sp>
        <p:nvSpPr>
          <p:cNvPr id="25" name="Rounded Rectangle 24"/>
          <p:cNvSpPr/>
          <p:nvPr/>
        </p:nvSpPr>
        <p:spPr>
          <a:xfrm>
            <a:off x="5618317" y="4297680"/>
            <a:ext cx="1026323" cy="251460"/>
          </a:xfrm>
          <a:prstGeom prst="roundRect">
            <a:avLst>
              <a:gd name="adj" fmla="val 50000"/>
            </a:avLst>
          </a:prstGeom>
          <a:solidFill>
            <a:srgbClr val="FFFFFF"/>
          </a:solidFill>
          <a:ln>
            <a:noFill/>
          </a:ln>
        </p:spPr>
        <p:txBody>
          <a:bodyPr rtlCol="0" anchor="ctr"/>
          <a:lstStyle/>
          <a:p>
            <a:pPr algn="ctr"/>
          </a:p>
        </p:txBody>
      </p:sp>
      <p:sp>
        <p:nvSpPr>
          <p:cNvPr id="26" name="글 훈련 · 사후 검토"/>
          <p:cNvSpPr txBox="1"/>
          <p:nvPr/>
        </p:nvSpPr>
        <p:spPr>
          <a:xfrm>
            <a:off x="5717377" y="4350258"/>
            <a:ext cx="904403"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훈련 · 사후 검토</a:t>
            </a:r>
          </a:p>
        </p:txBody>
      </p:sp>
      <p:sp>
        <p:nvSpPr>
          <p:cNvPr id="27" name="Rounded Rectangle 26"/>
          <p:cNvSpPr/>
          <p:nvPr/>
        </p:nvSpPr>
        <p:spPr>
          <a:xfrm>
            <a:off x="609600" y="5196840"/>
            <a:ext cx="6248400" cy="914400"/>
          </a:xfrm>
          <a:prstGeom prst="roundRect">
            <a:avLst>
              <a:gd name="adj" fmla="val 11666"/>
            </a:avLst>
          </a:prstGeom>
          <a:solidFill>
            <a:srgbClr val="F2F5F8"/>
          </a:solidFill>
          <a:ln>
            <a:noFill/>
          </a:ln>
        </p:spPr>
        <p:txBody>
          <a:bodyPr rtlCol="0" anchor="ctr"/>
          <a:lstStyle/>
          <a:p>
            <a:pPr algn="ctr"/>
          </a:p>
        </p:txBody>
      </p:sp>
      <p:sp>
        <p:nvSpPr>
          <p:cNvPr id="28" name="Oval 27"/>
          <p:cNvSpPr/>
          <p:nvPr/>
        </p:nvSpPr>
        <p:spPr>
          <a:xfrm>
            <a:off x="807720" y="5455920"/>
            <a:ext cx="396240" cy="396240"/>
          </a:xfrm>
          <a:prstGeom prst="ellipse">
            <a:avLst/>
          </a:prstGeom>
          <a:solidFill>
            <a:srgbClr val="0B8577"/>
          </a:solidFill>
          <a:ln>
            <a:noFill/>
          </a:ln>
        </p:spPr>
        <p:txBody>
          <a:bodyPr rtlCol="0" anchor="ctr"/>
          <a:lstStyle/>
          <a:p>
            <a:pPr algn="ctr"/>
          </a:p>
        </p:txBody>
      </p:sp>
      <p:sp>
        <p:nvSpPr>
          <p:cNvPr id="29" name="글 4"/>
          <p:cNvSpPr txBox="1"/>
          <p:nvPr/>
        </p:nvSpPr>
        <p:spPr>
          <a:xfrm>
            <a:off x="913790" y="5544312"/>
            <a:ext cx="184099" cy="274320"/>
          </a:xfrm>
          <a:prstGeom prst="rect">
            <a:avLst/>
          </a:prstGeom>
          <a:noFill/>
        </p:spPr>
        <p:txBody>
          <a:bodyPr wrap="none" anchor="t" lIns="0" rIns="0" tIns="0" bIns="0">
            <a:noAutofit/>
          </a:bodyPr>
          <a:lstStyle/>
          <a:p>
            <a:pPr algn="ctr" eaLnBrk="0" latinLnBrk="0"/>
            <a:r>
              <a:rPr sz="1439" b="1">
                <a:solidFill>
                  <a:srgbClr val="FFFFFF"/>
                </a:solidFill>
                <a:latin typeface="Noto Sans KR"/>
                <a:ea typeface="Noto Sans KR"/>
                <a:cs typeface="Noto Sans KR"/>
              </a:rPr>
              <a:t>4</a:t>
            </a:r>
          </a:p>
        </p:txBody>
      </p:sp>
      <p:sp>
        <p:nvSpPr>
          <p:cNvPr id="30" name="글 출처·한계"/>
          <p:cNvSpPr txBox="1"/>
          <p:nvPr/>
        </p:nvSpPr>
        <p:spPr>
          <a:xfrm>
            <a:off x="1371600" y="5395570"/>
            <a:ext cx="955121"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출처·한계</a:t>
            </a:r>
          </a:p>
        </p:txBody>
      </p:sp>
      <p:sp>
        <p:nvSpPr>
          <p:cNvPr id="31" name="글 자료 역할·시점·한계 5개 · 사건 연도와 "/>
          <p:cNvSpPr txBox="1"/>
          <p:nvPr/>
        </p:nvSpPr>
        <p:spPr>
          <a:xfrm>
            <a:off x="1371600" y="5743651"/>
            <a:ext cx="3323615"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자료 역할·시점·한계 5개 · 사건 연도와 자료 시점 분리</a:t>
            </a:r>
          </a:p>
        </p:txBody>
      </p:sp>
      <p:sp>
        <p:nvSpPr>
          <p:cNvPr id="32" name="Rounded Rectangle 31"/>
          <p:cNvSpPr/>
          <p:nvPr/>
        </p:nvSpPr>
        <p:spPr>
          <a:xfrm>
            <a:off x="5758160" y="5364480"/>
            <a:ext cx="886480" cy="251460"/>
          </a:xfrm>
          <a:prstGeom prst="roundRect">
            <a:avLst>
              <a:gd name="adj" fmla="val 50000"/>
            </a:avLst>
          </a:prstGeom>
          <a:solidFill>
            <a:srgbClr val="FFFFFF"/>
          </a:solidFill>
          <a:ln>
            <a:noFill/>
          </a:ln>
        </p:spPr>
        <p:txBody>
          <a:bodyPr rtlCol="0" anchor="ctr"/>
          <a:lstStyle/>
          <a:p>
            <a:pPr algn="ctr"/>
          </a:p>
        </p:txBody>
      </p:sp>
      <p:sp>
        <p:nvSpPr>
          <p:cNvPr id="33" name="글 검토자 · 감사"/>
          <p:cNvSpPr txBox="1"/>
          <p:nvPr/>
        </p:nvSpPr>
        <p:spPr>
          <a:xfrm>
            <a:off x="5857220" y="5417058"/>
            <a:ext cx="764560"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검토자 · 감사</a:t>
            </a:r>
          </a:p>
        </p:txBody>
      </p:sp>
      <p:sp>
        <p:nvSpPr>
          <p:cNvPr id="34" name="글 시스템 구성"/>
          <p:cNvSpPr txBox="1"/>
          <p:nvPr/>
        </p:nvSpPr>
        <p:spPr>
          <a:xfrm>
            <a:off x="7467600" y="1987296"/>
            <a:ext cx="811835"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시스템 구성</a:t>
            </a:r>
          </a:p>
        </p:txBody>
      </p:sp>
      <p:sp>
        <p:nvSpPr>
          <p:cNvPr id="35" name="Rounded Rectangle 34"/>
          <p:cNvSpPr/>
          <p:nvPr/>
        </p:nvSpPr>
        <p:spPr>
          <a:xfrm>
            <a:off x="7467600" y="2286000"/>
            <a:ext cx="4114800" cy="731520"/>
          </a:xfrm>
          <a:prstGeom prst="roundRect">
            <a:avLst>
              <a:gd name="adj" fmla="val 12500"/>
            </a:avLst>
          </a:prstGeom>
          <a:solidFill>
            <a:srgbClr val="FFFFFF"/>
          </a:solidFill>
          <a:ln w="11430">
            <a:solidFill>
              <a:srgbClr val="D6DEE6"/>
            </a:solidFill>
          </a:ln>
        </p:spPr>
        <p:txBody>
          <a:bodyPr rtlCol="0" anchor="ctr"/>
          <a:lstStyle/>
          <a:p>
            <a:pPr algn="ctr"/>
          </a:p>
        </p:txBody>
      </p:sp>
      <p:sp>
        <p:nvSpPr>
          <p:cNvPr id="36" name="글 브라우저"/>
          <p:cNvSpPr txBox="1"/>
          <p:nvPr/>
        </p:nvSpPr>
        <p:spPr>
          <a:xfrm>
            <a:off x="7680960" y="2445106"/>
            <a:ext cx="693115"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브라우저</a:t>
            </a:r>
          </a:p>
        </p:txBody>
      </p:sp>
      <p:sp>
        <p:nvSpPr>
          <p:cNvPr id="37" name="글 React · MapLibre GL · Es"/>
          <p:cNvSpPr txBox="1"/>
          <p:nvPr/>
        </p:nvSpPr>
        <p:spPr>
          <a:xfrm>
            <a:off x="7680960" y="2718206"/>
            <a:ext cx="2285848" cy="205740"/>
          </a:xfrm>
          <a:prstGeom prst="rect">
            <a:avLst/>
          </a:prstGeom>
          <a:noFill/>
        </p:spPr>
        <p:txBody>
          <a:bodyPr wrap="none" anchor="t" lIns="0" rIns="0" tIns="0" bIns="0">
            <a:noAutofit/>
          </a:bodyPr>
          <a:lstStyle/>
          <a:p>
            <a:pPr algn="l" eaLnBrk="0" latinLnBrk="0"/>
            <a:r>
              <a:rPr sz="1080" b="0">
                <a:solidFill>
                  <a:srgbClr val="566676"/>
                </a:solidFill>
                <a:latin typeface="Noto Sans KR"/>
                <a:ea typeface="Noto Sans KR"/>
                <a:cs typeface="Noto Sans KR"/>
              </a:rPr>
              <a:t>React · MapLibre GL · Esri 배경지도</a:t>
            </a:r>
          </a:p>
        </p:txBody>
      </p:sp>
      <p:cxnSp>
        <p:nvCxnSpPr>
          <p:cNvPr id="38" name="Connector 37"/>
          <p:cNvCxnSpPr/>
          <p:nvPr/>
        </p:nvCxnSpPr>
        <p:spPr>
          <a:xfrm>
            <a:off x="9525000" y="3048000"/>
            <a:ext cx="0" cy="152400"/>
          </a:xfrm>
          <a:prstGeom prst="line">
            <a:avLst/>
          </a:prstGeom>
          <a:ln w="19050">
            <a:solidFill>
              <a:srgbClr val="8494A3"/>
            </a:solidFill>
            <a:tailEnd type="triangle" w="med" len="med"/>
          </a:ln>
        </p:spPr>
      </p:cxnSp>
      <p:sp>
        <p:nvSpPr>
          <p:cNvPr id="39" name="Rounded Rectangle 38"/>
          <p:cNvSpPr/>
          <p:nvPr/>
        </p:nvSpPr>
        <p:spPr>
          <a:xfrm>
            <a:off x="7467600" y="3230880"/>
            <a:ext cx="4114800" cy="731520"/>
          </a:xfrm>
          <a:prstGeom prst="roundRect">
            <a:avLst>
              <a:gd name="adj" fmla="val 12500"/>
            </a:avLst>
          </a:prstGeom>
          <a:solidFill>
            <a:srgbClr val="F2F5F8"/>
          </a:solidFill>
          <a:ln>
            <a:noFill/>
          </a:ln>
        </p:spPr>
        <p:txBody>
          <a:bodyPr rtlCol="0" anchor="ctr"/>
          <a:lstStyle/>
          <a:p>
            <a:pPr algn="ctr"/>
          </a:p>
        </p:txBody>
      </p:sp>
      <p:sp>
        <p:nvSpPr>
          <p:cNvPr id="40" name="글 HTTPS · Caddy"/>
          <p:cNvSpPr txBox="1"/>
          <p:nvPr/>
        </p:nvSpPr>
        <p:spPr>
          <a:xfrm>
            <a:off x="7680960" y="3389986"/>
            <a:ext cx="1325621"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HTTPS · Caddy</a:t>
            </a:r>
          </a:p>
        </p:txBody>
      </p:sp>
      <p:sp>
        <p:nvSpPr>
          <p:cNvPr id="41" name="글 AWS EC2 1대 · Docker 컨테이너"/>
          <p:cNvSpPr txBox="1"/>
          <p:nvPr/>
        </p:nvSpPr>
        <p:spPr>
          <a:xfrm>
            <a:off x="7680960" y="3663086"/>
            <a:ext cx="2487473" cy="205740"/>
          </a:xfrm>
          <a:prstGeom prst="rect">
            <a:avLst/>
          </a:prstGeom>
          <a:noFill/>
        </p:spPr>
        <p:txBody>
          <a:bodyPr wrap="none" anchor="t" lIns="0" rIns="0" tIns="0" bIns="0">
            <a:noAutofit/>
          </a:bodyPr>
          <a:lstStyle/>
          <a:p>
            <a:pPr algn="l" eaLnBrk="0" latinLnBrk="0"/>
            <a:r>
              <a:rPr sz="1080" b="0">
                <a:solidFill>
                  <a:srgbClr val="566676"/>
                </a:solidFill>
                <a:latin typeface="Noto Sans KR"/>
                <a:ea typeface="Noto Sans KR"/>
                <a:cs typeface="Noto Sans KR"/>
              </a:rPr>
              <a:t>AWS EC2 1대 · Docker 컨테이너 600 MB</a:t>
            </a:r>
          </a:p>
        </p:txBody>
      </p:sp>
      <p:cxnSp>
        <p:nvCxnSpPr>
          <p:cNvPr id="42" name="Connector 41"/>
          <p:cNvCxnSpPr/>
          <p:nvPr/>
        </p:nvCxnSpPr>
        <p:spPr>
          <a:xfrm>
            <a:off x="9525000" y="3992880"/>
            <a:ext cx="0" cy="152400"/>
          </a:xfrm>
          <a:prstGeom prst="line">
            <a:avLst/>
          </a:prstGeom>
          <a:ln w="19050">
            <a:solidFill>
              <a:srgbClr val="8494A3"/>
            </a:solidFill>
            <a:tailEnd type="triangle" w="med" len="med"/>
          </a:ln>
        </p:spPr>
      </p:cxnSp>
      <p:sp>
        <p:nvSpPr>
          <p:cNvPr id="43" name="Rounded Rectangle 42"/>
          <p:cNvSpPr/>
          <p:nvPr/>
        </p:nvSpPr>
        <p:spPr>
          <a:xfrm>
            <a:off x="7467600" y="4175760"/>
            <a:ext cx="4114800" cy="731520"/>
          </a:xfrm>
          <a:prstGeom prst="roundRect">
            <a:avLst>
              <a:gd name="adj" fmla="val 12500"/>
            </a:avLst>
          </a:prstGeom>
          <a:solidFill>
            <a:srgbClr val="0B1B2B"/>
          </a:solidFill>
          <a:ln>
            <a:noFill/>
          </a:ln>
        </p:spPr>
        <p:txBody>
          <a:bodyPr rtlCol="0" anchor="ctr"/>
          <a:lstStyle/>
          <a:p>
            <a:pPr algn="ctr"/>
          </a:p>
        </p:txBody>
      </p:sp>
      <p:sp>
        <p:nvSpPr>
          <p:cNvPr id="44" name="글 FastAPI"/>
          <p:cNvSpPr txBox="1"/>
          <p:nvPr/>
        </p:nvSpPr>
        <p:spPr>
          <a:xfrm>
            <a:off x="7680960" y="4334866"/>
            <a:ext cx="701497" cy="251460"/>
          </a:xfrm>
          <a:prstGeom prst="rect">
            <a:avLst/>
          </a:prstGeom>
          <a:noFill/>
        </p:spPr>
        <p:txBody>
          <a:bodyPr wrap="none" anchor="t" lIns="0" rIns="0" tIns="0" bIns="0">
            <a:noAutofit/>
          </a:bodyPr>
          <a:lstStyle/>
          <a:p>
            <a:pPr algn="l" eaLnBrk="0" latinLnBrk="0"/>
            <a:r>
              <a:rPr sz="1320" b="1">
                <a:solidFill>
                  <a:srgbClr val="FFFFFF"/>
                </a:solidFill>
                <a:latin typeface="Noto Sans KR"/>
                <a:ea typeface="Noto Sans KR"/>
                <a:cs typeface="Noto Sans KR"/>
              </a:rPr>
              <a:t>FastAPI</a:t>
            </a:r>
          </a:p>
        </p:txBody>
      </p:sp>
      <p:sp>
        <p:nvSpPr>
          <p:cNvPr id="45" name="글 입력 검증 · 분석 API · Swagger"/>
          <p:cNvSpPr txBox="1"/>
          <p:nvPr/>
        </p:nvSpPr>
        <p:spPr>
          <a:xfrm>
            <a:off x="7680960" y="4607966"/>
            <a:ext cx="2608722" cy="205740"/>
          </a:xfrm>
          <a:prstGeom prst="rect">
            <a:avLst/>
          </a:prstGeom>
          <a:noFill/>
        </p:spPr>
        <p:txBody>
          <a:bodyPr wrap="none" anchor="t" lIns="0" rIns="0" tIns="0" bIns="0">
            <a:noAutofit/>
          </a:bodyPr>
          <a:lstStyle/>
          <a:p>
            <a:pPr algn="l" eaLnBrk="0" latinLnBrk="0"/>
            <a:r>
              <a:rPr sz="1080" b="0">
                <a:solidFill>
                  <a:srgbClr val="9DB2C6"/>
                </a:solidFill>
                <a:latin typeface="Noto Sans KR"/>
                <a:ea typeface="Noto Sans KR"/>
                <a:cs typeface="Noto Sans KR"/>
              </a:rPr>
              <a:t>입력 검증 · 분석 API · Swagger · 호출 제한</a:t>
            </a:r>
          </a:p>
        </p:txBody>
      </p:sp>
      <p:sp>
        <p:nvSpPr>
          <p:cNvPr id="46" name="Rounded Rectangle 45"/>
          <p:cNvSpPr/>
          <p:nvPr/>
        </p:nvSpPr>
        <p:spPr>
          <a:xfrm>
            <a:off x="7467600" y="5196840"/>
            <a:ext cx="1981200" cy="1066800"/>
          </a:xfrm>
          <a:prstGeom prst="roundRect">
            <a:avLst>
              <a:gd name="adj" fmla="val 8571"/>
            </a:avLst>
          </a:prstGeom>
          <a:solidFill>
            <a:srgbClr val="E1F2EF"/>
          </a:solidFill>
          <a:ln>
            <a:noFill/>
          </a:ln>
        </p:spPr>
        <p:txBody>
          <a:bodyPr rtlCol="0" anchor="ctr"/>
          <a:lstStyle/>
          <a:p>
            <a:pPr algn="ctr"/>
          </a:p>
        </p:txBody>
      </p:sp>
      <p:sp>
        <p:nvSpPr>
          <p:cNvPr id="47" name="글 사건 스냅샷 · manifest"/>
          <p:cNvSpPr txBox="1"/>
          <p:nvPr/>
        </p:nvSpPr>
        <p:spPr>
          <a:xfrm>
            <a:off x="7635240" y="5370576"/>
            <a:ext cx="1637081"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사건 스냅샷 · manifest</a:t>
            </a:r>
          </a:p>
        </p:txBody>
      </p:sp>
      <p:sp>
        <p:nvSpPr>
          <p:cNvPr id="48" name="글 GeoJSON · CSV · 검증 JSON"/>
          <p:cNvSpPr txBox="1"/>
          <p:nvPr/>
        </p:nvSpPr>
        <p:spPr>
          <a:xfrm>
            <a:off x="7635240" y="5666842"/>
            <a:ext cx="1751411" cy="194310"/>
          </a:xfrm>
          <a:prstGeom prst="rect">
            <a:avLst/>
          </a:prstGeom>
          <a:noFill/>
        </p:spPr>
        <p:txBody>
          <a:bodyPr wrap="none" anchor="t" lIns="0" rIns="0" tIns="0" bIns="0">
            <a:noAutofit/>
          </a:bodyPr>
          <a:lstStyle/>
          <a:p>
            <a:pPr algn="l" eaLnBrk="0" latinLnBrk="0"/>
            <a:r>
              <a:rPr sz="1019" b="0">
                <a:solidFill>
                  <a:srgbClr val="0F1E2E"/>
                </a:solidFill>
                <a:latin typeface="Noto Sans KR"/>
                <a:ea typeface="Noto Sans KR"/>
                <a:cs typeface="Noto Sans KR"/>
              </a:rPr>
              <a:t>GeoJSON · CSV · 검증 JSON</a:t>
            </a:r>
          </a:p>
        </p:txBody>
      </p:sp>
      <p:sp>
        <p:nvSpPr>
          <p:cNvPr id="49" name="글 출처·시점·SHA-256 기록"/>
          <p:cNvSpPr txBox="1"/>
          <p:nvPr/>
        </p:nvSpPr>
        <p:spPr>
          <a:xfrm>
            <a:off x="7635240" y="5895442"/>
            <a:ext cx="1476527" cy="194310"/>
          </a:xfrm>
          <a:prstGeom prst="rect">
            <a:avLst/>
          </a:prstGeom>
          <a:noFill/>
        </p:spPr>
        <p:txBody>
          <a:bodyPr wrap="none" anchor="t" lIns="0" rIns="0" tIns="0" bIns="0">
            <a:noAutofit/>
          </a:bodyPr>
          <a:lstStyle/>
          <a:p>
            <a:pPr algn="l" eaLnBrk="0" latinLnBrk="0"/>
            <a:r>
              <a:rPr sz="1019" b="0">
                <a:solidFill>
                  <a:srgbClr val="566676"/>
                </a:solidFill>
                <a:latin typeface="Noto Sans KR"/>
                <a:ea typeface="Noto Sans KR"/>
                <a:cs typeface="Noto Sans KR"/>
              </a:rPr>
              <a:t>출처·시점·SHA-256 기록</a:t>
            </a:r>
          </a:p>
        </p:txBody>
      </p:sp>
      <p:sp>
        <p:nvSpPr>
          <p:cNvPr id="50" name="Rounded Rectangle 49"/>
          <p:cNvSpPr/>
          <p:nvPr/>
        </p:nvSpPr>
        <p:spPr>
          <a:xfrm>
            <a:off x="9601200" y="5196840"/>
            <a:ext cx="1981200" cy="1066800"/>
          </a:xfrm>
          <a:prstGeom prst="roundRect">
            <a:avLst>
              <a:gd name="adj" fmla="val 8571"/>
            </a:avLst>
          </a:prstGeom>
          <a:solidFill>
            <a:srgbClr val="FAF0DC"/>
          </a:solidFill>
          <a:ln>
            <a:noFill/>
          </a:ln>
        </p:spPr>
        <p:txBody>
          <a:bodyPr rtlCol="0" anchor="ctr"/>
          <a:lstStyle/>
          <a:p>
            <a:pPr algn="ctr"/>
          </a:p>
        </p:txBody>
      </p:sp>
      <p:sp>
        <p:nvSpPr>
          <p:cNvPr id="51" name="글 Gemini Agent"/>
          <p:cNvSpPr txBox="1"/>
          <p:nvPr/>
        </p:nvSpPr>
        <p:spPr>
          <a:xfrm>
            <a:off x="9768840" y="5370576"/>
            <a:ext cx="1084936" cy="228600"/>
          </a:xfrm>
          <a:prstGeom prst="rect">
            <a:avLst/>
          </a:prstGeom>
          <a:noFill/>
        </p:spPr>
        <p:txBody>
          <a:bodyPr wrap="none" anchor="t" lIns="0" rIns="0" tIns="0" bIns="0">
            <a:noAutofit/>
          </a:bodyPr>
          <a:lstStyle/>
          <a:p>
            <a:pPr algn="l" eaLnBrk="0" latinLnBrk="0"/>
            <a:r>
              <a:rPr sz="1200" b="1">
                <a:solidFill>
                  <a:srgbClr val="8A5A00"/>
                </a:solidFill>
                <a:latin typeface="Noto Sans KR"/>
                <a:ea typeface="Noto Sans KR"/>
                <a:cs typeface="Noto Sans KR"/>
              </a:rPr>
              <a:t>Gemini Agent</a:t>
            </a:r>
          </a:p>
        </p:txBody>
      </p:sp>
      <p:sp>
        <p:nvSpPr>
          <p:cNvPr id="52" name="글 도구 선택 · 값 추출만"/>
          <p:cNvSpPr txBox="1"/>
          <p:nvPr/>
        </p:nvSpPr>
        <p:spPr>
          <a:xfrm>
            <a:off x="9768840" y="5666842"/>
            <a:ext cx="1218354" cy="194310"/>
          </a:xfrm>
          <a:prstGeom prst="rect">
            <a:avLst/>
          </a:prstGeom>
          <a:noFill/>
        </p:spPr>
        <p:txBody>
          <a:bodyPr wrap="none" anchor="t" lIns="0" rIns="0" tIns="0" bIns="0">
            <a:noAutofit/>
          </a:bodyPr>
          <a:lstStyle/>
          <a:p>
            <a:pPr algn="l" eaLnBrk="0" latinLnBrk="0"/>
            <a:r>
              <a:rPr sz="1019" b="0">
                <a:solidFill>
                  <a:srgbClr val="0F1E2E"/>
                </a:solidFill>
                <a:latin typeface="Noto Sans KR"/>
                <a:ea typeface="Noto Sans KR"/>
                <a:cs typeface="Noto Sans KR"/>
              </a:rPr>
              <a:t>도구 선택 · 값 추출만</a:t>
            </a:r>
          </a:p>
        </p:txBody>
      </p:sp>
      <p:sp>
        <p:nvSpPr>
          <p:cNvPr id="53" name="글 키 없으면 규칙 플래너"/>
          <p:cNvSpPr txBox="1"/>
          <p:nvPr/>
        </p:nvSpPr>
        <p:spPr>
          <a:xfrm>
            <a:off x="9768840" y="5895442"/>
            <a:ext cx="1235842" cy="194310"/>
          </a:xfrm>
          <a:prstGeom prst="rect">
            <a:avLst/>
          </a:prstGeom>
          <a:noFill/>
        </p:spPr>
        <p:txBody>
          <a:bodyPr wrap="none" anchor="t" lIns="0" rIns="0" tIns="0" bIns="0">
            <a:noAutofit/>
          </a:bodyPr>
          <a:lstStyle/>
          <a:p>
            <a:pPr algn="l" eaLnBrk="0" latinLnBrk="0"/>
            <a:r>
              <a:rPr sz="1019" b="0">
                <a:solidFill>
                  <a:srgbClr val="566676"/>
                </a:solidFill>
                <a:latin typeface="Noto Sans KR"/>
                <a:ea typeface="Noto Sans KR"/>
                <a:cs typeface="Noto Sans KR"/>
              </a:rPr>
              <a:t>키 없으면 규칙 플래너</a:t>
            </a:r>
          </a:p>
        </p:txBody>
      </p:sp>
      <p:cxnSp>
        <p:nvCxnSpPr>
          <p:cNvPr id="54" name="Connector 53"/>
          <p:cNvCxnSpPr/>
          <p:nvPr/>
        </p:nvCxnSpPr>
        <p:spPr>
          <a:xfrm>
            <a:off x="8458200" y="4953000"/>
            <a:ext cx="0" cy="198120"/>
          </a:xfrm>
          <a:prstGeom prst="line">
            <a:avLst/>
          </a:prstGeom>
          <a:ln w="19050">
            <a:solidFill>
              <a:srgbClr val="8494A3"/>
            </a:solidFill>
            <a:tailEnd type="triangle" w="med" len="med"/>
          </a:ln>
        </p:spPr>
      </p:cxnSp>
      <p:cxnSp>
        <p:nvCxnSpPr>
          <p:cNvPr id="55" name="Connector 54"/>
          <p:cNvCxnSpPr/>
          <p:nvPr/>
        </p:nvCxnSpPr>
        <p:spPr>
          <a:xfrm>
            <a:off x="10591800" y="4953000"/>
            <a:ext cx="0" cy="198120"/>
          </a:xfrm>
          <a:prstGeom prst="line">
            <a:avLst/>
          </a:prstGeom>
          <a:ln w="19050">
            <a:solidFill>
              <a:srgbClr val="8494A3"/>
            </a:solidFill>
            <a:tailEnd type="triangle" w="med" len="med"/>
          </a:ln>
        </p:spPr>
      </p:cxnSp>
      <p:sp>
        <p:nvSpPr>
          <p:cNvPr id="56" name="글 지도 레이어는 화면이 쓰는 속성과 5자리 좌"/>
          <p:cNvSpPr txBox="1"/>
          <p:nvPr/>
        </p:nvSpPr>
        <p:spPr>
          <a:xfrm>
            <a:off x="609600" y="6345326"/>
            <a:ext cx="8767618" cy="205740"/>
          </a:xfrm>
          <a:prstGeom prst="rect">
            <a:avLst/>
          </a:prstGeom>
          <a:noFill/>
        </p:spPr>
        <p:txBody>
          <a:bodyPr wrap="none" anchor="t" lIns="0" rIns="0" tIns="0" bIns="0">
            <a:noAutofit/>
          </a:bodyPr>
          <a:lstStyle/>
          <a:p>
            <a:pPr algn="l" eaLnBrk="0" latinLnBrk="0"/>
            <a:r>
              <a:rPr sz="1080" b="0">
                <a:solidFill>
                  <a:srgbClr val="0F1E2E"/>
                </a:solidFill>
                <a:latin typeface="Noto Sans KR"/>
                <a:ea typeface="Noto Sans KR"/>
                <a:cs typeface="Noto Sans KR"/>
              </a:rPr>
              <a:t>지도 레이어는 화면이 쓰는 속성과 5자리 좌표만 보내 오송 1.07 MB, 서울 1.18 MB(gzip)로 받습니다. 시나리오 상태는 메모리에 두는 단일 서버 구성입니다.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5"/>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15</a:t>
            </a:r>
          </a:p>
        </p:txBody>
      </p:sp>
      <p:sp>
        <p:nvSpPr>
          <p:cNvPr id="3" name="글 서비스와 활용 · 화면 ① 관제"/>
          <p:cNvSpPr txBox="1"/>
          <p:nvPr/>
        </p:nvSpPr>
        <p:spPr>
          <a:xfrm>
            <a:off x="896112" y="509016"/>
            <a:ext cx="1886864"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서비스와 활용 · 화면 ① 관제</a:t>
            </a:r>
          </a:p>
        </p:txBody>
      </p:sp>
      <p:sp>
        <p:nvSpPr>
          <p:cNvPr id="4" name="글 사건 단계와 지도, 관측 근거를 한 화면에서"/>
          <p:cNvSpPr txBox="1"/>
          <p:nvPr/>
        </p:nvSpPr>
        <p:spPr>
          <a:xfrm>
            <a:off x="609600" y="853440"/>
            <a:ext cx="8516874"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사건 단계와 지도, 관측 근거를 한 화면에서 재생합니다</a:t>
            </a:r>
          </a:p>
        </p:txBody>
      </p:sp>
      <p:sp>
        <p:nvSpPr>
          <p:cNvPr id="5" name="글 왼쪽에서 단계를 바꾸면 지도의 침수 추정 셀"/>
          <p:cNvSpPr txBox="1"/>
          <p:nvPr/>
        </p:nvSpPr>
        <p:spPr>
          <a:xfrm>
            <a:off x="609600" y="1409395"/>
            <a:ext cx="6140684"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왼쪽에서 단계를 바꾸면 지도의 침수 추정 셀과 오른쪽 단면·수위가 같이 바뀝니다</a:t>
            </a:r>
          </a:p>
        </p:txBody>
      </p:sp>
      <p:sp>
        <p:nvSpPr>
          <p:cNvPr id="6" name="Rounded Rectangle 5"/>
          <p:cNvSpPr/>
          <p:nvPr/>
        </p:nvSpPr>
        <p:spPr>
          <a:xfrm>
            <a:off x="563880" y="1950720"/>
            <a:ext cx="7711440" cy="4377690"/>
          </a:xfrm>
          <a:prstGeom prst="roundRect">
            <a:avLst>
              <a:gd name="adj" fmla="val 1740"/>
            </a:avLst>
          </a:prstGeom>
          <a:solidFill>
            <a:srgbClr val="E3E9EF"/>
          </a:solidFill>
          <a:ln>
            <a:noFill/>
          </a:ln>
        </p:spPr>
        <p:txBody>
          <a:bodyPr rtlCol="0" anchor="ctr"/>
          <a:lstStyle/>
          <a:p>
            <a:pPr algn="ctr"/>
          </a:p>
        </p:txBody>
      </p:sp>
      <p:sp>
        <p:nvSpPr>
          <p:cNvPr id="7" name="Rounded Rectangle 6"/>
          <p:cNvSpPr/>
          <p:nvPr/>
        </p:nvSpPr>
        <p:spPr>
          <a:xfrm>
            <a:off x="609600" y="1996440"/>
            <a:ext cx="7620000" cy="4286250"/>
          </a:xfrm>
          <a:prstGeom prst="roundRect">
            <a:avLst>
              <a:gd name="adj" fmla="val 711"/>
            </a:avLst>
          </a:prstGeom>
          <a:solidFill>
            <a:srgbClr val="0B1B2B"/>
          </a:solidFill>
          <a:ln>
            <a:noFill/>
          </a:ln>
        </p:spPr>
        <p:txBody>
          <a:bodyPr rtlCol="0" anchor="ctr"/>
          <a:lstStyle/>
          <a:p>
            <a:pPr algn="ctr"/>
          </a:p>
        </p:txBody>
      </p:sp>
      <p:sp>
        <p:nvSpPr>
          <p:cNvPr id="8" name="Oval 7"/>
          <p:cNvSpPr/>
          <p:nvPr/>
        </p:nvSpPr>
        <p:spPr>
          <a:xfrm>
            <a:off x="8549640" y="2057400"/>
            <a:ext cx="274320" cy="274320"/>
          </a:xfrm>
          <a:prstGeom prst="ellipse">
            <a:avLst/>
          </a:prstGeom>
          <a:solidFill>
            <a:srgbClr val="0B8577"/>
          </a:solidFill>
          <a:ln>
            <a:noFill/>
          </a:ln>
        </p:spPr>
        <p:txBody>
          <a:bodyPr rtlCol="0" anchor="ctr"/>
          <a:lstStyle/>
          <a:p>
            <a:pPr algn="ctr"/>
          </a:p>
        </p:txBody>
      </p:sp>
      <p:sp>
        <p:nvSpPr>
          <p:cNvPr id="9" name="글 1"/>
          <p:cNvSpPr txBox="1"/>
          <p:nvPr/>
        </p:nvSpPr>
        <p:spPr>
          <a:xfrm>
            <a:off x="8608238" y="21122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1</a:t>
            </a:r>
          </a:p>
        </p:txBody>
      </p:sp>
      <p:sp>
        <p:nvSpPr>
          <p:cNvPr id="10" name="글 판단 우선순위"/>
          <p:cNvSpPr txBox="1"/>
          <p:nvPr/>
        </p:nvSpPr>
        <p:spPr>
          <a:xfrm>
            <a:off x="8930640" y="2094586"/>
            <a:ext cx="1039627"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판단 우선순위</a:t>
            </a:r>
          </a:p>
        </p:txBody>
      </p:sp>
      <p:sp>
        <p:nvSpPr>
          <p:cNvPr id="11" name="글 대응 시점 · 공간 상태 · 먼저 볼 자료"/>
          <p:cNvSpPr txBox="1"/>
          <p:nvPr/>
        </p:nvSpPr>
        <p:spPr>
          <a:xfrm>
            <a:off x="8930640" y="23486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대응 시점 · 공간 상태 · 먼저 볼 자료</a:t>
            </a:r>
          </a:p>
        </p:txBody>
      </p:sp>
      <p:sp>
        <p:nvSpPr>
          <p:cNvPr id="12" name="Oval 11"/>
          <p:cNvSpPr/>
          <p:nvPr/>
        </p:nvSpPr>
        <p:spPr>
          <a:xfrm>
            <a:off x="8549640" y="2895600"/>
            <a:ext cx="274320" cy="274320"/>
          </a:xfrm>
          <a:prstGeom prst="ellipse">
            <a:avLst/>
          </a:prstGeom>
          <a:solidFill>
            <a:srgbClr val="0B8577"/>
          </a:solidFill>
          <a:ln>
            <a:noFill/>
          </a:ln>
        </p:spPr>
        <p:txBody>
          <a:bodyPr rtlCol="0" anchor="ctr"/>
          <a:lstStyle/>
          <a:p>
            <a:pPr algn="ctr"/>
          </a:p>
        </p:txBody>
      </p:sp>
      <p:sp>
        <p:nvSpPr>
          <p:cNvPr id="13" name="글 2"/>
          <p:cNvSpPr txBox="1"/>
          <p:nvPr/>
        </p:nvSpPr>
        <p:spPr>
          <a:xfrm>
            <a:off x="8608238" y="29504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2</a:t>
            </a:r>
          </a:p>
        </p:txBody>
      </p:sp>
      <p:sp>
        <p:nvSpPr>
          <p:cNvPr id="14" name="글 사건 단계 7개"/>
          <p:cNvSpPr txBox="1"/>
          <p:nvPr/>
        </p:nvSpPr>
        <p:spPr>
          <a:xfrm>
            <a:off x="8930640" y="2932786"/>
            <a:ext cx="1022360"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사건 단계 7개</a:t>
            </a:r>
          </a:p>
        </p:txBody>
      </p:sp>
      <p:sp>
        <p:nvSpPr>
          <p:cNvPr id="15" name="글 시각 · 출처 · 확신도 · «출처 쪽수 확"/>
          <p:cNvSpPr txBox="1"/>
          <p:nvPr/>
        </p:nvSpPr>
        <p:spPr>
          <a:xfrm>
            <a:off x="8930640" y="31868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시각 · 출처 · 확신도 · «출처 쪽수 확인 필요»</a:t>
            </a:r>
          </a:p>
        </p:txBody>
      </p:sp>
      <p:sp>
        <p:nvSpPr>
          <p:cNvPr id="16" name="Oval 15"/>
          <p:cNvSpPr/>
          <p:nvPr/>
        </p:nvSpPr>
        <p:spPr>
          <a:xfrm>
            <a:off x="8549640" y="3733800"/>
            <a:ext cx="274320" cy="274320"/>
          </a:xfrm>
          <a:prstGeom prst="ellipse">
            <a:avLst/>
          </a:prstGeom>
          <a:solidFill>
            <a:srgbClr val="0B8577"/>
          </a:solidFill>
          <a:ln>
            <a:noFill/>
          </a:ln>
        </p:spPr>
        <p:txBody>
          <a:bodyPr rtlCol="0" anchor="ctr"/>
          <a:lstStyle/>
          <a:p>
            <a:pPr algn="ctr"/>
          </a:p>
        </p:txBody>
      </p:sp>
      <p:sp>
        <p:nvSpPr>
          <p:cNvPr id="17" name="글 3"/>
          <p:cNvSpPr txBox="1"/>
          <p:nvPr/>
        </p:nvSpPr>
        <p:spPr>
          <a:xfrm>
            <a:off x="8608238" y="37886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3</a:t>
            </a:r>
          </a:p>
        </p:txBody>
      </p:sp>
      <p:sp>
        <p:nvSpPr>
          <p:cNvPr id="18" name="글 지도"/>
          <p:cNvSpPr txBox="1"/>
          <p:nvPr/>
        </p:nvSpPr>
        <p:spPr>
          <a:xfrm>
            <a:off x="8930640" y="3770986"/>
            <a:ext cx="384658"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지도</a:t>
            </a:r>
          </a:p>
        </p:txBody>
      </p:sp>
      <p:sp>
        <p:nvSpPr>
          <p:cNvPr id="19" name="글 HAND 셀 · 미호강 · 궁평2지하차도 ·"/>
          <p:cNvSpPr txBox="1"/>
          <p:nvPr/>
        </p:nvSpPr>
        <p:spPr>
          <a:xfrm>
            <a:off x="8930640" y="4025036"/>
            <a:ext cx="2887066" cy="438912"/>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HAND 셀 · 미호강 · 궁평2지하차도 · 흐름</a:t>
            </a:r>
            <a:br/>
            <a:r>
              <a:rPr sz="1080" b="0">
                <a:solidFill>
                  <a:srgbClr val="566676"/>
                </a:solidFill>
                <a:latin typeface="Noto Sans KR"/>
                <a:ea typeface="Noto Sans KR"/>
                <a:cs typeface="Noto Sans KR"/>
              </a:rPr>
              <a:t>연결선</a:t>
            </a:r>
          </a:p>
        </p:txBody>
      </p:sp>
      <p:sp>
        <p:nvSpPr>
          <p:cNvPr id="20" name="Oval 19"/>
          <p:cNvSpPr/>
          <p:nvPr/>
        </p:nvSpPr>
        <p:spPr>
          <a:xfrm>
            <a:off x="8549640" y="4572000"/>
            <a:ext cx="274320" cy="274320"/>
          </a:xfrm>
          <a:prstGeom prst="ellipse">
            <a:avLst/>
          </a:prstGeom>
          <a:solidFill>
            <a:srgbClr val="0B8577"/>
          </a:solidFill>
          <a:ln>
            <a:noFill/>
          </a:ln>
        </p:spPr>
        <p:txBody>
          <a:bodyPr rtlCol="0" anchor="ctr"/>
          <a:lstStyle/>
          <a:p>
            <a:pPr algn="ctr"/>
          </a:p>
        </p:txBody>
      </p:sp>
      <p:sp>
        <p:nvSpPr>
          <p:cNvPr id="21" name="글 4"/>
          <p:cNvSpPr txBox="1"/>
          <p:nvPr/>
        </p:nvSpPr>
        <p:spPr>
          <a:xfrm>
            <a:off x="8608238" y="46268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4</a:t>
            </a:r>
          </a:p>
        </p:txBody>
      </p:sp>
      <p:sp>
        <p:nvSpPr>
          <p:cNvPr id="22" name="글 셀 단면"/>
          <p:cNvSpPr txBox="1"/>
          <p:nvPr/>
        </p:nvSpPr>
        <p:spPr>
          <a:xfrm>
            <a:off x="8930640" y="4609186"/>
            <a:ext cx="576941"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셀 단면</a:t>
            </a:r>
          </a:p>
        </p:txBody>
      </p:sp>
      <p:sp>
        <p:nvSpPr>
          <p:cNvPr id="23" name="글 관측 수위 상승분과 HAND 임계 4.52 "/>
          <p:cNvSpPr txBox="1"/>
          <p:nvPr/>
        </p:nvSpPr>
        <p:spPr>
          <a:xfrm>
            <a:off x="8930640" y="48632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관측 수위 상승분과 HAND 임계 4.52 m 표시</a:t>
            </a:r>
          </a:p>
        </p:txBody>
      </p:sp>
      <p:sp>
        <p:nvSpPr>
          <p:cNvPr id="24" name="Oval 23"/>
          <p:cNvSpPr/>
          <p:nvPr/>
        </p:nvSpPr>
        <p:spPr>
          <a:xfrm>
            <a:off x="8549640" y="5410200"/>
            <a:ext cx="274320" cy="274320"/>
          </a:xfrm>
          <a:prstGeom prst="ellipse">
            <a:avLst/>
          </a:prstGeom>
          <a:solidFill>
            <a:srgbClr val="0B8577"/>
          </a:solidFill>
          <a:ln>
            <a:noFill/>
          </a:ln>
        </p:spPr>
        <p:txBody>
          <a:bodyPr rtlCol="0" anchor="ctr"/>
          <a:lstStyle/>
          <a:p>
            <a:pPr algn="ctr"/>
          </a:p>
        </p:txBody>
      </p:sp>
      <p:sp>
        <p:nvSpPr>
          <p:cNvPr id="25" name="글 5"/>
          <p:cNvSpPr txBox="1"/>
          <p:nvPr/>
        </p:nvSpPr>
        <p:spPr>
          <a:xfrm>
            <a:off x="8608238" y="54650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5</a:t>
            </a:r>
          </a:p>
        </p:txBody>
      </p:sp>
      <p:sp>
        <p:nvSpPr>
          <p:cNvPr id="26" name="글 Agent 입력"/>
          <p:cNvSpPr txBox="1"/>
          <p:nvPr/>
        </p:nvSpPr>
        <p:spPr>
          <a:xfrm>
            <a:off x="8930640" y="5447386"/>
            <a:ext cx="905683"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Agent 입력</a:t>
            </a:r>
          </a:p>
        </p:txBody>
      </p:sp>
      <p:sp>
        <p:nvSpPr>
          <p:cNvPr id="27" name="글 질문하면 도구와 근거를 보여줌"/>
          <p:cNvSpPr txBox="1"/>
          <p:nvPr/>
        </p:nvSpPr>
        <p:spPr>
          <a:xfrm>
            <a:off x="8930640" y="57014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질문하면 도구와 근거를 보여줌</a:t>
            </a:r>
          </a:p>
        </p:txBody>
      </p:sp>
      <p:pic>
        <p:nvPicPr>
          <p:cNvPr id="28" name="화면 캡처 1" descr="15-screen_console-0.png"/>
          <p:cNvPicPr>
            <a:picLocks noChangeAspect="1"/>
          </p:cNvPicPr>
          <p:nvPr/>
        </p:nvPicPr>
        <p:blipFill>
          <a:blip r:embed="rId2"/>
          <a:stretch>
            <a:fillRect/>
          </a:stretch>
        </p:blipFill>
        <p:spPr>
          <a:xfrm>
            <a:off x="609600" y="1996440"/>
            <a:ext cx="7620000" cy="428625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6"/>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16</a:t>
            </a:r>
          </a:p>
        </p:txBody>
      </p:sp>
      <p:sp>
        <p:nvSpPr>
          <p:cNvPr id="3" name="글 서비스와 활용 · 화면 ② 시나리오 비교"/>
          <p:cNvSpPr txBox="1"/>
          <p:nvPr/>
        </p:nvSpPr>
        <p:spPr>
          <a:xfrm>
            <a:off x="896112" y="509016"/>
            <a:ext cx="2481834"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서비스와 활용 · 화면 ② 시나리오 비교</a:t>
            </a:r>
          </a:p>
        </p:txBody>
      </p:sp>
      <p:sp>
        <p:nvSpPr>
          <p:cNvPr id="4" name="글 원시나리오와 가정을 나란히 두고 가정을 밝힙"/>
          <p:cNvSpPr txBox="1"/>
          <p:nvPr/>
        </p:nvSpPr>
        <p:spPr>
          <a:xfrm>
            <a:off x="609600" y="853440"/>
            <a:ext cx="7869555"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원시나리오와 가정을 나란히 두고 가정을 밝힙니다</a:t>
            </a:r>
          </a:p>
        </p:txBody>
      </p:sp>
      <p:sp>
        <p:nvSpPr>
          <p:cNvPr id="5" name="글 Agent 없이 통제 시각을 직접 고르고, "/>
          <p:cNvSpPr txBox="1"/>
          <p:nvPr/>
        </p:nvSpPr>
        <p:spPr>
          <a:xfrm>
            <a:off x="609600" y="1409395"/>
            <a:ext cx="6667012"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Agent 없이 통제 시각을 직접 고르고, 바뀌는 값과 바뀌지 않는 기록을 분리해 보여줍니다</a:t>
            </a:r>
          </a:p>
        </p:txBody>
      </p:sp>
      <p:sp>
        <p:nvSpPr>
          <p:cNvPr id="6" name="Rounded Rectangle 5"/>
          <p:cNvSpPr/>
          <p:nvPr/>
        </p:nvSpPr>
        <p:spPr>
          <a:xfrm>
            <a:off x="563880" y="1950720"/>
            <a:ext cx="7711440" cy="4377690"/>
          </a:xfrm>
          <a:prstGeom prst="roundRect">
            <a:avLst>
              <a:gd name="adj" fmla="val 1740"/>
            </a:avLst>
          </a:prstGeom>
          <a:solidFill>
            <a:srgbClr val="E3E9EF"/>
          </a:solidFill>
          <a:ln>
            <a:noFill/>
          </a:ln>
        </p:spPr>
        <p:txBody>
          <a:bodyPr rtlCol="0" anchor="ctr"/>
          <a:lstStyle/>
          <a:p>
            <a:pPr algn="ctr"/>
          </a:p>
        </p:txBody>
      </p:sp>
      <p:sp>
        <p:nvSpPr>
          <p:cNvPr id="7" name="Rounded Rectangle 6"/>
          <p:cNvSpPr/>
          <p:nvPr/>
        </p:nvSpPr>
        <p:spPr>
          <a:xfrm>
            <a:off x="609600" y="1996440"/>
            <a:ext cx="7620000" cy="4286250"/>
          </a:xfrm>
          <a:prstGeom prst="roundRect">
            <a:avLst>
              <a:gd name="adj" fmla="val 711"/>
            </a:avLst>
          </a:prstGeom>
          <a:solidFill>
            <a:srgbClr val="0B1B2B"/>
          </a:solidFill>
          <a:ln>
            <a:noFill/>
          </a:ln>
        </p:spPr>
        <p:txBody>
          <a:bodyPr rtlCol="0" anchor="ctr"/>
          <a:lstStyle/>
          <a:p>
            <a:pPr algn="ctr"/>
          </a:p>
        </p:txBody>
      </p:sp>
      <p:sp>
        <p:nvSpPr>
          <p:cNvPr id="8" name="Oval 7"/>
          <p:cNvSpPr/>
          <p:nvPr/>
        </p:nvSpPr>
        <p:spPr>
          <a:xfrm>
            <a:off x="8549640" y="2057400"/>
            <a:ext cx="274320" cy="274320"/>
          </a:xfrm>
          <a:prstGeom prst="ellipse">
            <a:avLst/>
          </a:prstGeom>
          <a:solidFill>
            <a:srgbClr val="0B8577"/>
          </a:solidFill>
          <a:ln>
            <a:noFill/>
          </a:ln>
        </p:spPr>
        <p:txBody>
          <a:bodyPr rtlCol="0" anchor="ctr"/>
          <a:lstStyle/>
          <a:p>
            <a:pPr algn="ctr"/>
          </a:p>
        </p:txBody>
      </p:sp>
      <p:sp>
        <p:nvSpPr>
          <p:cNvPr id="9" name="글 1"/>
          <p:cNvSpPr txBox="1"/>
          <p:nvPr/>
        </p:nvSpPr>
        <p:spPr>
          <a:xfrm>
            <a:off x="8608238" y="21122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1</a:t>
            </a:r>
          </a:p>
        </p:txBody>
      </p:sp>
      <p:sp>
        <p:nvSpPr>
          <p:cNvPr id="10" name="글 비교 대상 선택"/>
          <p:cNvSpPr txBox="1"/>
          <p:nvPr/>
        </p:nvSpPr>
        <p:spPr>
          <a:xfrm>
            <a:off x="8930640" y="2094586"/>
            <a:ext cx="1077681"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비교 대상 선택</a:t>
            </a:r>
          </a:p>
        </p:txBody>
      </p:sp>
      <p:sp>
        <p:nvSpPr>
          <p:cNvPr id="11" name="글 지하차도 통제 시각 · HAND 셀 선택 기"/>
          <p:cNvSpPr txBox="1"/>
          <p:nvPr/>
        </p:nvSpPr>
        <p:spPr>
          <a:xfrm>
            <a:off x="8930640" y="23486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지하차도 통제 시각 · HAND 셀 선택 기준</a:t>
            </a:r>
          </a:p>
        </p:txBody>
      </p:sp>
      <p:sp>
        <p:nvSpPr>
          <p:cNvPr id="12" name="Oval 11"/>
          <p:cNvSpPr/>
          <p:nvPr/>
        </p:nvSpPr>
        <p:spPr>
          <a:xfrm>
            <a:off x="8549640" y="2895600"/>
            <a:ext cx="274320" cy="274320"/>
          </a:xfrm>
          <a:prstGeom prst="ellipse">
            <a:avLst/>
          </a:prstGeom>
          <a:solidFill>
            <a:srgbClr val="0B8577"/>
          </a:solidFill>
          <a:ln>
            <a:noFill/>
          </a:ln>
        </p:spPr>
        <p:txBody>
          <a:bodyPr rtlCol="0" anchor="ctr"/>
          <a:lstStyle/>
          <a:p>
            <a:pPr algn="ctr"/>
          </a:p>
        </p:txBody>
      </p:sp>
      <p:sp>
        <p:nvSpPr>
          <p:cNvPr id="13" name="글 2"/>
          <p:cNvSpPr txBox="1"/>
          <p:nvPr/>
        </p:nvSpPr>
        <p:spPr>
          <a:xfrm>
            <a:off x="8608238" y="29504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2</a:t>
            </a:r>
          </a:p>
        </p:txBody>
      </p:sp>
      <p:sp>
        <p:nvSpPr>
          <p:cNvPr id="14" name="글 원시나리오"/>
          <p:cNvSpPr txBox="1"/>
          <p:nvPr/>
        </p:nvSpPr>
        <p:spPr>
          <a:xfrm>
            <a:off x="8930640" y="2932786"/>
            <a:ext cx="847344"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원시나리오</a:t>
            </a:r>
          </a:p>
        </p:txBody>
      </p:sp>
      <p:sp>
        <p:nvSpPr>
          <p:cNvPr id="15" name="글 2023 관측 사건 경과 · 유입 08:27"/>
          <p:cNvSpPr txBox="1"/>
          <p:nvPr/>
        </p:nvSpPr>
        <p:spPr>
          <a:xfrm>
            <a:off x="8930640" y="3186836"/>
            <a:ext cx="2887066" cy="438912"/>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2023 관측 사건 경과 · 유입 08:27 · 완전 침수</a:t>
            </a:r>
            <a:br/>
            <a:r>
              <a:rPr sz="1080" b="0">
                <a:solidFill>
                  <a:srgbClr val="566676"/>
                </a:solidFill>
                <a:latin typeface="Noto Sans KR"/>
                <a:ea typeface="Noto Sans KR"/>
                <a:cs typeface="Noto Sans KR"/>
              </a:rPr>
              <a:t>13분</a:t>
            </a:r>
          </a:p>
        </p:txBody>
      </p:sp>
      <p:sp>
        <p:nvSpPr>
          <p:cNvPr id="16" name="Oval 15"/>
          <p:cNvSpPr/>
          <p:nvPr/>
        </p:nvSpPr>
        <p:spPr>
          <a:xfrm>
            <a:off x="8549640" y="3733800"/>
            <a:ext cx="274320" cy="274320"/>
          </a:xfrm>
          <a:prstGeom prst="ellipse">
            <a:avLst/>
          </a:prstGeom>
          <a:solidFill>
            <a:srgbClr val="0B8577"/>
          </a:solidFill>
          <a:ln>
            <a:noFill/>
          </a:ln>
        </p:spPr>
        <p:txBody>
          <a:bodyPr rtlCol="0" anchor="ctr"/>
          <a:lstStyle/>
          <a:p>
            <a:pPr algn="ctr"/>
          </a:p>
        </p:txBody>
      </p:sp>
      <p:sp>
        <p:nvSpPr>
          <p:cNvPr id="17" name="글 3"/>
          <p:cNvSpPr txBox="1"/>
          <p:nvPr/>
        </p:nvSpPr>
        <p:spPr>
          <a:xfrm>
            <a:off x="8608238" y="37886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3</a:t>
            </a:r>
          </a:p>
        </p:txBody>
      </p:sp>
      <p:sp>
        <p:nvSpPr>
          <p:cNvPr id="18" name="글 가정한 통제 시각"/>
          <p:cNvSpPr txBox="1"/>
          <p:nvPr/>
        </p:nvSpPr>
        <p:spPr>
          <a:xfrm>
            <a:off x="8930640" y="3770986"/>
            <a:ext cx="1231910"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가정한 통제 시각</a:t>
            </a:r>
          </a:p>
        </p:txBody>
      </p:sp>
      <p:sp>
        <p:nvSpPr>
          <p:cNvPr id="19" name="글 슬라이더 · 사건 단계 버튼(08:09 · "/>
          <p:cNvSpPr txBox="1"/>
          <p:nvPr/>
        </p:nvSpPr>
        <p:spPr>
          <a:xfrm>
            <a:off x="8930640" y="4025036"/>
            <a:ext cx="2887066" cy="438912"/>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슬라이더 · 사건 단계 버튼(08:09 · 08:27 ·</a:t>
            </a:r>
            <a:br/>
            <a:r>
              <a:rPr sz="1080" b="0">
                <a:solidFill>
                  <a:srgbClr val="566676"/>
                </a:solidFill>
                <a:latin typeface="Noto Sans KR"/>
                <a:ea typeface="Noto Sans KR"/>
                <a:cs typeface="Noto Sans KR"/>
              </a:rPr>
              <a:t>08:35)</a:t>
            </a:r>
          </a:p>
        </p:txBody>
      </p:sp>
      <p:sp>
        <p:nvSpPr>
          <p:cNvPr id="20" name="Oval 19"/>
          <p:cNvSpPr/>
          <p:nvPr/>
        </p:nvSpPr>
        <p:spPr>
          <a:xfrm>
            <a:off x="8549640" y="4572000"/>
            <a:ext cx="274320" cy="274320"/>
          </a:xfrm>
          <a:prstGeom prst="ellipse">
            <a:avLst/>
          </a:prstGeom>
          <a:solidFill>
            <a:srgbClr val="0B8577"/>
          </a:solidFill>
          <a:ln>
            <a:noFill/>
          </a:ln>
        </p:spPr>
        <p:txBody>
          <a:bodyPr rtlCol="0" anchor="ctr"/>
          <a:lstStyle/>
          <a:p>
            <a:pPr algn="ctr"/>
          </a:p>
        </p:txBody>
      </p:sp>
      <p:sp>
        <p:nvSpPr>
          <p:cNvPr id="21" name="글 4"/>
          <p:cNvSpPr txBox="1"/>
          <p:nvPr/>
        </p:nvSpPr>
        <p:spPr>
          <a:xfrm>
            <a:off x="8608238" y="46268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4</a:t>
            </a:r>
          </a:p>
        </p:txBody>
      </p:sp>
      <p:sp>
        <p:nvSpPr>
          <p:cNvPr id="22" name="글 결과 세 칸"/>
          <p:cNvSpPr txBox="1"/>
          <p:nvPr/>
        </p:nvSpPr>
        <p:spPr>
          <a:xfrm>
            <a:off x="8930640" y="4609186"/>
            <a:ext cx="769224"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결과 세 칸</a:t>
            </a:r>
          </a:p>
        </p:txBody>
      </p:sp>
      <p:sp>
        <p:nvSpPr>
          <p:cNvPr id="23" name="글 18분 전 통제 · 바꾸는 것 · 그대로인 "/>
          <p:cNvSpPr txBox="1"/>
          <p:nvPr/>
        </p:nvSpPr>
        <p:spPr>
          <a:xfrm>
            <a:off x="8930640" y="48632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18분 전 통제 · 바꾸는 것 · 그대로인 기록</a:t>
            </a:r>
          </a:p>
        </p:txBody>
      </p:sp>
      <p:sp>
        <p:nvSpPr>
          <p:cNvPr id="24" name="Oval 23"/>
          <p:cNvSpPr/>
          <p:nvPr/>
        </p:nvSpPr>
        <p:spPr>
          <a:xfrm>
            <a:off x="8549640" y="5410200"/>
            <a:ext cx="274320" cy="274320"/>
          </a:xfrm>
          <a:prstGeom prst="ellipse">
            <a:avLst/>
          </a:prstGeom>
          <a:solidFill>
            <a:srgbClr val="0B8577"/>
          </a:solidFill>
          <a:ln>
            <a:noFill/>
          </a:ln>
        </p:spPr>
        <p:txBody>
          <a:bodyPr rtlCol="0" anchor="ctr"/>
          <a:lstStyle/>
          <a:p>
            <a:pPr algn="ctr"/>
          </a:p>
        </p:txBody>
      </p:sp>
      <p:sp>
        <p:nvSpPr>
          <p:cNvPr id="25" name="글 5"/>
          <p:cNvSpPr txBox="1"/>
          <p:nvPr/>
        </p:nvSpPr>
        <p:spPr>
          <a:xfrm>
            <a:off x="8608238" y="54650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5</a:t>
            </a:r>
          </a:p>
        </p:txBody>
      </p:sp>
      <p:sp>
        <p:nvSpPr>
          <p:cNvPr id="26" name="글 공간 비교"/>
          <p:cNvSpPr txBox="1"/>
          <p:nvPr/>
        </p:nvSpPr>
        <p:spPr>
          <a:xfrm>
            <a:off x="8930640" y="5447386"/>
            <a:ext cx="731169"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공간 비교</a:t>
            </a:r>
          </a:p>
        </p:txBody>
      </p:sp>
      <p:sp>
        <p:nvSpPr>
          <p:cNvPr id="27" name="글 같은 단계의 두 지도 · 침수 진행은 변하지"/>
          <p:cNvSpPr txBox="1"/>
          <p:nvPr/>
        </p:nvSpPr>
        <p:spPr>
          <a:xfrm>
            <a:off x="8930640" y="57014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같은 단계의 두 지도 · 침수 진행은 변하지 않음</a:t>
            </a:r>
          </a:p>
        </p:txBody>
      </p:sp>
      <p:pic>
        <p:nvPicPr>
          <p:cNvPr id="28" name="화면 캡처 1" descr="16-screen_compare-0.png"/>
          <p:cNvPicPr>
            <a:picLocks noChangeAspect="1"/>
          </p:cNvPicPr>
          <p:nvPr/>
        </p:nvPicPr>
        <p:blipFill>
          <a:blip r:embed="rId2"/>
          <a:stretch>
            <a:fillRect/>
          </a:stretch>
        </p:blipFill>
        <p:spPr>
          <a:xfrm>
            <a:off x="609600" y="1996440"/>
            <a:ext cx="7620000" cy="428625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7"/>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17</a:t>
            </a:r>
          </a:p>
        </p:txBody>
      </p:sp>
      <p:sp>
        <p:nvSpPr>
          <p:cNvPr id="3" name="글 서비스와 활용 · 화면 ③ 다른 사례"/>
          <p:cNvSpPr txBox="1"/>
          <p:nvPr/>
        </p:nvSpPr>
        <p:spPr>
          <a:xfrm>
            <a:off x="896112" y="509016"/>
            <a:ext cx="220141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서비스와 활용 · 화면 ③ 다른 사례</a:t>
            </a:r>
          </a:p>
        </p:txBody>
      </p:sp>
      <p:sp>
        <p:nvSpPr>
          <p:cNvPr id="4" name="글 서울·포항·안동도 같은 틀로 재생하고 비교합"/>
          <p:cNvSpPr txBox="1"/>
          <p:nvPr/>
        </p:nvSpPr>
        <p:spPr>
          <a:xfrm>
            <a:off x="609600" y="853440"/>
            <a:ext cx="7883652"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서울·포항·안동도 같은 틀로 재생하고 비교합니다</a:t>
            </a:r>
          </a:p>
        </p:txBody>
      </p:sp>
      <p:sp>
        <p:nvSpPr>
          <p:cNvPr id="5" name="글 자료 수준이 다른 사례는 화면 종류를 바꾸되"/>
          <p:cNvSpPr txBox="1"/>
          <p:nvPr/>
        </p:nvSpPr>
        <p:spPr>
          <a:xfrm>
            <a:off x="609600" y="1409395"/>
            <a:ext cx="6507358"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자료 수준이 다른 사례는 화면 종류를 바꾸되, 단계 재생과 시나리오 비교 탭은 같습니다</a:t>
            </a:r>
          </a:p>
        </p:txBody>
      </p:sp>
      <p:sp>
        <p:nvSpPr>
          <p:cNvPr id="6" name="Rounded Rectangle 5"/>
          <p:cNvSpPr/>
          <p:nvPr/>
        </p:nvSpPr>
        <p:spPr>
          <a:xfrm>
            <a:off x="563880" y="1950720"/>
            <a:ext cx="3657600" cy="2320290"/>
          </a:xfrm>
          <a:prstGeom prst="roundRect">
            <a:avLst>
              <a:gd name="adj" fmla="val 3284"/>
            </a:avLst>
          </a:prstGeom>
          <a:solidFill>
            <a:srgbClr val="E3E9EF"/>
          </a:solidFill>
          <a:ln>
            <a:noFill/>
          </a:ln>
        </p:spPr>
        <p:txBody>
          <a:bodyPr rtlCol="0" anchor="ctr"/>
          <a:lstStyle/>
          <a:p>
            <a:pPr algn="ctr"/>
          </a:p>
        </p:txBody>
      </p:sp>
      <p:sp>
        <p:nvSpPr>
          <p:cNvPr id="7" name="Rounded Rectangle 6"/>
          <p:cNvSpPr/>
          <p:nvPr/>
        </p:nvSpPr>
        <p:spPr>
          <a:xfrm>
            <a:off x="609600" y="1996440"/>
            <a:ext cx="3566160" cy="2228850"/>
          </a:xfrm>
          <a:prstGeom prst="roundRect">
            <a:avLst>
              <a:gd name="adj" fmla="val 1367"/>
            </a:avLst>
          </a:prstGeom>
          <a:solidFill>
            <a:srgbClr val="0B1B2B"/>
          </a:solidFill>
          <a:ln>
            <a:noFill/>
          </a:ln>
        </p:spPr>
        <p:txBody>
          <a:bodyPr rtlCol="0" anchor="ctr"/>
          <a:lstStyle/>
          <a:p>
            <a:pPr algn="ctr"/>
          </a:p>
        </p:txBody>
      </p:sp>
      <p:sp>
        <p:nvSpPr>
          <p:cNvPr id="8" name="글 2022 서울 도림천"/>
          <p:cNvSpPr txBox="1"/>
          <p:nvPr/>
        </p:nvSpPr>
        <p:spPr>
          <a:xfrm>
            <a:off x="609600" y="4411066"/>
            <a:ext cx="1319083"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2022 서울 도림천</a:t>
            </a:r>
          </a:p>
        </p:txBody>
      </p:sp>
      <p:sp>
        <p:nvSpPr>
          <p:cNvPr id="9" name="글 도림천 양안 띠가 강우 비율로 넓어지고, 공"/>
          <p:cNvSpPr txBox="1"/>
          <p:nvPr/>
        </p:nvSpPr>
        <p:spPr>
          <a:xfrm>
            <a:off x="609600" y="4683557"/>
            <a:ext cx="3791712"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도림천 양안 띠가 강우 비율로 넓어지고, 공식 침수흔적은 설계강우</a:t>
            </a:r>
            <a:br/>
            <a:r>
              <a:rPr sz="960" b="0">
                <a:solidFill>
                  <a:srgbClr val="566676"/>
                </a:solidFill>
                <a:latin typeface="Noto Sans KR"/>
                <a:ea typeface="Noto Sans KR"/>
                <a:cs typeface="Noto Sans KR"/>
              </a:rPr>
              <a:t>초과 뒤 깊은 곳부터 드러남 · 경보·빗물터널 비교</a:t>
            </a:r>
          </a:p>
        </p:txBody>
      </p:sp>
      <p:sp>
        <p:nvSpPr>
          <p:cNvPr id="10" name="Rounded Rectangle 9"/>
          <p:cNvSpPr/>
          <p:nvPr/>
        </p:nvSpPr>
        <p:spPr>
          <a:xfrm>
            <a:off x="4267200" y="1950720"/>
            <a:ext cx="3657600" cy="2320290"/>
          </a:xfrm>
          <a:prstGeom prst="roundRect">
            <a:avLst>
              <a:gd name="adj" fmla="val 3284"/>
            </a:avLst>
          </a:prstGeom>
          <a:solidFill>
            <a:srgbClr val="E3E9EF"/>
          </a:solidFill>
          <a:ln>
            <a:noFill/>
          </a:ln>
        </p:spPr>
        <p:txBody>
          <a:bodyPr rtlCol="0" anchor="ctr"/>
          <a:lstStyle/>
          <a:p>
            <a:pPr algn="ctr"/>
          </a:p>
        </p:txBody>
      </p:sp>
      <p:sp>
        <p:nvSpPr>
          <p:cNvPr id="11" name="Rounded Rectangle 10"/>
          <p:cNvSpPr/>
          <p:nvPr/>
        </p:nvSpPr>
        <p:spPr>
          <a:xfrm>
            <a:off x="4312920" y="1996440"/>
            <a:ext cx="3566160" cy="2228850"/>
          </a:xfrm>
          <a:prstGeom prst="roundRect">
            <a:avLst>
              <a:gd name="adj" fmla="val 1367"/>
            </a:avLst>
          </a:prstGeom>
          <a:solidFill>
            <a:srgbClr val="0B1B2B"/>
          </a:solidFill>
          <a:ln>
            <a:noFill/>
          </a:ln>
        </p:spPr>
        <p:txBody>
          <a:bodyPr rtlCol="0" anchor="ctr"/>
          <a:lstStyle/>
          <a:p>
            <a:pPr algn="ctr"/>
          </a:p>
        </p:txBody>
      </p:sp>
      <p:sp>
        <p:nvSpPr>
          <p:cNvPr id="12" name="글 2022 포항 냉천"/>
          <p:cNvSpPr txBox="1"/>
          <p:nvPr/>
        </p:nvSpPr>
        <p:spPr>
          <a:xfrm>
            <a:off x="4312920" y="4411066"/>
            <a:ext cx="1164854"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2022 포항 냉천</a:t>
            </a:r>
          </a:p>
        </p:txBody>
      </p:sp>
      <p:sp>
        <p:nvSpPr>
          <p:cNvPr id="13" name="글 냉천 양안 띠가 보도된 사건 순서로 넓어짐("/>
          <p:cNvSpPr txBox="1"/>
          <p:nvPr/>
        </p:nvSpPr>
        <p:spPr>
          <a:xfrm>
            <a:off x="4312920" y="4683557"/>
            <a:ext cx="3791712"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냉천 양안 띠가 보도된 사건 순서로 넓어짐(HAND 근사) · 진입 금지</a:t>
            </a:r>
            <a:br/>
            <a:r>
              <a:rPr sz="960" b="0">
                <a:solidFill>
                  <a:srgbClr val="566676"/>
                </a:solidFill>
                <a:latin typeface="Noto Sans KR"/>
                <a:ea typeface="Noto Sans KR"/>
                <a:cs typeface="Noto Sans KR"/>
              </a:rPr>
              <a:t>안내 시각 비교</a:t>
            </a:r>
          </a:p>
        </p:txBody>
      </p:sp>
      <p:sp>
        <p:nvSpPr>
          <p:cNvPr id="14" name="Rounded Rectangle 13"/>
          <p:cNvSpPr/>
          <p:nvPr/>
        </p:nvSpPr>
        <p:spPr>
          <a:xfrm>
            <a:off x="7970520" y="1950720"/>
            <a:ext cx="3657600" cy="2320290"/>
          </a:xfrm>
          <a:prstGeom prst="roundRect">
            <a:avLst>
              <a:gd name="adj" fmla="val 3284"/>
            </a:avLst>
          </a:prstGeom>
          <a:solidFill>
            <a:srgbClr val="E3E9EF"/>
          </a:solidFill>
          <a:ln>
            <a:noFill/>
          </a:ln>
        </p:spPr>
        <p:txBody>
          <a:bodyPr rtlCol="0" anchor="ctr"/>
          <a:lstStyle/>
          <a:p>
            <a:pPr algn="ctr"/>
          </a:p>
        </p:txBody>
      </p:sp>
      <p:sp>
        <p:nvSpPr>
          <p:cNvPr id="15" name="Rounded Rectangle 14"/>
          <p:cNvSpPr/>
          <p:nvPr/>
        </p:nvSpPr>
        <p:spPr>
          <a:xfrm>
            <a:off x="8016240" y="1996440"/>
            <a:ext cx="3566160" cy="2228850"/>
          </a:xfrm>
          <a:prstGeom prst="roundRect">
            <a:avLst>
              <a:gd name="adj" fmla="val 1367"/>
            </a:avLst>
          </a:prstGeom>
          <a:solidFill>
            <a:srgbClr val="0B1B2B"/>
          </a:solidFill>
          <a:ln>
            <a:noFill/>
          </a:ln>
        </p:spPr>
        <p:txBody>
          <a:bodyPr rtlCol="0" anchor="ctr"/>
          <a:lstStyle/>
          <a:p>
            <a:pPr algn="ctr"/>
          </a:p>
        </p:txBody>
      </p:sp>
      <p:sp>
        <p:nvSpPr>
          <p:cNvPr id="16" name="글 2026 안동·의성"/>
          <p:cNvSpPr txBox="1"/>
          <p:nvPr/>
        </p:nvSpPr>
        <p:spPr>
          <a:xfrm>
            <a:off x="8016240" y="4411066"/>
            <a:ext cx="1226043"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2026 안동·의성</a:t>
            </a:r>
          </a:p>
        </p:txBody>
      </p:sp>
      <p:sp>
        <p:nvSpPr>
          <p:cNvPr id="17" name="글 미천 river 선 띠가 경보 수위 예측까지"/>
          <p:cNvSpPr txBox="1"/>
          <p:nvPr/>
        </p:nvSpPr>
        <p:spPr>
          <a:xfrm>
            <a:off x="8016240" y="4683557"/>
            <a:ext cx="3791712"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미천 river 선 띠가 경보 수위 예측까지 넓어졌다 해제 뒤 줄어듦 ·</a:t>
            </a:r>
            <a:br/>
            <a:r>
              <a:rPr sz="960" b="0">
                <a:solidFill>
                  <a:srgbClr val="566676"/>
                </a:solidFill>
                <a:latin typeface="Noto Sans KR"/>
                <a:ea typeface="Noto Sans KR"/>
                <a:cs typeface="Noto Sans KR"/>
              </a:rPr>
              <a:t>대피명령 시각 비교</a:t>
            </a:r>
          </a:p>
        </p:txBody>
      </p:sp>
      <p:sp>
        <p:nvSpPr>
          <p:cNvPr id="18" name="Rounded Rectangle 17"/>
          <p:cNvSpPr/>
          <p:nvPr/>
        </p:nvSpPr>
        <p:spPr>
          <a:xfrm>
            <a:off x="609600" y="5638800"/>
            <a:ext cx="10972800" cy="685800"/>
          </a:xfrm>
          <a:prstGeom prst="roundRect">
            <a:avLst>
              <a:gd name="adj" fmla="val 13333"/>
            </a:avLst>
          </a:prstGeom>
          <a:solidFill>
            <a:srgbClr val="E1F2EF"/>
          </a:solidFill>
          <a:ln>
            <a:noFill/>
          </a:ln>
        </p:spPr>
        <p:txBody>
          <a:bodyPr rtlCol="0" anchor="ctr"/>
          <a:lstStyle/>
          <a:p>
            <a:pPr algn="ctr"/>
          </a:p>
        </p:txBody>
      </p:sp>
      <p:sp>
        <p:nvSpPr>
          <p:cNvPr id="19" name="글 세 화면 모두 하천을 따라 넓어졌다 줄어드는"/>
          <p:cNvSpPr txBox="1"/>
          <p:nvPr/>
        </p:nvSpPr>
        <p:spPr>
          <a:xfrm>
            <a:off x="822960" y="5740298"/>
            <a:ext cx="7491893" cy="452628"/>
          </a:xfrm>
          <a:prstGeom prst="rect">
            <a:avLst/>
          </a:prstGeom>
          <a:noFill/>
        </p:spPr>
        <p:txBody>
          <a:bodyPr wrap="none" anchor="t" lIns="0" rIns="0" tIns="0" bIns="0">
            <a:noAutofit/>
          </a:bodyPr>
          <a:lstStyle/>
          <a:p>
            <a:pPr algn="l" eaLnBrk="0" latinLnBrk="0">
              <a:lnSpc>
                <a:spcPct val="125000"/>
              </a:lnSpc>
            </a:pPr>
            <a:r>
              <a:rPr sz="1080" b="0">
                <a:solidFill>
                  <a:srgbClr val="0B8577"/>
                </a:solidFill>
                <a:latin typeface="Noto Sans KR"/>
                <a:ea typeface="Noto Sans KR"/>
                <a:cs typeface="Noto Sans KR"/>
              </a:rPr>
              <a:t>세 화면 모두 하천을 따라 넓어졌다 줄어드는 같은 규칙의 붉은 띠이며, 범례에 «HAND 근사»와 현재 셀 수를 적습니다.</a:t>
            </a:r>
          </a:p>
          <a:p>
            <a:pPr algn="l" eaLnBrk="0" latinLnBrk="0">
              <a:lnSpc>
                <a:spcPct val="125000"/>
              </a:lnSpc>
            </a:pPr>
            <a:r>
              <a:rPr sz="1080" b="0">
                <a:solidFill>
                  <a:srgbClr val="0B8577"/>
                </a:solidFill>
                <a:latin typeface="Noto Sans KR"/>
                <a:ea typeface="Noto Sans KR"/>
                <a:cs typeface="Noto Sans KR"/>
              </a:rPr>
              <a:t>재생 단계를 넘기면 서울 띠 405 → 1,218셀(흔적 0 → 10,468건), 포항 0 → 236 → 415셀, 안동 605 → 1,073 → 265셀로 바뀝니다.</a:t>
            </a:r>
          </a:p>
        </p:txBody>
      </p:sp>
      <p:pic>
        <p:nvPicPr>
          <p:cNvPr id="20" name="화면 캡처 1" descr="17-screen_cases-0.png"/>
          <p:cNvPicPr>
            <a:picLocks noChangeAspect="1"/>
          </p:cNvPicPr>
          <p:nvPr/>
        </p:nvPicPr>
        <p:blipFill>
          <a:blip r:embed="rId2"/>
          <a:stretch>
            <a:fillRect/>
          </a:stretch>
        </p:blipFill>
        <p:spPr>
          <a:xfrm>
            <a:off x="609600" y="1996440"/>
            <a:ext cx="3566160" cy="2228850"/>
          </a:xfrm>
          <a:prstGeom prst="rect">
            <a:avLst/>
          </a:prstGeom>
        </p:spPr>
      </p:pic>
      <p:pic>
        <p:nvPicPr>
          <p:cNvPr id="21" name="화면 캡처 2" descr="17-screen_cases-1.png"/>
          <p:cNvPicPr>
            <a:picLocks noChangeAspect="1"/>
          </p:cNvPicPr>
          <p:nvPr/>
        </p:nvPicPr>
        <p:blipFill>
          <a:blip r:embed="rId3"/>
          <a:stretch>
            <a:fillRect/>
          </a:stretch>
        </p:blipFill>
        <p:spPr>
          <a:xfrm>
            <a:off x="4312920" y="1996440"/>
            <a:ext cx="3566160" cy="2228850"/>
          </a:xfrm>
          <a:prstGeom prst="rect">
            <a:avLst/>
          </a:prstGeom>
        </p:spPr>
      </p:pic>
      <p:pic>
        <p:nvPicPr>
          <p:cNvPr id="22" name="화면 캡처 3" descr="17-screen_cases-2.png"/>
          <p:cNvPicPr>
            <a:picLocks noChangeAspect="1"/>
          </p:cNvPicPr>
          <p:nvPr/>
        </p:nvPicPr>
        <p:blipFill>
          <a:blip r:embed="rId4"/>
          <a:stretch>
            <a:fillRect/>
          </a:stretch>
        </p:blipFill>
        <p:spPr>
          <a:xfrm>
            <a:off x="8016240" y="1996440"/>
            <a:ext cx="3566160" cy="222885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8"/>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18</a:t>
            </a:r>
          </a:p>
        </p:txBody>
      </p:sp>
      <p:sp>
        <p:nvSpPr>
          <p:cNvPr id="3" name="글 서비스와 활용 · 활용 시나리오"/>
          <p:cNvSpPr txBox="1"/>
          <p:nvPr/>
        </p:nvSpPr>
        <p:spPr>
          <a:xfrm>
            <a:off x="896112" y="509016"/>
            <a:ext cx="1980743"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서비스와 활용 · 활용 시나리오</a:t>
            </a:r>
          </a:p>
        </p:txBody>
      </p:sp>
      <p:sp>
        <p:nvSpPr>
          <p:cNvPr id="4" name="글 같은 재생 결과를 세 가지 업무가 다르게 씁"/>
          <p:cNvSpPr txBox="1"/>
          <p:nvPr/>
        </p:nvSpPr>
        <p:spPr>
          <a:xfrm>
            <a:off x="609600" y="853440"/>
            <a:ext cx="7341489"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같은 재생 결과를 세 가지 업무가 다르게 씁니다</a:t>
            </a:r>
          </a:p>
        </p:txBody>
      </p:sp>
      <p:sp>
        <p:nvSpPr>
          <p:cNvPr id="5" name="글 실시간 예측이나 자동 통제가 아니라, 과거 "/>
          <p:cNvSpPr txBox="1"/>
          <p:nvPr/>
        </p:nvSpPr>
        <p:spPr>
          <a:xfrm>
            <a:off x="609600" y="1409395"/>
            <a:ext cx="6600627"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실시간 예측이나 자동 통제가 아니라, 과거 사건으로 «언제»를 반복 검토하는 도구입니다</a:t>
            </a:r>
          </a:p>
        </p:txBody>
      </p:sp>
      <p:sp>
        <p:nvSpPr>
          <p:cNvPr id="6" name="Rounded Rectangle 5"/>
          <p:cNvSpPr/>
          <p:nvPr/>
        </p:nvSpPr>
        <p:spPr>
          <a:xfrm>
            <a:off x="609600" y="1950720"/>
            <a:ext cx="3489960" cy="3840480"/>
          </a:xfrm>
          <a:prstGeom prst="roundRect">
            <a:avLst>
              <a:gd name="adj" fmla="val 3056"/>
            </a:avLst>
          </a:prstGeom>
          <a:solidFill>
            <a:srgbClr val="F2F5F8"/>
          </a:solidFill>
          <a:ln>
            <a:noFill/>
          </a:ln>
        </p:spPr>
        <p:txBody>
          <a:bodyPr rtlCol="0" anchor="ctr"/>
          <a:lstStyle/>
          <a:p>
            <a:pPr algn="ctr"/>
          </a:p>
        </p:txBody>
      </p:sp>
      <p:sp>
        <p:nvSpPr>
          <p:cNvPr id="7" name="Oval 6"/>
          <p:cNvSpPr/>
          <p:nvPr/>
        </p:nvSpPr>
        <p:spPr>
          <a:xfrm>
            <a:off x="807720" y="2179320"/>
            <a:ext cx="548640" cy="548640"/>
          </a:xfrm>
          <a:prstGeom prst="ellipse">
            <a:avLst/>
          </a:prstGeom>
          <a:solidFill>
            <a:srgbClr val="E1F2EF"/>
          </a:solidFill>
          <a:ln>
            <a:noFill/>
          </a:ln>
        </p:spPr>
        <p:txBody>
          <a:bodyPr rtlCol="0" anchor="ctr"/>
          <a:lstStyle/>
          <a:p>
            <a:pPr algn="ctr"/>
          </a:p>
        </p:txBody>
      </p:sp>
      <p:pic>
        <p:nvPicPr>
          <p:cNvPr id="8" name="아이콘 기관" descr="18-users-1.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9640" y="2301240"/>
            <a:ext cx="304800" cy="304800"/>
          </a:xfrm>
          <a:prstGeom prst="rect">
            <a:avLst/>
          </a:prstGeom>
        </p:spPr>
      </p:pic>
      <p:sp>
        <p:nvSpPr>
          <p:cNvPr id="9" name="글 지자체 재난 · 도로 담당"/>
          <p:cNvSpPr txBox="1"/>
          <p:nvPr/>
        </p:nvSpPr>
        <p:spPr>
          <a:xfrm>
            <a:off x="853440" y="2949245"/>
            <a:ext cx="2013814"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지자체 재난 · 도로 담당</a:t>
            </a:r>
          </a:p>
        </p:txBody>
      </p:sp>
      <p:sp>
        <p:nvSpPr>
          <p:cNvPr id="10" name="글 훈련과 통제 기준 검토"/>
          <p:cNvSpPr txBox="1"/>
          <p:nvPr/>
        </p:nvSpPr>
        <p:spPr>
          <a:xfrm>
            <a:off x="853440" y="3259531"/>
            <a:ext cx="1372271"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훈련과 통제 기준 검토</a:t>
            </a:r>
          </a:p>
        </p:txBody>
      </p:sp>
      <p:sp>
        <p:nvSpPr>
          <p:cNvPr id="11" name="Oval 10"/>
          <p:cNvSpPr/>
          <p:nvPr/>
        </p:nvSpPr>
        <p:spPr>
          <a:xfrm>
            <a:off x="861060" y="3688080"/>
            <a:ext cx="228600" cy="228600"/>
          </a:xfrm>
          <a:prstGeom prst="ellipse">
            <a:avLst/>
          </a:prstGeom>
          <a:solidFill>
            <a:srgbClr val="FFFFFF"/>
          </a:solidFill>
          <a:ln w="11430">
            <a:solidFill>
              <a:srgbClr val="0B8577"/>
            </a:solidFill>
          </a:ln>
        </p:spPr>
        <p:txBody>
          <a:bodyPr rtlCol="0" anchor="ctr"/>
          <a:lstStyle/>
          <a:p>
            <a:pPr algn="ctr"/>
          </a:p>
        </p:txBody>
      </p:sp>
      <p:sp>
        <p:nvSpPr>
          <p:cNvPr id="12" name="글 1"/>
          <p:cNvSpPr txBox="1"/>
          <p:nvPr/>
        </p:nvSpPr>
        <p:spPr>
          <a:xfrm>
            <a:off x="901294" y="373105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1</a:t>
            </a:r>
          </a:p>
        </p:txBody>
      </p:sp>
      <p:sp>
        <p:nvSpPr>
          <p:cNvPr id="13" name="글 사건을 단계별로 재생해 상황 공유"/>
          <p:cNvSpPr txBox="1"/>
          <p:nvPr/>
        </p:nvSpPr>
        <p:spPr>
          <a:xfrm>
            <a:off x="1188720" y="3716731"/>
            <a:ext cx="207068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사건을 단계별로 재생해 상황 공유</a:t>
            </a:r>
          </a:p>
        </p:txBody>
      </p:sp>
      <p:sp>
        <p:nvSpPr>
          <p:cNvPr id="14" name="Oval 13"/>
          <p:cNvSpPr/>
          <p:nvPr/>
        </p:nvSpPr>
        <p:spPr>
          <a:xfrm>
            <a:off x="861060" y="4130040"/>
            <a:ext cx="228600" cy="228600"/>
          </a:xfrm>
          <a:prstGeom prst="ellipse">
            <a:avLst/>
          </a:prstGeom>
          <a:solidFill>
            <a:srgbClr val="FFFFFF"/>
          </a:solidFill>
          <a:ln w="11430">
            <a:solidFill>
              <a:srgbClr val="0B8577"/>
            </a:solidFill>
          </a:ln>
        </p:spPr>
        <p:txBody>
          <a:bodyPr rtlCol="0" anchor="ctr"/>
          <a:lstStyle/>
          <a:p>
            <a:pPr algn="ctr"/>
          </a:p>
        </p:txBody>
      </p:sp>
      <p:sp>
        <p:nvSpPr>
          <p:cNvPr id="15" name="글 2"/>
          <p:cNvSpPr txBox="1"/>
          <p:nvPr/>
        </p:nvSpPr>
        <p:spPr>
          <a:xfrm>
            <a:off x="901294" y="417301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2</a:t>
            </a:r>
          </a:p>
        </p:txBody>
      </p:sp>
      <p:sp>
        <p:nvSpPr>
          <p:cNvPr id="16" name="글 통제 시각을 바꿔 남는 분 확인"/>
          <p:cNvSpPr txBox="1"/>
          <p:nvPr/>
        </p:nvSpPr>
        <p:spPr>
          <a:xfrm>
            <a:off x="1188720" y="4158691"/>
            <a:ext cx="183672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통제 시각을 바꿔 남는 분 확인</a:t>
            </a:r>
          </a:p>
        </p:txBody>
      </p:sp>
      <p:sp>
        <p:nvSpPr>
          <p:cNvPr id="17" name="Oval 16"/>
          <p:cNvSpPr/>
          <p:nvPr/>
        </p:nvSpPr>
        <p:spPr>
          <a:xfrm>
            <a:off x="861060" y="4572000"/>
            <a:ext cx="228600" cy="228600"/>
          </a:xfrm>
          <a:prstGeom prst="ellipse">
            <a:avLst/>
          </a:prstGeom>
          <a:solidFill>
            <a:srgbClr val="FFFFFF"/>
          </a:solidFill>
          <a:ln w="11430">
            <a:solidFill>
              <a:srgbClr val="0B8577"/>
            </a:solidFill>
          </a:ln>
        </p:spPr>
        <p:txBody>
          <a:bodyPr rtlCol="0" anchor="ctr"/>
          <a:lstStyle/>
          <a:p>
            <a:pPr algn="ctr"/>
          </a:p>
        </p:txBody>
      </p:sp>
      <p:sp>
        <p:nvSpPr>
          <p:cNvPr id="18" name="글 3"/>
          <p:cNvSpPr txBox="1"/>
          <p:nvPr/>
        </p:nvSpPr>
        <p:spPr>
          <a:xfrm>
            <a:off x="901294" y="461497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3</a:t>
            </a:r>
          </a:p>
        </p:txBody>
      </p:sp>
      <p:sp>
        <p:nvSpPr>
          <p:cNvPr id="19" name="글 가정·출처를 그대로 보고서에"/>
          <p:cNvSpPr txBox="1"/>
          <p:nvPr/>
        </p:nvSpPr>
        <p:spPr>
          <a:xfrm>
            <a:off x="1188720" y="4600651"/>
            <a:ext cx="1820654"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가정·출처를 그대로 보고서에</a:t>
            </a:r>
          </a:p>
        </p:txBody>
      </p:sp>
      <p:sp>
        <p:nvSpPr>
          <p:cNvPr id="20" name="Rounded Rectangle 19"/>
          <p:cNvSpPr/>
          <p:nvPr/>
        </p:nvSpPr>
        <p:spPr>
          <a:xfrm>
            <a:off x="792480" y="5196840"/>
            <a:ext cx="3124200" cy="411480"/>
          </a:xfrm>
          <a:prstGeom prst="roundRect">
            <a:avLst>
              <a:gd name="adj" fmla="val 18518"/>
            </a:avLst>
          </a:prstGeom>
          <a:solidFill>
            <a:srgbClr val="FFFFFF"/>
          </a:solidFill>
          <a:ln>
            <a:noFill/>
          </a:ln>
        </p:spPr>
        <p:txBody>
          <a:bodyPr rtlCol="0" anchor="ctr"/>
          <a:lstStyle/>
          <a:p>
            <a:pPr algn="ctr"/>
          </a:p>
        </p:txBody>
      </p:sp>
      <p:sp>
        <p:nvSpPr>
          <p:cNvPr id="21" name="글 → 통제 기준 검토 자료"/>
          <p:cNvSpPr txBox="1"/>
          <p:nvPr/>
        </p:nvSpPr>
        <p:spPr>
          <a:xfrm>
            <a:off x="944880" y="5324551"/>
            <a:ext cx="1418021"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 통제 기준 검토 자료</a:t>
            </a:r>
          </a:p>
        </p:txBody>
      </p:sp>
      <p:sp>
        <p:nvSpPr>
          <p:cNvPr id="22" name="Rounded Rectangle 21"/>
          <p:cNvSpPr/>
          <p:nvPr/>
        </p:nvSpPr>
        <p:spPr>
          <a:xfrm>
            <a:off x="4351020" y="1950720"/>
            <a:ext cx="3489960" cy="3840480"/>
          </a:xfrm>
          <a:prstGeom prst="roundRect">
            <a:avLst>
              <a:gd name="adj" fmla="val 3056"/>
            </a:avLst>
          </a:prstGeom>
          <a:solidFill>
            <a:srgbClr val="F2F5F8"/>
          </a:solidFill>
          <a:ln>
            <a:noFill/>
          </a:ln>
        </p:spPr>
        <p:txBody>
          <a:bodyPr rtlCol="0" anchor="ctr"/>
          <a:lstStyle/>
          <a:p>
            <a:pPr algn="ctr"/>
          </a:p>
        </p:txBody>
      </p:sp>
      <p:sp>
        <p:nvSpPr>
          <p:cNvPr id="23" name="Oval 22"/>
          <p:cNvSpPr/>
          <p:nvPr/>
        </p:nvSpPr>
        <p:spPr>
          <a:xfrm>
            <a:off x="4549140" y="2179320"/>
            <a:ext cx="548640" cy="548640"/>
          </a:xfrm>
          <a:prstGeom prst="ellipse">
            <a:avLst/>
          </a:prstGeom>
          <a:solidFill>
            <a:srgbClr val="E1F2EF"/>
          </a:solidFill>
          <a:ln>
            <a:noFill/>
          </a:ln>
        </p:spPr>
        <p:txBody>
          <a:bodyPr rtlCol="0" anchor="ctr"/>
          <a:lstStyle/>
          <a:p>
            <a:pPr algn="ctr"/>
          </a:p>
        </p:txBody>
      </p:sp>
      <p:pic>
        <p:nvPicPr>
          <p:cNvPr id="24" name="아이콘 사람" descr="18-users-2.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71060" y="2301240"/>
            <a:ext cx="304800" cy="304800"/>
          </a:xfrm>
          <a:prstGeom prst="rect">
            <a:avLst/>
          </a:prstGeom>
        </p:spPr>
      </p:pic>
      <p:sp>
        <p:nvSpPr>
          <p:cNvPr id="25" name="글 사후 검토 · 감사"/>
          <p:cNvSpPr txBox="1"/>
          <p:nvPr/>
        </p:nvSpPr>
        <p:spPr>
          <a:xfrm>
            <a:off x="4594860" y="2949245"/>
            <a:ext cx="1422029"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사후 검토 · 감사</a:t>
            </a:r>
          </a:p>
        </p:txBody>
      </p:sp>
      <p:sp>
        <p:nvSpPr>
          <p:cNvPr id="26" name="글 사건 재구성과 근거 확인"/>
          <p:cNvSpPr txBox="1"/>
          <p:nvPr/>
        </p:nvSpPr>
        <p:spPr>
          <a:xfrm>
            <a:off x="4594860" y="3259531"/>
            <a:ext cx="1505468"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사건 재구성과 근거 확인</a:t>
            </a:r>
          </a:p>
        </p:txBody>
      </p:sp>
      <p:sp>
        <p:nvSpPr>
          <p:cNvPr id="27" name="Oval 26"/>
          <p:cNvSpPr/>
          <p:nvPr/>
        </p:nvSpPr>
        <p:spPr>
          <a:xfrm>
            <a:off x="4602480" y="3688080"/>
            <a:ext cx="228600" cy="228600"/>
          </a:xfrm>
          <a:prstGeom prst="ellipse">
            <a:avLst/>
          </a:prstGeom>
          <a:solidFill>
            <a:srgbClr val="FFFFFF"/>
          </a:solidFill>
          <a:ln w="11430">
            <a:solidFill>
              <a:srgbClr val="0B8577"/>
            </a:solidFill>
          </a:ln>
        </p:spPr>
        <p:txBody>
          <a:bodyPr rtlCol="0" anchor="ctr"/>
          <a:lstStyle/>
          <a:p>
            <a:pPr algn="ctr"/>
          </a:p>
        </p:txBody>
      </p:sp>
      <p:sp>
        <p:nvSpPr>
          <p:cNvPr id="28" name="글 1"/>
          <p:cNvSpPr txBox="1"/>
          <p:nvPr/>
        </p:nvSpPr>
        <p:spPr>
          <a:xfrm>
            <a:off x="4642714" y="373105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1</a:t>
            </a:r>
          </a:p>
        </p:txBody>
      </p:sp>
      <p:sp>
        <p:nvSpPr>
          <p:cNvPr id="29" name="글 관측·공식·보도 시각을 구분해 확인"/>
          <p:cNvSpPr txBox="1"/>
          <p:nvPr/>
        </p:nvSpPr>
        <p:spPr>
          <a:xfrm>
            <a:off x="4930140" y="3716731"/>
            <a:ext cx="2200702"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관측·공식·보도 시각을 구분해 확인</a:t>
            </a:r>
          </a:p>
        </p:txBody>
      </p:sp>
      <p:sp>
        <p:nvSpPr>
          <p:cNvPr id="30" name="Oval 29"/>
          <p:cNvSpPr/>
          <p:nvPr/>
        </p:nvSpPr>
        <p:spPr>
          <a:xfrm>
            <a:off x="4602480" y="4130040"/>
            <a:ext cx="228600" cy="228600"/>
          </a:xfrm>
          <a:prstGeom prst="ellipse">
            <a:avLst/>
          </a:prstGeom>
          <a:solidFill>
            <a:srgbClr val="FFFFFF"/>
          </a:solidFill>
          <a:ln w="11430">
            <a:solidFill>
              <a:srgbClr val="0B8577"/>
            </a:solidFill>
          </a:ln>
        </p:spPr>
        <p:txBody>
          <a:bodyPr rtlCol="0" anchor="ctr"/>
          <a:lstStyle/>
          <a:p>
            <a:pPr algn="ctr"/>
          </a:p>
        </p:txBody>
      </p:sp>
      <p:sp>
        <p:nvSpPr>
          <p:cNvPr id="31" name="글 2"/>
          <p:cNvSpPr txBox="1"/>
          <p:nvPr/>
        </p:nvSpPr>
        <p:spPr>
          <a:xfrm>
            <a:off x="4642714" y="417301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2</a:t>
            </a:r>
          </a:p>
        </p:txBody>
      </p:sp>
      <p:sp>
        <p:nvSpPr>
          <p:cNvPr id="32" name="글 출처·한계 화면으로 근거 추적"/>
          <p:cNvSpPr txBox="1"/>
          <p:nvPr/>
        </p:nvSpPr>
        <p:spPr>
          <a:xfrm>
            <a:off x="4930140" y="4158691"/>
            <a:ext cx="185308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출처·한계 화면으로 근거 추적</a:t>
            </a:r>
          </a:p>
        </p:txBody>
      </p:sp>
      <p:sp>
        <p:nvSpPr>
          <p:cNvPr id="33" name="Oval 32"/>
          <p:cNvSpPr/>
          <p:nvPr/>
        </p:nvSpPr>
        <p:spPr>
          <a:xfrm>
            <a:off x="4602480" y="4572000"/>
            <a:ext cx="228600" cy="228600"/>
          </a:xfrm>
          <a:prstGeom prst="ellipse">
            <a:avLst/>
          </a:prstGeom>
          <a:solidFill>
            <a:srgbClr val="FFFFFF"/>
          </a:solidFill>
          <a:ln w="11430">
            <a:solidFill>
              <a:srgbClr val="0B8577"/>
            </a:solidFill>
          </a:ln>
        </p:spPr>
        <p:txBody>
          <a:bodyPr rtlCol="0" anchor="ctr"/>
          <a:lstStyle/>
          <a:p>
            <a:pPr algn="ctr"/>
          </a:p>
        </p:txBody>
      </p:sp>
      <p:sp>
        <p:nvSpPr>
          <p:cNvPr id="34" name="글 3"/>
          <p:cNvSpPr txBox="1"/>
          <p:nvPr/>
        </p:nvSpPr>
        <p:spPr>
          <a:xfrm>
            <a:off x="4642714" y="461497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3</a:t>
            </a:r>
          </a:p>
        </p:txBody>
      </p:sp>
      <p:sp>
        <p:nvSpPr>
          <p:cNvPr id="35" name="글 Agent 답변의 도구·입력 기록"/>
          <p:cNvSpPr txBox="1"/>
          <p:nvPr/>
        </p:nvSpPr>
        <p:spPr>
          <a:xfrm>
            <a:off x="4930140" y="4600651"/>
            <a:ext cx="1846280"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Agent 답변의 도구·입력 기록</a:t>
            </a:r>
          </a:p>
        </p:txBody>
      </p:sp>
      <p:sp>
        <p:nvSpPr>
          <p:cNvPr id="36" name="Rounded Rectangle 35"/>
          <p:cNvSpPr/>
          <p:nvPr/>
        </p:nvSpPr>
        <p:spPr>
          <a:xfrm>
            <a:off x="4533900" y="5196840"/>
            <a:ext cx="3124200" cy="411480"/>
          </a:xfrm>
          <a:prstGeom prst="roundRect">
            <a:avLst>
              <a:gd name="adj" fmla="val 18518"/>
            </a:avLst>
          </a:prstGeom>
          <a:solidFill>
            <a:srgbClr val="FFFFFF"/>
          </a:solidFill>
          <a:ln>
            <a:noFill/>
          </a:ln>
        </p:spPr>
        <p:txBody>
          <a:bodyPr rtlCol="0" anchor="ctr"/>
          <a:lstStyle/>
          <a:p>
            <a:pPr algn="ctr"/>
          </a:p>
        </p:txBody>
      </p:sp>
      <p:sp>
        <p:nvSpPr>
          <p:cNvPr id="37" name="글 → 조사·검토 보조 자료"/>
          <p:cNvSpPr txBox="1"/>
          <p:nvPr/>
        </p:nvSpPr>
        <p:spPr>
          <a:xfrm>
            <a:off x="4686300" y="5324551"/>
            <a:ext cx="1470866"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 조사·검토 보조 자료</a:t>
            </a:r>
          </a:p>
        </p:txBody>
      </p:sp>
      <p:sp>
        <p:nvSpPr>
          <p:cNvPr id="38" name="Rounded Rectangle 37"/>
          <p:cNvSpPr/>
          <p:nvPr/>
        </p:nvSpPr>
        <p:spPr>
          <a:xfrm>
            <a:off x="8092440" y="1950720"/>
            <a:ext cx="3489960" cy="3840480"/>
          </a:xfrm>
          <a:prstGeom prst="roundRect">
            <a:avLst>
              <a:gd name="adj" fmla="val 3056"/>
            </a:avLst>
          </a:prstGeom>
          <a:solidFill>
            <a:srgbClr val="F2F5F8"/>
          </a:solidFill>
          <a:ln>
            <a:noFill/>
          </a:ln>
        </p:spPr>
        <p:txBody>
          <a:bodyPr rtlCol="0" anchor="ctr"/>
          <a:lstStyle/>
          <a:p>
            <a:pPr algn="ctr"/>
          </a:p>
        </p:txBody>
      </p:sp>
      <p:sp>
        <p:nvSpPr>
          <p:cNvPr id="39" name="Oval 38"/>
          <p:cNvSpPr/>
          <p:nvPr/>
        </p:nvSpPr>
        <p:spPr>
          <a:xfrm>
            <a:off x="8290560" y="2179320"/>
            <a:ext cx="548640" cy="548640"/>
          </a:xfrm>
          <a:prstGeom prst="ellipse">
            <a:avLst/>
          </a:prstGeom>
          <a:solidFill>
            <a:srgbClr val="E1F2EF"/>
          </a:solidFill>
          <a:ln>
            <a:noFill/>
          </a:ln>
        </p:spPr>
        <p:txBody>
          <a:bodyPr rtlCol="0" anchor="ctr"/>
          <a:lstStyle/>
          <a:p>
            <a:pPr algn="ctr"/>
          </a:p>
        </p:txBody>
      </p:sp>
      <p:pic>
        <p:nvPicPr>
          <p:cNvPr id="40" name="아이콘 교육" descr="18-users-3.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12480" y="2301240"/>
            <a:ext cx="304800" cy="304800"/>
          </a:xfrm>
          <a:prstGeom prst="rect">
            <a:avLst/>
          </a:prstGeom>
        </p:spPr>
      </p:pic>
      <p:sp>
        <p:nvSpPr>
          <p:cNvPr id="41" name="글 교육 · 연구"/>
          <p:cNvSpPr txBox="1"/>
          <p:nvPr/>
        </p:nvSpPr>
        <p:spPr>
          <a:xfrm>
            <a:off x="8336280" y="2949245"/>
            <a:ext cx="101251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교육 · 연구</a:t>
            </a:r>
          </a:p>
        </p:txBody>
      </p:sp>
      <p:sp>
        <p:nvSpPr>
          <p:cNvPr id="42" name="글 사례 비교와 확장"/>
          <p:cNvSpPr txBox="1"/>
          <p:nvPr/>
        </p:nvSpPr>
        <p:spPr>
          <a:xfrm>
            <a:off x="8336280" y="3259531"/>
            <a:ext cx="1073445"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사례 비교와 확장</a:t>
            </a:r>
          </a:p>
        </p:txBody>
      </p:sp>
      <p:sp>
        <p:nvSpPr>
          <p:cNvPr id="43" name="Oval 42"/>
          <p:cNvSpPr/>
          <p:nvPr/>
        </p:nvSpPr>
        <p:spPr>
          <a:xfrm>
            <a:off x="8343900" y="3688080"/>
            <a:ext cx="228600" cy="228600"/>
          </a:xfrm>
          <a:prstGeom prst="ellipse">
            <a:avLst/>
          </a:prstGeom>
          <a:solidFill>
            <a:srgbClr val="FFFFFF"/>
          </a:solidFill>
          <a:ln w="11430">
            <a:solidFill>
              <a:srgbClr val="0B8577"/>
            </a:solidFill>
          </a:ln>
        </p:spPr>
        <p:txBody>
          <a:bodyPr rtlCol="0" anchor="ctr"/>
          <a:lstStyle/>
          <a:p>
            <a:pPr algn="ctr"/>
          </a:p>
        </p:txBody>
      </p:sp>
      <p:sp>
        <p:nvSpPr>
          <p:cNvPr id="44" name="글 1"/>
          <p:cNvSpPr txBox="1"/>
          <p:nvPr/>
        </p:nvSpPr>
        <p:spPr>
          <a:xfrm>
            <a:off x="8384134" y="373105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1</a:t>
            </a:r>
          </a:p>
        </p:txBody>
      </p:sp>
      <p:sp>
        <p:nvSpPr>
          <p:cNvPr id="45" name="글 네 사례 선행 시간을 한 축에서 비교"/>
          <p:cNvSpPr txBox="1"/>
          <p:nvPr/>
        </p:nvSpPr>
        <p:spPr>
          <a:xfrm>
            <a:off x="8671560" y="3716731"/>
            <a:ext cx="213555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네 사례 선행 시간을 한 축에서 비교</a:t>
            </a:r>
          </a:p>
        </p:txBody>
      </p:sp>
      <p:sp>
        <p:nvSpPr>
          <p:cNvPr id="46" name="Oval 45"/>
          <p:cNvSpPr/>
          <p:nvPr/>
        </p:nvSpPr>
        <p:spPr>
          <a:xfrm>
            <a:off x="8343900" y="4130040"/>
            <a:ext cx="228600" cy="228600"/>
          </a:xfrm>
          <a:prstGeom prst="ellipse">
            <a:avLst/>
          </a:prstGeom>
          <a:solidFill>
            <a:srgbClr val="FFFFFF"/>
          </a:solidFill>
          <a:ln w="11430">
            <a:solidFill>
              <a:srgbClr val="0B8577"/>
            </a:solidFill>
          </a:ln>
        </p:spPr>
        <p:txBody>
          <a:bodyPr rtlCol="0" anchor="ctr"/>
          <a:lstStyle/>
          <a:p>
            <a:pPr algn="ctr"/>
          </a:p>
        </p:txBody>
      </p:sp>
      <p:sp>
        <p:nvSpPr>
          <p:cNvPr id="47" name="글 2"/>
          <p:cNvSpPr txBox="1"/>
          <p:nvPr/>
        </p:nvSpPr>
        <p:spPr>
          <a:xfrm>
            <a:off x="8384134" y="417301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2</a:t>
            </a:r>
          </a:p>
        </p:txBody>
      </p:sp>
      <p:sp>
        <p:nvSpPr>
          <p:cNvPr id="48" name="글 같은 계약으로 새 사례 추가"/>
          <p:cNvSpPr txBox="1"/>
          <p:nvPr/>
        </p:nvSpPr>
        <p:spPr>
          <a:xfrm>
            <a:off x="8671560" y="4158691"/>
            <a:ext cx="167109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같은 계약으로 새 사례 추가</a:t>
            </a:r>
          </a:p>
        </p:txBody>
      </p:sp>
      <p:sp>
        <p:nvSpPr>
          <p:cNvPr id="49" name="Oval 48"/>
          <p:cNvSpPr/>
          <p:nvPr/>
        </p:nvSpPr>
        <p:spPr>
          <a:xfrm>
            <a:off x="8343900" y="4572000"/>
            <a:ext cx="228600" cy="228600"/>
          </a:xfrm>
          <a:prstGeom prst="ellipse">
            <a:avLst/>
          </a:prstGeom>
          <a:solidFill>
            <a:srgbClr val="FFFFFF"/>
          </a:solidFill>
          <a:ln w="11430">
            <a:solidFill>
              <a:srgbClr val="0B8577"/>
            </a:solidFill>
          </a:ln>
        </p:spPr>
        <p:txBody>
          <a:bodyPr rtlCol="0" anchor="ctr"/>
          <a:lstStyle/>
          <a:p>
            <a:pPr algn="ctr"/>
          </a:p>
        </p:txBody>
      </p:sp>
      <p:sp>
        <p:nvSpPr>
          <p:cNvPr id="50" name="글 3"/>
          <p:cNvSpPr txBox="1"/>
          <p:nvPr/>
        </p:nvSpPr>
        <p:spPr>
          <a:xfrm>
            <a:off x="8384134" y="461497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3</a:t>
            </a:r>
          </a:p>
        </p:txBody>
      </p:sp>
      <p:sp>
        <p:nvSpPr>
          <p:cNvPr id="51" name="글 분석 API·Swagger로 재현"/>
          <p:cNvSpPr txBox="1"/>
          <p:nvPr/>
        </p:nvSpPr>
        <p:spPr>
          <a:xfrm>
            <a:off x="8671560" y="4600651"/>
            <a:ext cx="1693972"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분석 API·Swagger로 재현</a:t>
            </a:r>
          </a:p>
        </p:txBody>
      </p:sp>
      <p:sp>
        <p:nvSpPr>
          <p:cNvPr id="52" name="Rounded Rectangle 51"/>
          <p:cNvSpPr/>
          <p:nvPr/>
        </p:nvSpPr>
        <p:spPr>
          <a:xfrm>
            <a:off x="8275320" y="5196840"/>
            <a:ext cx="3124200" cy="411480"/>
          </a:xfrm>
          <a:prstGeom prst="roundRect">
            <a:avLst>
              <a:gd name="adj" fmla="val 18518"/>
            </a:avLst>
          </a:prstGeom>
          <a:solidFill>
            <a:srgbClr val="FFFFFF"/>
          </a:solidFill>
          <a:ln>
            <a:noFill/>
          </a:ln>
        </p:spPr>
        <p:txBody>
          <a:bodyPr rtlCol="0" anchor="ctr"/>
          <a:lstStyle/>
          <a:p>
            <a:pPr algn="ctr"/>
          </a:p>
        </p:txBody>
      </p:sp>
      <p:sp>
        <p:nvSpPr>
          <p:cNvPr id="53" name="글 → 사례 교육 · 재현 가능한 분석"/>
          <p:cNvSpPr txBox="1"/>
          <p:nvPr/>
        </p:nvSpPr>
        <p:spPr>
          <a:xfrm>
            <a:off x="8427720" y="5324551"/>
            <a:ext cx="1969054"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 사례 교육 · 재현 가능한 분석</a:t>
            </a:r>
          </a:p>
        </p:txBody>
      </p:sp>
      <p:sp>
        <p:nvSpPr>
          <p:cNvPr id="54" name="Rounded Rectangle 53"/>
          <p:cNvSpPr/>
          <p:nvPr/>
        </p:nvSpPr>
        <p:spPr>
          <a:xfrm>
            <a:off x="609600" y="5989320"/>
            <a:ext cx="10972800" cy="426720"/>
          </a:xfrm>
          <a:prstGeom prst="roundRect">
            <a:avLst>
              <a:gd name="adj" fmla="val 21428"/>
            </a:avLst>
          </a:prstGeom>
          <a:solidFill>
            <a:srgbClr val="FAF0DC"/>
          </a:solidFill>
          <a:ln>
            <a:noFill/>
          </a:ln>
        </p:spPr>
        <p:txBody>
          <a:bodyPr rtlCol="0" anchor="ctr"/>
          <a:lstStyle/>
          <a:p>
            <a:pPr algn="ctr"/>
          </a:p>
        </p:txBody>
      </p:sp>
      <p:pic>
        <p:nvPicPr>
          <p:cNvPr id="55" name="아이콘 주의" descr="08-hand-1.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6760" y="6080760"/>
            <a:ext cx="243840" cy="243840"/>
          </a:xfrm>
          <a:prstGeom prst="rect">
            <a:avLst/>
          </a:prstGeom>
        </p:spPr>
      </p:pic>
      <p:sp>
        <p:nvSpPr>
          <p:cNvPr id="56" name="글 실제 통제·대피는 재난문자와 현장 판단을 따"/>
          <p:cNvSpPr txBox="1"/>
          <p:nvPr/>
        </p:nvSpPr>
        <p:spPr>
          <a:xfrm>
            <a:off x="1097280" y="6117031"/>
            <a:ext cx="809903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실제 통제·대피는 재난문자와 현장 판단을 따릅니다. 사용자 인터뷰·파일럿은 계획 단계이며 업무시간 절감은 아직 측정하지 않았습니다.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9"/>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19</a:t>
            </a:r>
          </a:p>
        </p:txBody>
      </p:sp>
      <p:sp>
        <p:nvSpPr>
          <p:cNvPr id="3" name="글 실현과 확장"/>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실현과 확장</a:t>
            </a:r>
          </a:p>
        </p:txBody>
      </p:sp>
      <p:sp>
        <p:nvSpPr>
          <p:cNvPr id="4" name="글 검증한 것과 아직 검증하지 않은 것"/>
          <p:cNvSpPr txBox="1"/>
          <p:nvPr/>
        </p:nvSpPr>
        <p:spPr>
          <a:xfrm>
            <a:off x="609600" y="853440"/>
            <a:ext cx="5415915"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검증한 것과 아직 검증하지 않은 것</a:t>
            </a:r>
          </a:p>
        </p:txBody>
      </p:sp>
      <p:sp>
        <p:nvSpPr>
          <p:cNvPr id="5" name="글 숫자로 확인한 것만 적었습니다"/>
          <p:cNvSpPr txBox="1"/>
          <p:nvPr/>
        </p:nvSpPr>
        <p:spPr>
          <a:xfrm>
            <a:off x="609600" y="1409395"/>
            <a:ext cx="2386340"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숫자로 확인한 것만 적었습니다</a:t>
            </a:r>
          </a:p>
        </p:txBody>
      </p:sp>
      <p:sp>
        <p:nvSpPr>
          <p:cNvPr id="6" name="Rounded Rectangle 5"/>
          <p:cNvSpPr/>
          <p:nvPr/>
        </p:nvSpPr>
        <p:spPr>
          <a:xfrm>
            <a:off x="609600" y="1996440"/>
            <a:ext cx="2628900" cy="1295400"/>
          </a:xfrm>
          <a:prstGeom prst="roundRect">
            <a:avLst>
              <a:gd name="adj" fmla="val 8235"/>
            </a:avLst>
          </a:prstGeom>
          <a:solidFill>
            <a:srgbClr val="F2F5F8"/>
          </a:solidFill>
          <a:ln>
            <a:noFill/>
          </a:ln>
        </p:spPr>
        <p:txBody>
          <a:bodyPr rtlCol="0" anchor="ctr"/>
          <a:lstStyle/>
          <a:p>
            <a:pPr algn="ctr"/>
          </a:p>
        </p:txBody>
      </p:sp>
      <p:sp>
        <p:nvSpPr>
          <p:cNvPr id="7" name="글 154"/>
          <p:cNvSpPr txBox="1"/>
          <p:nvPr/>
        </p:nvSpPr>
        <p:spPr>
          <a:xfrm>
            <a:off x="822960" y="2193950"/>
            <a:ext cx="723595" cy="548640"/>
          </a:xfrm>
          <a:prstGeom prst="rect">
            <a:avLst/>
          </a:prstGeom>
          <a:noFill/>
        </p:spPr>
        <p:txBody>
          <a:bodyPr wrap="none" anchor="t" lIns="0" rIns="0" tIns="0" bIns="0">
            <a:noAutofit/>
          </a:bodyPr>
          <a:lstStyle/>
          <a:p>
            <a:pPr algn="l" eaLnBrk="0" latinLnBrk="0"/>
            <a:r>
              <a:rPr sz="2879" b="1">
                <a:solidFill>
                  <a:srgbClr val="0B8577"/>
                </a:solidFill>
                <a:latin typeface="Noto Sans KR"/>
                <a:ea typeface="Noto Sans KR"/>
                <a:cs typeface="Noto Sans KR"/>
              </a:rPr>
              <a:t>154</a:t>
            </a:r>
          </a:p>
        </p:txBody>
      </p:sp>
      <p:sp>
        <p:nvSpPr>
          <p:cNvPr id="8" name="글 백엔드 테스트 통과"/>
          <p:cNvSpPr txBox="1"/>
          <p:nvPr/>
        </p:nvSpPr>
        <p:spPr>
          <a:xfrm>
            <a:off x="822960" y="2726131"/>
            <a:ext cx="1207511"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백엔드 테스트 통과</a:t>
            </a:r>
          </a:p>
        </p:txBody>
      </p:sp>
      <p:sp>
        <p:nvSpPr>
          <p:cNvPr id="9" name="글 pytest · 2026-10-10"/>
          <p:cNvSpPr txBox="1"/>
          <p:nvPr/>
        </p:nvSpPr>
        <p:spPr>
          <a:xfrm>
            <a:off x="822960" y="2968752"/>
            <a:ext cx="1111758"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pytest · 2026-10-10</a:t>
            </a:r>
          </a:p>
        </p:txBody>
      </p:sp>
      <p:sp>
        <p:nvSpPr>
          <p:cNvPr id="10" name="Rounded Rectangle 9"/>
          <p:cNvSpPr/>
          <p:nvPr/>
        </p:nvSpPr>
        <p:spPr>
          <a:xfrm>
            <a:off x="3390900" y="1996440"/>
            <a:ext cx="2628900" cy="1295400"/>
          </a:xfrm>
          <a:prstGeom prst="roundRect">
            <a:avLst>
              <a:gd name="adj" fmla="val 8235"/>
            </a:avLst>
          </a:prstGeom>
          <a:solidFill>
            <a:srgbClr val="F2F5F8"/>
          </a:solidFill>
          <a:ln>
            <a:noFill/>
          </a:ln>
        </p:spPr>
        <p:txBody>
          <a:bodyPr rtlCol="0" anchor="ctr"/>
          <a:lstStyle/>
          <a:p>
            <a:pPr algn="ctr"/>
          </a:p>
        </p:txBody>
      </p:sp>
      <p:sp>
        <p:nvSpPr>
          <p:cNvPr id="11" name="글 9"/>
          <p:cNvSpPr txBox="1"/>
          <p:nvPr/>
        </p:nvSpPr>
        <p:spPr>
          <a:xfrm>
            <a:off x="3604260" y="2193950"/>
            <a:ext cx="291998" cy="548640"/>
          </a:xfrm>
          <a:prstGeom prst="rect">
            <a:avLst/>
          </a:prstGeom>
          <a:noFill/>
        </p:spPr>
        <p:txBody>
          <a:bodyPr wrap="none" anchor="t" lIns="0" rIns="0" tIns="0" bIns="0">
            <a:noAutofit/>
          </a:bodyPr>
          <a:lstStyle/>
          <a:p>
            <a:pPr algn="l" eaLnBrk="0" latinLnBrk="0"/>
            <a:r>
              <a:rPr sz="2879" b="1">
                <a:solidFill>
                  <a:srgbClr val="0B8577"/>
                </a:solidFill>
                <a:latin typeface="Noto Sans KR"/>
                <a:ea typeface="Noto Sans KR"/>
                <a:cs typeface="Noto Sans KR"/>
              </a:rPr>
              <a:t>9</a:t>
            </a:r>
          </a:p>
        </p:txBody>
      </p:sp>
      <p:sp>
        <p:nvSpPr>
          <p:cNvPr id="12" name="글 브라우저 E2E 통과"/>
          <p:cNvSpPr txBox="1"/>
          <p:nvPr/>
        </p:nvSpPr>
        <p:spPr>
          <a:xfrm>
            <a:off x="3604260" y="2726131"/>
            <a:ext cx="1204615"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브라우저 E2E 통과</a:t>
            </a:r>
          </a:p>
        </p:txBody>
      </p:sp>
      <p:sp>
        <p:nvSpPr>
          <p:cNvPr id="13" name="글 Playwright · 4개 사례 진입"/>
          <p:cNvSpPr txBox="1"/>
          <p:nvPr/>
        </p:nvSpPr>
        <p:spPr>
          <a:xfrm>
            <a:off x="3604260" y="2968752"/>
            <a:ext cx="1405052"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Playwright · 4개 사례 진입</a:t>
            </a:r>
          </a:p>
        </p:txBody>
      </p:sp>
      <p:sp>
        <p:nvSpPr>
          <p:cNvPr id="14" name="Rounded Rectangle 13"/>
          <p:cNvSpPr/>
          <p:nvPr/>
        </p:nvSpPr>
        <p:spPr>
          <a:xfrm>
            <a:off x="6172200" y="1996440"/>
            <a:ext cx="2628900" cy="1295400"/>
          </a:xfrm>
          <a:prstGeom prst="roundRect">
            <a:avLst>
              <a:gd name="adj" fmla="val 8235"/>
            </a:avLst>
          </a:prstGeom>
          <a:solidFill>
            <a:srgbClr val="F2F5F8"/>
          </a:solidFill>
          <a:ln>
            <a:noFill/>
          </a:ln>
        </p:spPr>
        <p:txBody>
          <a:bodyPr rtlCol="0" anchor="ctr"/>
          <a:lstStyle/>
          <a:p>
            <a:pPr algn="ctr"/>
          </a:p>
        </p:txBody>
      </p:sp>
      <p:sp>
        <p:nvSpPr>
          <p:cNvPr id="15" name="글 4 / 5"/>
          <p:cNvSpPr txBox="1"/>
          <p:nvPr/>
        </p:nvSpPr>
        <p:spPr>
          <a:xfrm>
            <a:off x="6385560" y="2193950"/>
            <a:ext cx="815401" cy="548640"/>
          </a:xfrm>
          <a:prstGeom prst="rect">
            <a:avLst/>
          </a:prstGeom>
          <a:noFill/>
        </p:spPr>
        <p:txBody>
          <a:bodyPr wrap="none" anchor="t" lIns="0" rIns="0" tIns="0" bIns="0">
            <a:noAutofit/>
          </a:bodyPr>
          <a:lstStyle/>
          <a:p>
            <a:pPr algn="l" eaLnBrk="0" latinLnBrk="0"/>
            <a:r>
              <a:rPr sz="2879" b="1">
                <a:solidFill>
                  <a:srgbClr val="0B8577"/>
                </a:solidFill>
                <a:latin typeface="Noto Sans KR"/>
                <a:ea typeface="Noto Sans KR"/>
                <a:cs typeface="Noto Sans KR"/>
              </a:rPr>
              <a:t>4 / 5</a:t>
            </a:r>
          </a:p>
        </p:txBody>
      </p:sp>
      <p:sp>
        <p:nvSpPr>
          <p:cNvPr id="16" name="글 관제 가능한 사례"/>
          <p:cNvSpPr txBox="1"/>
          <p:nvPr/>
        </p:nvSpPr>
        <p:spPr>
          <a:xfrm>
            <a:off x="6385560" y="2726131"/>
            <a:ext cx="1074313"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관제 가능한 사례</a:t>
            </a:r>
          </a:p>
        </p:txBody>
      </p:sp>
      <p:sp>
        <p:nvSpPr>
          <p:cNvPr id="17" name="글 익산은 시각 근거 없어 잠금"/>
          <p:cNvSpPr txBox="1"/>
          <p:nvPr/>
        </p:nvSpPr>
        <p:spPr>
          <a:xfrm>
            <a:off x="6385560" y="2968752"/>
            <a:ext cx="1335329"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익산은 시각 근거 없어 잠금</a:t>
            </a:r>
          </a:p>
        </p:txBody>
      </p:sp>
      <p:sp>
        <p:nvSpPr>
          <p:cNvPr id="18" name="Rounded Rectangle 17"/>
          <p:cNvSpPr/>
          <p:nvPr/>
        </p:nvSpPr>
        <p:spPr>
          <a:xfrm>
            <a:off x="8953500" y="1996440"/>
            <a:ext cx="2628900" cy="1295400"/>
          </a:xfrm>
          <a:prstGeom prst="roundRect">
            <a:avLst>
              <a:gd name="adj" fmla="val 8235"/>
            </a:avLst>
          </a:prstGeom>
          <a:solidFill>
            <a:srgbClr val="F2F5F8"/>
          </a:solidFill>
          <a:ln>
            <a:noFill/>
          </a:ln>
        </p:spPr>
        <p:txBody>
          <a:bodyPr rtlCol="0" anchor="ctr"/>
          <a:lstStyle/>
          <a:p>
            <a:pPr algn="ctr"/>
          </a:p>
        </p:txBody>
      </p:sp>
      <p:sp>
        <p:nvSpPr>
          <p:cNvPr id="19" name="글 1.07 MB"/>
          <p:cNvSpPr txBox="1"/>
          <p:nvPr/>
        </p:nvSpPr>
        <p:spPr>
          <a:xfrm>
            <a:off x="9166860" y="2193950"/>
            <a:ext cx="1486571" cy="548640"/>
          </a:xfrm>
          <a:prstGeom prst="rect">
            <a:avLst/>
          </a:prstGeom>
          <a:noFill/>
        </p:spPr>
        <p:txBody>
          <a:bodyPr wrap="none" anchor="t" lIns="0" rIns="0" tIns="0" bIns="0">
            <a:noAutofit/>
          </a:bodyPr>
          <a:lstStyle/>
          <a:p>
            <a:pPr algn="l" eaLnBrk="0" latinLnBrk="0"/>
            <a:r>
              <a:rPr sz="2879" b="1">
                <a:solidFill>
                  <a:srgbClr val="0B8577"/>
                </a:solidFill>
                <a:latin typeface="Noto Sans KR"/>
                <a:ea typeface="Noto Sans KR"/>
                <a:cs typeface="Noto Sans KR"/>
              </a:rPr>
              <a:t>1.07 MB</a:t>
            </a:r>
          </a:p>
        </p:txBody>
      </p:sp>
      <p:sp>
        <p:nvSpPr>
          <p:cNvPr id="20" name="글 오송 지도 레이어 gzip"/>
          <p:cNvSpPr txBox="1"/>
          <p:nvPr/>
        </p:nvSpPr>
        <p:spPr>
          <a:xfrm>
            <a:off x="9166860" y="2726131"/>
            <a:ext cx="1404846"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오송 지도 레이어 gzip</a:t>
            </a:r>
          </a:p>
        </p:txBody>
      </p:sp>
      <p:sp>
        <p:nvSpPr>
          <p:cNvPr id="21" name="글 4.0 MB에서 축소"/>
          <p:cNvSpPr txBox="1"/>
          <p:nvPr/>
        </p:nvSpPr>
        <p:spPr>
          <a:xfrm>
            <a:off x="9166860" y="2968752"/>
            <a:ext cx="874586"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4.0 MB에서 축소</a:t>
            </a:r>
          </a:p>
        </p:txBody>
      </p:sp>
      <p:sp>
        <p:nvSpPr>
          <p:cNvPr id="22" name="Rounded Rectangle 21"/>
          <p:cNvSpPr/>
          <p:nvPr/>
        </p:nvSpPr>
        <p:spPr>
          <a:xfrm>
            <a:off x="609600" y="3566160"/>
            <a:ext cx="5334000" cy="381000"/>
          </a:xfrm>
          <a:prstGeom prst="roundRect">
            <a:avLst>
              <a:gd name="adj" fmla="val 20000"/>
            </a:avLst>
          </a:prstGeom>
          <a:solidFill>
            <a:srgbClr val="E1F2EF"/>
          </a:solidFill>
          <a:ln>
            <a:noFill/>
          </a:ln>
        </p:spPr>
        <p:txBody>
          <a:bodyPr rtlCol="0" anchor="ctr"/>
          <a:lstStyle/>
          <a:p>
            <a:pPr algn="ctr"/>
          </a:p>
        </p:txBody>
      </p:sp>
      <p:sp>
        <p:nvSpPr>
          <p:cNvPr id="23" name="글 검증했다"/>
          <p:cNvSpPr txBox="1"/>
          <p:nvPr/>
        </p:nvSpPr>
        <p:spPr>
          <a:xfrm>
            <a:off x="792480" y="3671316"/>
            <a:ext cx="637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검증했다</a:t>
            </a:r>
          </a:p>
        </p:txBody>
      </p:sp>
      <p:sp>
        <p:nvSpPr>
          <p:cNvPr id="24" name="글 분석 API와 화면"/>
          <p:cNvSpPr txBox="1"/>
          <p:nvPr/>
        </p:nvSpPr>
        <p:spPr>
          <a:xfrm>
            <a:off x="792480" y="4105656"/>
            <a:ext cx="1096061"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분석 API와 화면</a:t>
            </a:r>
          </a:p>
        </p:txBody>
      </p:sp>
      <p:sp>
        <p:nvSpPr>
          <p:cNvPr id="25" name="글 통제 시각·유입 지연·HAND 임계·경보 시"/>
          <p:cNvSpPr txBox="1"/>
          <p:nvPr/>
        </p:nvSpPr>
        <p:spPr>
          <a:xfrm>
            <a:off x="792480" y="4348277"/>
            <a:ext cx="5326380"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통제 시각·유입 지연·HAND 임계·경보 시각·저류·대응 시각 API가 응답하고, 화면이 같은 값을</a:t>
            </a:r>
            <a:br/>
            <a:r>
              <a:rPr sz="960" b="0">
                <a:solidFill>
                  <a:srgbClr val="566676"/>
                </a:solidFill>
                <a:latin typeface="Noto Sans KR"/>
                <a:ea typeface="Noto Sans KR"/>
                <a:cs typeface="Noto Sans KR"/>
              </a:rPr>
              <a:t>보여줍니다.</a:t>
            </a:r>
          </a:p>
        </p:txBody>
      </p:sp>
      <p:sp>
        <p:nvSpPr>
          <p:cNvPr id="26" name="글 공개 서버"/>
          <p:cNvSpPr txBox="1"/>
          <p:nvPr/>
        </p:nvSpPr>
        <p:spPr>
          <a:xfrm>
            <a:off x="792480" y="4837176"/>
            <a:ext cx="671627"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공개 서버</a:t>
            </a:r>
          </a:p>
        </p:txBody>
      </p:sp>
      <p:sp>
        <p:nvSpPr>
          <p:cNvPr id="27" name="글 AWS EC2 한 대, HTTPS, 컨테이너"/>
          <p:cNvSpPr txBox="1"/>
          <p:nvPr/>
        </p:nvSpPr>
        <p:spPr>
          <a:xfrm>
            <a:off x="792480" y="5079797"/>
            <a:ext cx="5326380"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AWS EC2 한 대, HTTPS, 컨테이너 600 MB 상한. 10-01 배포본은 오송만 열리며 네 사례 재배포는</a:t>
            </a:r>
            <a:br/>
            <a:r>
              <a:rPr sz="960" b="0">
                <a:solidFill>
                  <a:srgbClr val="566676"/>
                </a:solidFill>
                <a:latin typeface="Noto Sans KR"/>
                <a:ea typeface="Noto Sans KR"/>
                <a:cs typeface="Noto Sans KR"/>
              </a:rPr>
              <a:t>체크리스트를 준비했습니다.</a:t>
            </a:r>
          </a:p>
        </p:txBody>
      </p:sp>
      <p:sp>
        <p:nvSpPr>
          <p:cNvPr id="28" name="글 오류 상태"/>
          <p:cNvSpPr txBox="1"/>
          <p:nvPr/>
        </p:nvSpPr>
        <p:spPr>
          <a:xfrm>
            <a:off x="792480" y="5568696"/>
            <a:ext cx="671627"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오류 상태</a:t>
            </a:r>
          </a:p>
        </p:txBody>
      </p:sp>
      <p:sp>
        <p:nvSpPr>
          <p:cNvPr id="29" name="글 누락·손상 자료는 UNAVAILABLE로 돌"/>
          <p:cNvSpPr txBox="1"/>
          <p:nvPr/>
        </p:nvSpPr>
        <p:spPr>
          <a:xfrm>
            <a:off x="792480" y="5811317"/>
            <a:ext cx="5326380"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누락·손상 자료는 UNAVAILABLE로 돌려주고, 등록되지 않은 사건은 404입니다. 테스트로</a:t>
            </a:r>
            <a:br/>
            <a:r>
              <a:rPr sz="960" b="0">
                <a:solidFill>
                  <a:srgbClr val="566676"/>
                </a:solidFill>
                <a:latin typeface="Noto Sans KR"/>
                <a:ea typeface="Noto Sans KR"/>
                <a:cs typeface="Noto Sans KR"/>
              </a:rPr>
              <a:t>고정했습니다.</a:t>
            </a:r>
          </a:p>
        </p:txBody>
      </p:sp>
      <p:sp>
        <p:nvSpPr>
          <p:cNvPr id="30" name="Rounded Rectangle 29"/>
          <p:cNvSpPr/>
          <p:nvPr/>
        </p:nvSpPr>
        <p:spPr>
          <a:xfrm>
            <a:off x="6248400" y="3566160"/>
            <a:ext cx="5334000" cy="381000"/>
          </a:xfrm>
          <a:prstGeom prst="roundRect">
            <a:avLst>
              <a:gd name="adj" fmla="val 20000"/>
            </a:avLst>
          </a:prstGeom>
          <a:solidFill>
            <a:srgbClr val="FAF0DC"/>
          </a:solidFill>
          <a:ln>
            <a:noFill/>
          </a:ln>
        </p:spPr>
        <p:txBody>
          <a:bodyPr rtlCol="0" anchor="ctr"/>
          <a:lstStyle/>
          <a:p>
            <a:pPr algn="ctr"/>
          </a:p>
        </p:txBody>
      </p:sp>
      <p:sp>
        <p:nvSpPr>
          <p:cNvPr id="31" name="글 아직이다"/>
          <p:cNvSpPr txBox="1"/>
          <p:nvPr/>
        </p:nvSpPr>
        <p:spPr>
          <a:xfrm>
            <a:off x="6431280" y="3671316"/>
            <a:ext cx="637032" cy="228600"/>
          </a:xfrm>
          <a:prstGeom prst="rect">
            <a:avLst/>
          </a:prstGeom>
          <a:noFill/>
        </p:spPr>
        <p:txBody>
          <a:bodyPr wrap="none" anchor="t" lIns="0" rIns="0" tIns="0" bIns="0">
            <a:noAutofit/>
          </a:bodyPr>
          <a:lstStyle/>
          <a:p>
            <a:pPr algn="l" eaLnBrk="0" latinLnBrk="0"/>
            <a:r>
              <a:rPr sz="1200" b="1">
                <a:solidFill>
                  <a:srgbClr val="8A5A00"/>
                </a:solidFill>
                <a:latin typeface="Noto Sans KR"/>
                <a:ea typeface="Noto Sans KR"/>
                <a:cs typeface="Noto Sans KR"/>
              </a:rPr>
              <a:t>아직이다</a:t>
            </a:r>
          </a:p>
        </p:txBody>
      </p:sp>
      <p:sp>
        <p:nvSpPr>
          <p:cNvPr id="32" name="글 Agent 실제 성공률"/>
          <p:cNvSpPr txBox="1"/>
          <p:nvPr/>
        </p:nvSpPr>
        <p:spPr>
          <a:xfrm>
            <a:off x="6431280" y="4105656"/>
            <a:ext cx="1285494"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Agent 실제 성공률</a:t>
            </a:r>
          </a:p>
        </p:txBody>
      </p:sp>
      <p:sp>
        <p:nvSpPr>
          <p:cNvPr id="33" name="글 테스트는 모의 응답을 포함합니다. 실제 모델"/>
          <p:cNvSpPr txBox="1"/>
          <p:nvPr/>
        </p:nvSpPr>
        <p:spPr>
          <a:xfrm>
            <a:off x="6431280" y="4348277"/>
            <a:ext cx="5326380" cy="213360"/>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테스트는 모의 응답을 포함합니다. 실제 모델 종단 간 성공률은 측정하지 않았습니다.</a:t>
            </a:r>
          </a:p>
        </p:txBody>
      </p:sp>
      <p:sp>
        <p:nvSpPr>
          <p:cNvPr id="34" name="글 원문 증빙"/>
          <p:cNvSpPr txBox="1"/>
          <p:nvPr/>
        </p:nvSpPr>
        <p:spPr>
          <a:xfrm>
            <a:off x="6431280" y="4837176"/>
            <a:ext cx="671627"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원문 증빙</a:t>
            </a:r>
          </a:p>
        </p:txBody>
      </p:sp>
      <p:sp>
        <p:nvSpPr>
          <p:cNvPr id="35" name="글 오송 사건 시각의 원문 쪽수, 서울·포항·안"/>
          <p:cNvSpPr txBox="1"/>
          <p:nvPr/>
        </p:nvSpPr>
        <p:spPr>
          <a:xfrm>
            <a:off x="6431280" y="5079797"/>
            <a:ext cx="5326380" cy="213360"/>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오송 사건 시각의 원문 쪽수, 서울·포항·안동의 보도 시각 공식 대조가 남았습니다.</a:t>
            </a:r>
          </a:p>
        </p:txBody>
      </p:sp>
      <p:sp>
        <p:nvSpPr>
          <p:cNvPr id="36" name="글 실무 효과"/>
          <p:cNvSpPr txBox="1"/>
          <p:nvPr/>
        </p:nvSpPr>
        <p:spPr>
          <a:xfrm>
            <a:off x="6431280" y="5568696"/>
            <a:ext cx="671627"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실무 효과</a:t>
            </a:r>
          </a:p>
        </p:txBody>
      </p:sp>
      <p:sp>
        <p:nvSpPr>
          <p:cNvPr id="37" name="글 업무시간 절감·만족도·구매 의향은 파일럿 전"/>
          <p:cNvSpPr txBox="1"/>
          <p:nvPr/>
        </p:nvSpPr>
        <p:spPr>
          <a:xfrm>
            <a:off x="6431280" y="5811317"/>
            <a:ext cx="5326380" cy="213360"/>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업무시간 절감·만족도·구매 의향은 파일럿 전이라 수치가 없습니다.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20"/>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20</a:t>
            </a:r>
          </a:p>
        </p:txBody>
      </p:sp>
      <p:sp>
        <p:nvSpPr>
          <p:cNvPr id="3" name="글 실현과 확장"/>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실현과 확장</a:t>
            </a:r>
          </a:p>
        </p:txBody>
      </p:sp>
      <p:sp>
        <p:nvSpPr>
          <p:cNvPr id="4" name="글 자료가 갱신되면 같은 명령으로 다시 만듭니다"/>
          <p:cNvSpPr txBox="1"/>
          <p:nvPr/>
        </p:nvSpPr>
        <p:spPr>
          <a:xfrm>
            <a:off x="609600" y="853440"/>
            <a:ext cx="7168515"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자료가 갱신되면 같은 명령으로 다시 만듭니다</a:t>
            </a:r>
          </a:p>
        </p:txBody>
      </p:sp>
      <p:sp>
        <p:nvSpPr>
          <p:cNvPr id="5" name="글 출처·시점·검증값을 기록으로 남겨, 사람이 "/>
          <p:cNvSpPr txBox="1"/>
          <p:nvPr/>
        </p:nvSpPr>
        <p:spPr>
          <a:xfrm>
            <a:off x="609600" y="1409395"/>
            <a:ext cx="6212190"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출처·시점·검증값을 기록으로 남겨, 사람이 바뀌어도 같은 결과가 나오게 했습니다</a:t>
            </a:r>
          </a:p>
        </p:txBody>
      </p:sp>
      <p:sp>
        <p:nvSpPr>
          <p:cNvPr id="6" name="Oval 5"/>
          <p:cNvSpPr/>
          <p:nvPr/>
        </p:nvSpPr>
        <p:spPr>
          <a:xfrm>
            <a:off x="1645920" y="2545080"/>
            <a:ext cx="3261360" cy="3261360"/>
          </a:xfrm>
          <a:prstGeom prst="ellipse">
            <a:avLst/>
          </a:prstGeom>
          <a:noFill/>
          <a:ln w="22860">
            <a:solidFill>
              <a:srgbClr val="B9C7D3"/>
            </a:solidFill>
          </a:ln>
        </p:spPr>
        <p:txBody>
          <a:bodyPr rtlCol="0" anchor="ctr"/>
          <a:lstStyle/>
          <a:p>
            <a:pPr algn="ctr"/>
          </a:p>
        </p:txBody>
      </p:sp>
      <p:cxnSp>
        <p:nvCxnSpPr>
          <p:cNvPr id="7" name="Connector 6"/>
          <p:cNvCxnSpPr/>
          <p:nvPr/>
        </p:nvCxnSpPr>
        <p:spPr>
          <a:xfrm>
            <a:off x="4349094" y="2947398"/>
            <a:ext cx="139337" cy="137224"/>
          </a:xfrm>
          <a:prstGeom prst="line">
            <a:avLst/>
          </a:prstGeom>
          <a:ln w="22860">
            <a:solidFill>
              <a:srgbClr val="0B8577"/>
            </a:solidFill>
            <a:tailEnd type="triangle" w="med" len="med"/>
          </a:ln>
        </p:spPr>
      </p:cxnSp>
      <p:cxnSp>
        <p:nvCxnSpPr>
          <p:cNvPr id="8" name="Connector 7"/>
          <p:cNvCxnSpPr/>
          <p:nvPr/>
        </p:nvCxnSpPr>
        <p:spPr>
          <a:xfrm flipH="1">
            <a:off x="4688810" y="4816178"/>
            <a:ext cx="87451" cy="174922"/>
          </a:xfrm>
          <a:prstGeom prst="line">
            <a:avLst/>
          </a:prstGeom>
          <a:ln w="22860">
            <a:solidFill>
              <a:srgbClr val="0B8577"/>
            </a:solidFill>
            <a:tailEnd type="triangle" w="med" len="med"/>
          </a:ln>
        </p:spPr>
      </p:cxnSp>
      <p:cxnSp>
        <p:nvCxnSpPr>
          <p:cNvPr id="9" name="Connector 8"/>
          <p:cNvCxnSpPr/>
          <p:nvPr/>
        </p:nvCxnSpPr>
        <p:spPr>
          <a:xfrm flipH="1" flipV="1">
            <a:off x="2937563" y="5770806"/>
            <a:ext cx="193384" cy="29116"/>
          </a:xfrm>
          <a:prstGeom prst="line">
            <a:avLst/>
          </a:prstGeom>
          <a:ln w="22860">
            <a:solidFill>
              <a:srgbClr val="0B8577"/>
            </a:solidFill>
            <a:tailEnd type="triangle" w="med" len="med"/>
          </a:ln>
        </p:spPr>
      </p:cxnSp>
      <p:cxnSp>
        <p:nvCxnSpPr>
          <p:cNvPr id="10" name="Connector 9"/>
          <p:cNvCxnSpPr/>
          <p:nvPr/>
        </p:nvCxnSpPr>
        <p:spPr>
          <a:xfrm flipH="1" flipV="1">
            <a:off x="1654853" y="4346212"/>
            <a:ext cx="32068" cy="192918"/>
          </a:xfrm>
          <a:prstGeom prst="line">
            <a:avLst/>
          </a:prstGeom>
          <a:ln w="22860">
            <a:solidFill>
              <a:srgbClr val="0B8577"/>
            </a:solidFill>
            <a:tailEnd type="triangle" w="med" len="med"/>
          </a:ln>
        </p:spPr>
      </p:cxnSp>
      <p:cxnSp>
        <p:nvCxnSpPr>
          <p:cNvPr id="11" name="Connector 10"/>
          <p:cNvCxnSpPr/>
          <p:nvPr/>
        </p:nvCxnSpPr>
        <p:spPr>
          <a:xfrm flipV="1">
            <a:off x="2439777" y="2686060"/>
            <a:ext cx="173566" cy="90113"/>
          </a:xfrm>
          <a:prstGeom prst="line">
            <a:avLst/>
          </a:prstGeom>
          <a:ln w="22860">
            <a:solidFill>
              <a:srgbClr val="0B8577"/>
            </a:solidFill>
            <a:tailEnd type="triangle" w="med" len="med"/>
          </a:ln>
        </p:spPr>
      </p:cxnSp>
      <p:sp>
        <p:nvSpPr>
          <p:cNvPr id="12" name="Rounded Rectangle 11"/>
          <p:cNvSpPr/>
          <p:nvPr/>
        </p:nvSpPr>
        <p:spPr>
          <a:xfrm>
            <a:off x="2614026" y="2240280"/>
            <a:ext cx="1325148" cy="609600"/>
          </a:xfrm>
          <a:prstGeom prst="roundRect">
            <a:avLst>
              <a:gd name="adj" fmla="val 15000"/>
            </a:avLst>
          </a:prstGeom>
          <a:solidFill>
            <a:srgbClr val="FFFFFF"/>
          </a:solidFill>
          <a:ln w="15240">
            <a:solidFill>
              <a:srgbClr val="B7791F"/>
            </a:solidFill>
          </a:ln>
        </p:spPr>
        <p:txBody>
          <a:bodyPr rtlCol="0" anchor="ctr"/>
          <a:lstStyle/>
          <a:p>
            <a:pPr algn="ctr"/>
          </a:p>
        </p:txBody>
      </p:sp>
      <p:sp>
        <p:nvSpPr>
          <p:cNvPr id="13" name="글 원자료 갱신"/>
          <p:cNvSpPr txBox="1"/>
          <p:nvPr/>
        </p:nvSpPr>
        <p:spPr>
          <a:xfrm>
            <a:off x="2870683" y="2353056"/>
            <a:ext cx="811835"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원자료 갱신</a:t>
            </a:r>
          </a:p>
        </p:txBody>
      </p:sp>
      <p:sp>
        <p:nvSpPr>
          <p:cNvPr id="14" name="글 관측·공간 자료 추가"/>
          <p:cNvSpPr txBox="1"/>
          <p:nvPr/>
        </p:nvSpPr>
        <p:spPr>
          <a:xfrm>
            <a:off x="2728326" y="2595677"/>
            <a:ext cx="1096548" cy="182880"/>
          </a:xfrm>
          <a:prstGeom prst="rect">
            <a:avLst/>
          </a:prstGeom>
          <a:noFill/>
        </p:spPr>
        <p:txBody>
          <a:bodyPr wrap="none" anchor="t" lIns="0" rIns="0" tIns="0" bIns="0">
            <a:noAutofit/>
          </a:bodyPr>
          <a:lstStyle/>
          <a:p>
            <a:pPr algn="ctr" eaLnBrk="0" latinLnBrk="0"/>
            <a:r>
              <a:rPr sz="960" b="0">
                <a:solidFill>
                  <a:srgbClr val="566676"/>
                </a:solidFill>
                <a:latin typeface="Noto Sans KR"/>
                <a:ea typeface="Noto Sans KR"/>
                <a:cs typeface="Noto Sans KR"/>
              </a:rPr>
              <a:t>관측·공간 자료 추가</a:t>
            </a:r>
          </a:p>
        </p:txBody>
      </p:sp>
      <p:sp>
        <p:nvSpPr>
          <p:cNvPr id="15" name="Rounded Rectangle 14"/>
          <p:cNvSpPr/>
          <p:nvPr/>
        </p:nvSpPr>
        <p:spPr>
          <a:xfrm>
            <a:off x="3920750" y="3367052"/>
            <a:ext cx="1813438" cy="609600"/>
          </a:xfrm>
          <a:prstGeom prst="roundRect">
            <a:avLst>
              <a:gd name="adj" fmla="val 15000"/>
            </a:avLst>
          </a:prstGeom>
          <a:solidFill>
            <a:srgbClr val="FFFFFF"/>
          </a:solidFill>
          <a:ln w="15240">
            <a:solidFill>
              <a:srgbClr val="0B8577"/>
            </a:solidFill>
          </a:ln>
        </p:spPr>
        <p:txBody>
          <a:bodyPr rtlCol="0" anchor="ctr"/>
          <a:lstStyle/>
          <a:p>
            <a:pPr algn="ctr"/>
          </a:p>
        </p:txBody>
      </p:sp>
      <p:sp>
        <p:nvSpPr>
          <p:cNvPr id="16" name="글 처리 스크립트"/>
          <p:cNvSpPr txBox="1"/>
          <p:nvPr/>
        </p:nvSpPr>
        <p:spPr>
          <a:xfrm>
            <a:off x="4351447" y="3479828"/>
            <a:ext cx="952043"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처리 스크립트</a:t>
            </a:r>
          </a:p>
        </p:txBody>
      </p:sp>
      <p:sp>
        <p:nvSpPr>
          <p:cNvPr id="17" name="글 data/scripts · 스냅샷 재생성"/>
          <p:cNvSpPr txBox="1"/>
          <p:nvPr/>
        </p:nvSpPr>
        <p:spPr>
          <a:xfrm>
            <a:off x="4035050" y="3722449"/>
            <a:ext cx="1584838" cy="182880"/>
          </a:xfrm>
          <a:prstGeom prst="rect">
            <a:avLst/>
          </a:prstGeom>
          <a:noFill/>
        </p:spPr>
        <p:txBody>
          <a:bodyPr wrap="none" anchor="t" lIns="0" rIns="0" tIns="0" bIns="0">
            <a:noAutofit/>
          </a:bodyPr>
          <a:lstStyle/>
          <a:p>
            <a:pPr algn="ctr" eaLnBrk="0" latinLnBrk="0"/>
            <a:r>
              <a:rPr sz="960" b="0">
                <a:solidFill>
                  <a:srgbClr val="566676"/>
                </a:solidFill>
                <a:latin typeface="Noto Sans KR"/>
                <a:ea typeface="Noto Sans KR"/>
                <a:cs typeface="Noto Sans KR"/>
              </a:rPr>
              <a:t>data/scripts · 스냅샷 재생성</a:t>
            </a:r>
          </a:p>
        </p:txBody>
      </p:sp>
      <p:sp>
        <p:nvSpPr>
          <p:cNvPr id="18" name="Rounded Rectangle 17"/>
          <p:cNvSpPr/>
          <p:nvPr/>
        </p:nvSpPr>
        <p:spPr>
          <a:xfrm>
            <a:off x="3427613" y="5190208"/>
            <a:ext cx="1614952" cy="609600"/>
          </a:xfrm>
          <a:prstGeom prst="roundRect">
            <a:avLst>
              <a:gd name="adj" fmla="val 15000"/>
            </a:avLst>
          </a:prstGeom>
          <a:solidFill>
            <a:srgbClr val="FFFFFF"/>
          </a:solidFill>
          <a:ln w="15240">
            <a:solidFill>
              <a:srgbClr val="0B8577"/>
            </a:solidFill>
          </a:ln>
        </p:spPr>
        <p:txBody>
          <a:bodyPr rtlCol="0" anchor="ctr"/>
          <a:lstStyle/>
          <a:p>
            <a:pPr algn="ctr"/>
          </a:p>
        </p:txBody>
      </p:sp>
      <p:sp>
        <p:nvSpPr>
          <p:cNvPr id="19" name="글 검증 JSON"/>
          <p:cNvSpPr txBox="1"/>
          <p:nvPr/>
        </p:nvSpPr>
        <p:spPr>
          <a:xfrm>
            <a:off x="3832906" y="5302984"/>
            <a:ext cx="804367"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검증 JSON</a:t>
            </a:r>
          </a:p>
        </p:txBody>
      </p:sp>
      <p:sp>
        <p:nvSpPr>
          <p:cNvPr id="20" name="글 단계별 셀 수 · 면적 · 대조"/>
          <p:cNvSpPr txBox="1"/>
          <p:nvPr/>
        </p:nvSpPr>
        <p:spPr>
          <a:xfrm>
            <a:off x="3541913" y="5545605"/>
            <a:ext cx="1386352" cy="182880"/>
          </a:xfrm>
          <a:prstGeom prst="rect">
            <a:avLst/>
          </a:prstGeom>
          <a:noFill/>
        </p:spPr>
        <p:txBody>
          <a:bodyPr wrap="none" anchor="t" lIns="0" rIns="0" tIns="0" bIns="0">
            <a:noAutofit/>
          </a:bodyPr>
          <a:lstStyle/>
          <a:p>
            <a:pPr algn="ctr" eaLnBrk="0" latinLnBrk="0"/>
            <a:r>
              <a:rPr sz="960" b="0">
                <a:solidFill>
                  <a:srgbClr val="566676"/>
                </a:solidFill>
                <a:latin typeface="Noto Sans KR"/>
                <a:ea typeface="Noto Sans KR"/>
                <a:cs typeface="Noto Sans KR"/>
              </a:rPr>
              <a:t>단계별 셀 수 · 면적 · 대조</a:t>
            </a:r>
          </a:p>
        </p:txBody>
      </p:sp>
      <p:sp>
        <p:nvSpPr>
          <p:cNvPr id="21" name="Rounded Rectangle 20"/>
          <p:cNvSpPr/>
          <p:nvPr/>
        </p:nvSpPr>
        <p:spPr>
          <a:xfrm>
            <a:off x="1450040" y="5190208"/>
            <a:ext cx="1736141" cy="609600"/>
          </a:xfrm>
          <a:prstGeom prst="roundRect">
            <a:avLst>
              <a:gd name="adj" fmla="val 15000"/>
            </a:avLst>
          </a:prstGeom>
          <a:solidFill>
            <a:srgbClr val="FFFFFF"/>
          </a:solidFill>
          <a:ln w="15240">
            <a:solidFill>
              <a:srgbClr val="0B8577"/>
            </a:solidFill>
          </a:ln>
        </p:spPr>
        <p:txBody>
          <a:bodyPr rtlCol="0" anchor="ctr"/>
          <a:lstStyle/>
          <a:p>
            <a:pPr algn="ctr"/>
          </a:p>
        </p:txBody>
      </p:sp>
      <p:sp>
        <p:nvSpPr>
          <p:cNvPr id="22" name="글 테스트 · 빌드"/>
          <p:cNvSpPr txBox="1"/>
          <p:nvPr/>
        </p:nvSpPr>
        <p:spPr>
          <a:xfrm>
            <a:off x="1849785" y="5302984"/>
            <a:ext cx="936650"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테스트 · 빌드</a:t>
            </a:r>
          </a:p>
        </p:txBody>
      </p:sp>
      <p:sp>
        <p:nvSpPr>
          <p:cNvPr id="23" name="글 pytest 154 · E2E 9 · bui"/>
          <p:cNvSpPr txBox="1"/>
          <p:nvPr/>
        </p:nvSpPr>
        <p:spPr>
          <a:xfrm>
            <a:off x="1564340" y="5545605"/>
            <a:ext cx="1507541" cy="182880"/>
          </a:xfrm>
          <a:prstGeom prst="rect">
            <a:avLst/>
          </a:prstGeom>
          <a:noFill/>
        </p:spPr>
        <p:txBody>
          <a:bodyPr wrap="none" anchor="t" lIns="0" rIns="0" tIns="0" bIns="0">
            <a:noAutofit/>
          </a:bodyPr>
          <a:lstStyle/>
          <a:p>
            <a:pPr algn="ctr" eaLnBrk="0" latinLnBrk="0"/>
            <a:r>
              <a:rPr sz="960" b="0">
                <a:solidFill>
                  <a:srgbClr val="566676"/>
                </a:solidFill>
                <a:latin typeface="Noto Sans KR"/>
                <a:ea typeface="Noto Sans KR"/>
                <a:cs typeface="Noto Sans KR"/>
              </a:rPr>
              <a:t>pytest 154 · E2E 9 · build</a:t>
            </a:r>
          </a:p>
        </p:txBody>
      </p:sp>
      <p:sp>
        <p:nvSpPr>
          <p:cNvPr id="24" name="Rounded Rectangle 23"/>
          <p:cNvSpPr/>
          <p:nvPr/>
        </p:nvSpPr>
        <p:spPr>
          <a:xfrm>
            <a:off x="1004757" y="3367052"/>
            <a:ext cx="1441948" cy="609600"/>
          </a:xfrm>
          <a:prstGeom prst="roundRect">
            <a:avLst>
              <a:gd name="adj" fmla="val 15000"/>
            </a:avLst>
          </a:prstGeom>
          <a:solidFill>
            <a:srgbClr val="FFFFFF"/>
          </a:solidFill>
          <a:ln w="15240">
            <a:solidFill>
              <a:srgbClr val="0B8577"/>
            </a:solidFill>
          </a:ln>
        </p:spPr>
        <p:txBody>
          <a:bodyPr rtlCol="0" anchor="ctr"/>
          <a:lstStyle/>
          <a:p>
            <a:pPr algn="ctr"/>
          </a:p>
        </p:txBody>
      </p:sp>
      <p:sp>
        <p:nvSpPr>
          <p:cNvPr id="25" name="글 배포 · 문서"/>
          <p:cNvSpPr txBox="1"/>
          <p:nvPr/>
        </p:nvSpPr>
        <p:spPr>
          <a:xfrm>
            <a:off x="1327510" y="3479828"/>
            <a:ext cx="796442"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배포 · 문서</a:t>
            </a:r>
          </a:p>
        </p:txBody>
      </p:sp>
      <p:sp>
        <p:nvSpPr>
          <p:cNvPr id="26" name="글 이미지 교체 · DQ 기록"/>
          <p:cNvSpPr txBox="1"/>
          <p:nvPr/>
        </p:nvSpPr>
        <p:spPr>
          <a:xfrm>
            <a:off x="1119057" y="3722449"/>
            <a:ext cx="1213348" cy="182880"/>
          </a:xfrm>
          <a:prstGeom prst="rect">
            <a:avLst/>
          </a:prstGeom>
          <a:noFill/>
        </p:spPr>
        <p:txBody>
          <a:bodyPr wrap="none" anchor="t" lIns="0" rIns="0" tIns="0" bIns="0">
            <a:noAutofit/>
          </a:bodyPr>
          <a:lstStyle/>
          <a:p>
            <a:pPr algn="ctr" eaLnBrk="0" latinLnBrk="0"/>
            <a:r>
              <a:rPr sz="960" b="0">
                <a:solidFill>
                  <a:srgbClr val="566676"/>
                </a:solidFill>
                <a:latin typeface="Noto Sans KR"/>
                <a:ea typeface="Noto Sans KR"/>
                <a:cs typeface="Noto Sans KR"/>
              </a:rPr>
              <a:t>이미지 교체 · DQ 기록</a:t>
            </a:r>
          </a:p>
        </p:txBody>
      </p:sp>
      <p:sp>
        <p:nvSpPr>
          <p:cNvPr id="27" name="글 재생성 → 검증 → 테스트"/>
          <p:cNvSpPr txBox="1"/>
          <p:nvPr/>
        </p:nvSpPr>
        <p:spPr>
          <a:xfrm>
            <a:off x="2377836" y="3969106"/>
            <a:ext cx="1797528" cy="251460"/>
          </a:xfrm>
          <a:prstGeom prst="rect">
            <a:avLst/>
          </a:prstGeom>
          <a:noFill/>
        </p:spPr>
        <p:txBody>
          <a:bodyPr wrap="none" anchor="t" lIns="0" rIns="0" tIns="0" bIns="0">
            <a:noAutofit/>
          </a:bodyPr>
          <a:lstStyle/>
          <a:p>
            <a:pPr algn="ctr" eaLnBrk="0" latinLnBrk="0"/>
            <a:r>
              <a:rPr sz="1320" b="1">
                <a:solidFill>
                  <a:srgbClr val="0B8577"/>
                </a:solidFill>
                <a:latin typeface="Noto Sans KR"/>
                <a:ea typeface="Noto Sans KR"/>
                <a:cs typeface="Noto Sans KR"/>
              </a:rPr>
              <a:t>재생성 → 검증 → 테스트</a:t>
            </a:r>
          </a:p>
        </p:txBody>
      </p:sp>
      <p:sp>
        <p:nvSpPr>
          <p:cNvPr id="28" name="글 한 사례에 한 스크립트"/>
          <p:cNvSpPr txBox="1"/>
          <p:nvPr/>
        </p:nvSpPr>
        <p:spPr>
          <a:xfrm>
            <a:off x="2658679" y="4234282"/>
            <a:ext cx="1235842" cy="194310"/>
          </a:xfrm>
          <a:prstGeom prst="rect">
            <a:avLst/>
          </a:prstGeom>
          <a:noFill/>
        </p:spPr>
        <p:txBody>
          <a:bodyPr wrap="none" anchor="t" lIns="0" rIns="0" tIns="0" bIns="0">
            <a:noAutofit/>
          </a:bodyPr>
          <a:lstStyle/>
          <a:p>
            <a:pPr algn="ctr" eaLnBrk="0" latinLnBrk="0"/>
            <a:r>
              <a:rPr sz="1019" b="0">
                <a:solidFill>
                  <a:srgbClr val="566676"/>
                </a:solidFill>
                <a:latin typeface="Noto Sans KR"/>
                <a:ea typeface="Noto Sans KR"/>
                <a:cs typeface="Noto Sans KR"/>
              </a:rPr>
              <a:t>한 사례에 한 스크립트</a:t>
            </a:r>
          </a:p>
        </p:txBody>
      </p:sp>
      <p:sp>
        <p:nvSpPr>
          <p:cNvPr id="29" name="글 출처·시점·해시를 매니페스트에"/>
          <p:cNvSpPr txBox="1"/>
          <p:nvPr/>
        </p:nvSpPr>
        <p:spPr>
          <a:xfrm>
            <a:off x="6705600" y="2048866"/>
            <a:ext cx="2317714"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출처·시점·해시를 매니페스트에</a:t>
            </a:r>
          </a:p>
        </p:txBody>
      </p:sp>
      <p:sp>
        <p:nvSpPr>
          <p:cNvPr id="30" name="글 자료 9종의 출처 URL, 취득일, 자료 시"/>
          <p:cNvSpPr txBox="1"/>
          <p:nvPr/>
        </p:nvSpPr>
        <p:spPr>
          <a:xfrm>
            <a:off x="6705600" y="2311298"/>
            <a:ext cx="5245608"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자료 9종의 출처 URL, 취득일, 자료 시점, SHA-256을 source-availability.yml에</a:t>
            </a:r>
            <a:br/>
            <a:r>
              <a:rPr sz="1080" b="0">
                <a:solidFill>
                  <a:srgbClr val="566676"/>
                </a:solidFill>
                <a:latin typeface="Noto Sans KR"/>
                <a:ea typeface="Noto Sans KR"/>
                <a:cs typeface="Noto Sans KR"/>
              </a:rPr>
              <a:t>적습니다. DEM 타일을 새로 받으면 같은 줄이 늘어납니다.</a:t>
            </a:r>
          </a:p>
        </p:txBody>
      </p:sp>
      <p:sp>
        <p:nvSpPr>
          <p:cNvPr id="31" name="글 자료 품질 이슈를 번호로"/>
          <p:cNvSpPr txBox="1"/>
          <p:nvPr/>
        </p:nvSpPr>
        <p:spPr>
          <a:xfrm>
            <a:off x="6705600" y="3115666"/>
            <a:ext cx="1732651"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자료 품질 이슈를 번호로</a:t>
            </a:r>
          </a:p>
        </p:txBody>
      </p:sp>
      <p:sp>
        <p:nvSpPr>
          <p:cNvPr id="32" name="글 DQ-001부터 012까지 증상·원인·해결·"/>
          <p:cNvSpPr txBox="1"/>
          <p:nvPr/>
        </p:nvSpPr>
        <p:spPr>
          <a:xfrm>
            <a:off x="6705600" y="3378098"/>
            <a:ext cx="5245608"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DQ-001부터 012까지 증상·원인·해결·검증 방법을 문서로 두고, 해결되면 재검증</a:t>
            </a:r>
            <a:br/>
            <a:r>
              <a:rPr sz="1080" b="0">
                <a:solidFill>
                  <a:srgbClr val="566676"/>
                </a:solidFill>
                <a:latin typeface="Noto Sans KR"/>
                <a:ea typeface="Noto Sans KR"/>
                <a:cs typeface="Noto Sans KR"/>
              </a:rPr>
              <a:t>항목을 함께 지웁니다.</a:t>
            </a:r>
          </a:p>
        </p:txBody>
      </p:sp>
      <p:sp>
        <p:nvSpPr>
          <p:cNvPr id="33" name="글 낮은 운영비"/>
          <p:cNvSpPr txBox="1"/>
          <p:nvPr/>
        </p:nvSpPr>
        <p:spPr>
          <a:xfrm>
            <a:off x="6705600" y="4182466"/>
            <a:ext cx="885398"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낮은 운영비</a:t>
            </a:r>
          </a:p>
        </p:txBody>
      </p:sp>
      <p:sp>
        <p:nvSpPr>
          <p:cNvPr id="34" name="글 EC2 한 대에 컨테이너 하나. 분석은 사전"/>
          <p:cNvSpPr txBox="1"/>
          <p:nvPr/>
        </p:nvSpPr>
        <p:spPr>
          <a:xfrm>
            <a:off x="6705600" y="4444898"/>
            <a:ext cx="5245608"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EC2 한 대에 컨테이너 하나. 분석은 사전 계산된 스냅샷이라 요청마다 모형을 돌리지</a:t>
            </a:r>
            <a:br/>
            <a:r>
              <a:rPr sz="1080" b="0">
                <a:solidFill>
                  <a:srgbClr val="566676"/>
                </a:solidFill>
                <a:latin typeface="Noto Sans KR"/>
                <a:ea typeface="Noto Sans KR"/>
                <a:cs typeface="Noto Sans KR"/>
              </a:rPr>
              <a:t>않습니다.</a:t>
            </a:r>
          </a:p>
        </p:txBody>
      </p:sp>
      <p:sp>
        <p:nvSpPr>
          <p:cNvPr id="35" name="글 도구끼리도 같은 규칙"/>
          <p:cNvSpPr txBox="1"/>
          <p:nvPr/>
        </p:nvSpPr>
        <p:spPr>
          <a:xfrm>
            <a:off x="6705600" y="5249266"/>
            <a:ext cx="1540368"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도구끼리도 같은 규칙</a:t>
            </a:r>
          </a:p>
        </p:txBody>
      </p:sp>
      <p:sp>
        <p:nvSpPr>
          <p:cNvPr id="36" name="글 작업 기록(WORKLOG)과 커밋 규칙을 두"/>
          <p:cNvSpPr txBox="1"/>
          <p:nvPr/>
        </p:nvSpPr>
        <p:spPr>
          <a:xfrm>
            <a:off x="6705600" y="5511698"/>
            <a:ext cx="5245608"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작업 기록(WORKLOG)과 커밋 규칙을 두어, 어느 도구가 작업했든 왜 바꿨는지가</a:t>
            </a:r>
            <a:br/>
            <a:r>
              <a:rPr sz="1080" b="0">
                <a:solidFill>
                  <a:srgbClr val="566676"/>
                </a:solidFill>
                <a:latin typeface="Noto Sans KR"/>
                <a:ea typeface="Noto Sans KR"/>
                <a:cs typeface="Noto Sans KR"/>
              </a:rPr>
              <a:t>남습니다.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21"/>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21</a:t>
            </a:r>
          </a:p>
        </p:txBody>
      </p:sp>
      <p:sp>
        <p:nvSpPr>
          <p:cNvPr id="3" name="글 실현과 확장"/>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실현과 확장</a:t>
            </a:r>
          </a:p>
        </p:txBody>
      </p:sp>
      <p:sp>
        <p:nvSpPr>
          <p:cNvPr id="4" name="글 사례 하나를 추가하는 계약이 정해져 있습니다"/>
          <p:cNvSpPr txBox="1"/>
          <p:nvPr/>
        </p:nvSpPr>
        <p:spPr>
          <a:xfrm>
            <a:off x="609600" y="853440"/>
            <a:ext cx="7168515"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사례 하나를 추가하는 계약이 정해져 있습니다</a:t>
            </a:r>
          </a:p>
        </p:txBody>
      </p:sp>
      <p:sp>
        <p:nvSpPr>
          <p:cNvPr id="5" name="글 사건 단계·개입·레이어·상태 네 가지만 맞추"/>
          <p:cNvSpPr txBox="1"/>
          <p:nvPr/>
        </p:nvSpPr>
        <p:spPr>
          <a:xfrm>
            <a:off x="609600" y="1409395"/>
            <a:ext cx="6632814"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사건 단계·개입·레이어·상태 네 가지만 맞추면 같은 화면과 Agent가 그대로 동작합니다</a:t>
            </a:r>
          </a:p>
        </p:txBody>
      </p:sp>
      <p:sp>
        <p:nvSpPr>
          <p:cNvPr id="6" name="글 사례 추가 계약"/>
          <p:cNvSpPr txBox="1"/>
          <p:nvPr/>
        </p:nvSpPr>
        <p:spPr>
          <a:xfrm>
            <a:off x="609600" y="2048866"/>
            <a:ext cx="1077681"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사례 추가 계약</a:t>
            </a:r>
          </a:p>
        </p:txBody>
      </p:sp>
      <p:sp>
        <p:nvSpPr>
          <p:cNvPr id="7" name="Rounded Rectangle 6"/>
          <p:cNvSpPr/>
          <p:nvPr/>
        </p:nvSpPr>
        <p:spPr>
          <a:xfrm>
            <a:off x="609600" y="2423160"/>
            <a:ext cx="694334" cy="274320"/>
          </a:xfrm>
          <a:prstGeom prst="roundRect">
            <a:avLst>
              <a:gd name="adj" fmla="val 22222"/>
            </a:avLst>
          </a:prstGeom>
          <a:solidFill>
            <a:srgbClr val="F2F5F8"/>
          </a:solidFill>
          <a:ln w="7620">
            <a:solidFill>
              <a:srgbClr val="D6DEE6"/>
            </a:solidFill>
          </a:ln>
        </p:spPr>
        <p:txBody>
          <a:bodyPr rtlCol="0" anchor="ctr"/>
          <a:lstStyle/>
          <a:p>
            <a:pPr algn="ctr"/>
          </a:p>
        </p:txBody>
      </p:sp>
      <p:sp>
        <p:nvSpPr>
          <p:cNvPr id="8" name="글 event_id"/>
          <p:cNvSpPr txBox="1"/>
          <p:nvPr/>
        </p:nvSpPr>
        <p:spPr>
          <a:xfrm>
            <a:off x="708660" y="2496617"/>
            <a:ext cx="572414" cy="182880"/>
          </a:xfrm>
          <a:prstGeom prst="rect">
            <a:avLst/>
          </a:prstGeom>
          <a:noFill/>
        </p:spPr>
        <p:txBody>
          <a:bodyPr wrap="none" anchor="t" lIns="0" rIns="0" tIns="0" bIns="0">
            <a:noAutofit/>
          </a:bodyPr>
          <a:lstStyle/>
          <a:p>
            <a:pPr algn="l" eaLnBrk="0" latinLnBrk="0"/>
            <a:r>
              <a:rPr sz="960" b="0">
                <a:solidFill>
                  <a:srgbClr val="0F1E2E"/>
                </a:solidFill>
                <a:latin typeface="Noto Sans KR"/>
                <a:ea typeface="Noto Sans KR"/>
                <a:cs typeface="Noto Sans KR"/>
              </a:rPr>
              <a:t>event_id</a:t>
            </a:r>
          </a:p>
        </p:txBody>
      </p:sp>
      <p:sp>
        <p:nvSpPr>
          <p:cNvPr id="9" name="Rounded Rectangle 8"/>
          <p:cNvSpPr/>
          <p:nvPr/>
        </p:nvSpPr>
        <p:spPr>
          <a:xfrm>
            <a:off x="1380134" y="2423160"/>
            <a:ext cx="2619329" cy="274320"/>
          </a:xfrm>
          <a:prstGeom prst="roundRect">
            <a:avLst>
              <a:gd name="adj" fmla="val 22222"/>
            </a:avLst>
          </a:prstGeom>
          <a:solidFill>
            <a:srgbClr val="F2F5F8"/>
          </a:solidFill>
          <a:ln w="7620">
            <a:solidFill>
              <a:srgbClr val="D6DEE6"/>
            </a:solidFill>
          </a:ln>
        </p:spPr>
        <p:txBody>
          <a:bodyPr rtlCol="0" anchor="ctr"/>
          <a:lstStyle/>
          <a:p>
            <a:pPr algn="ctr"/>
          </a:p>
        </p:txBody>
      </p:sp>
      <p:sp>
        <p:nvSpPr>
          <p:cNvPr id="10" name="글 replay[ time · state · s"/>
          <p:cNvSpPr txBox="1"/>
          <p:nvPr/>
        </p:nvSpPr>
        <p:spPr>
          <a:xfrm>
            <a:off x="1479194" y="2496617"/>
            <a:ext cx="2497409" cy="182880"/>
          </a:xfrm>
          <a:prstGeom prst="rect">
            <a:avLst/>
          </a:prstGeom>
          <a:noFill/>
        </p:spPr>
        <p:txBody>
          <a:bodyPr wrap="none" anchor="t" lIns="0" rIns="0" tIns="0" bIns="0">
            <a:noAutofit/>
          </a:bodyPr>
          <a:lstStyle/>
          <a:p>
            <a:pPr algn="l" eaLnBrk="0" latinLnBrk="0"/>
            <a:r>
              <a:rPr sz="960" b="0">
                <a:solidFill>
                  <a:srgbClr val="0F1E2E"/>
                </a:solidFill>
                <a:latin typeface="Noto Sans KR"/>
                <a:ea typeface="Noto Sans KR"/>
                <a:cs typeface="Noto Sans KR"/>
              </a:rPr>
              <a:t>replay[ time · state · source · confidence ]</a:t>
            </a:r>
          </a:p>
        </p:txBody>
      </p:sp>
      <p:sp>
        <p:nvSpPr>
          <p:cNvPr id="11" name="Rounded Rectangle 10"/>
          <p:cNvSpPr/>
          <p:nvPr/>
        </p:nvSpPr>
        <p:spPr>
          <a:xfrm>
            <a:off x="609600" y="2773680"/>
            <a:ext cx="3064825" cy="274320"/>
          </a:xfrm>
          <a:prstGeom prst="roundRect">
            <a:avLst>
              <a:gd name="adj" fmla="val 22222"/>
            </a:avLst>
          </a:prstGeom>
          <a:solidFill>
            <a:srgbClr val="F2F5F8"/>
          </a:solidFill>
          <a:ln w="7620">
            <a:solidFill>
              <a:srgbClr val="D6DEE6"/>
            </a:solidFill>
          </a:ln>
        </p:spPr>
        <p:txBody>
          <a:bodyPr rtlCol="0" anchor="ctr"/>
          <a:lstStyle/>
          <a:p>
            <a:pPr algn="ctr"/>
          </a:p>
        </p:txBody>
      </p:sp>
      <p:sp>
        <p:nvSpPr>
          <p:cNvPr id="12" name="글 interventions[ actual_ti"/>
          <p:cNvSpPr txBox="1"/>
          <p:nvPr/>
        </p:nvSpPr>
        <p:spPr>
          <a:xfrm>
            <a:off x="708660" y="2847137"/>
            <a:ext cx="2942905" cy="182880"/>
          </a:xfrm>
          <a:prstGeom prst="rect">
            <a:avLst/>
          </a:prstGeom>
          <a:noFill/>
        </p:spPr>
        <p:txBody>
          <a:bodyPr wrap="none" anchor="t" lIns="0" rIns="0" tIns="0" bIns="0">
            <a:noAutofit/>
          </a:bodyPr>
          <a:lstStyle/>
          <a:p>
            <a:pPr algn="l" eaLnBrk="0" latinLnBrk="0"/>
            <a:r>
              <a:rPr sz="960" b="0">
                <a:solidFill>
                  <a:srgbClr val="0F1E2E"/>
                </a:solidFill>
                <a:latin typeface="Noto Sans KR"/>
                <a:ea typeface="Noto Sans KR"/>
                <a:cs typeface="Noto Sans KR"/>
              </a:rPr>
              <a:t>interventions[ actual_time · milestones · presets ]</a:t>
            </a:r>
          </a:p>
        </p:txBody>
      </p:sp>
      <p:sp>
        <p:nvSpPr>
          <p:cNvPr id="13" name="Rounded Rectangle 12"/>
          <p:cNvSpPr/>
          <p:nvPr/>
        </p:nvSpPr>
        <p:spPr>
          <a:xfrm>
            <a:off x="609600" y="3124200"/>
            <a:ext cx="4206850" cy="274320"/>
          </a:xfrm>
          <a:prstGeom prst="roundRect">
            <a:avLst>
              <a:gd name="adj" fmla="val 22222"/>
            </a:avLst>
          </a:prstGeom>
          <a:solidFill>
            <a:srgbClr val="F2F5F8"/>
          </a:solidFill>
          <a:ln w="7620">
            <a:solidFill>
              <a:srgbClr val="D6DEE6"/>
            </a:solidFill>
          </a:ln>
        </p:spPr>
        <p:txBody>
          <a:bodyPr rtlCol="0" anchor="ctr"/>
          <a:lstStyle/>
          <a:p>
            <a:pPr algn="ctr"/>
          </a:p>
        </p:txBody>
      </p:sp>
      <p:sp>
        <p:nvSpPr>
          <p:cNvPr id="14" name="글 layers{ aoi · roads · wa"/>
          <p:cNvSpPr txBox="1"/>
          <p:nvPr/>
        </p:nvSpPr>
        <p:spPr>
          <a:xfrm>
            <a:off x="708660" y="3197657"/>
            <a:ext cx="4084930" cy="182880"/>
          </a:xfrm>
          <a:prstGeom prst="rect">
            <a:avLst/>
          </a:prstGeom>
          <a:noFill/>
        </p:spPr>
        <p:txBody>
          <a:bodyPr wrap="none" anchor="t" lIns="0" rIns="0" tIns="0" bIns="0">
            <a:noAutofit/>
          </a:bodyPr>
          <a:lstStyle/>
          <a:p>
            <a:pPr algn="l" eaLnBrk="0" latinLnBrk="0"/>
            <a:r>
              <a:rPr sz="960" b="0">
                <a:solidFill>
                  <a:srgbClr val="0F1E2E"/>
                </a:solidFill>
                <a:latin typeface="Noto Sans KR"/>
                <a:ea typeface="Noto Sans KR"/>
                <a:cs typeface="Noto Sans KR"/>
              </a:rPr>
              <a:t>layers{ aoi · roads · waterways · hand_reconstruction · flood_extent }</a:t>
            </a:r>
          </a:p>
        </p:txBody>
      </p:sp>
      <p:sp>
        <p:nvSpPr>
          <p:cNvPr id="15" name="Rounded Rectangle 14"/>
          <p:cNvSpPr/>
          <p:nvPr/>
        </p:nvSpPr>
        <p:spPr>
          <a:xfrm>
            <a:off x="609600" y="3474720"/>
            <a:ext cx="2081784" cy="274320"/>
          </a:xfrm>
          <a:prstGeom prst="roundRect">
            <a:avLst>
              <a:gd name="adj" fmla="val 22222"/>
            </a:avLst>
          </a:prstGeom>
          <a:solidFill>
            <a:srgbClr val="F2F5F8"/>
          </a:solidFill>
          <a:ln w="7620">
            <a:solidFill>
              <a:srgbClr val="D6DEE6"/>
            </a:solidFill>
          </a:ln>
        </p:spPr>
        <p:txBody>
          <a:bodyPr rtlCol="0" anchor="ctr"/>
          <a:lstStyle/>
          <a:p>
            <a:pPr algn="ctr"/>
          </a:p>
        </p:txBody>
      </p:sp>
      <p:sp>
        <p:nvSpPr>
          <p:cNvPr id="16" name="글 status · provenance · li"/>
          <p:cNvSpPr txBox="1"/>
          <p:nvPr/>
        </p:nvSpPr>
        <p:spPr>
          <a:xfrm>
            <a:off x="708660" y="3548177"/>
            <a:ext cx="1959864" cy="182880"/>
          </a:xfrm>
          <a:prstGeom prst="rect">
            <a:avLst/>
          </a:prstGeom>
          <a:noFill/>
        </p:spPr>
        <p:txBody>
          <a:bodyPr wrap="none" anchor="t" lIns="0" rIns="0" tIns="0" bIns="0">
            <a:noAutofit/>
          </a:bodyPr>
          <a:lstStyle/>
          <a:p>
            <a:pPr algn="l" eaLnBrk="0" latinLnBrk="0"/>
            <a:r>
              <a:rPr sz="960" b="0">
                <a:solidFill>
                  <a:srgbClr val="0F1E2E"/>
                </a:solidFill>
                <a:latin typeface="Noto Sans KR"/>
                <a:ea typeface="Noto Sans KR"/>
                <a:cs typeface="Noto Sans KR"/>
              </a:rPr>
              <a:t>status · provenance · limitations</a:t>
            </a:r>
          </a:p>
        </p:txBody>
      </p:sp>
      <p:sp>
        <p:nvSpPr>
          <p:cNvPr id="17" name="Rounded Rectangle 16"/>
          <p:cNvSpPr/>
          <p:nvPr/>
        </p:nvSpPr>
        <p:spPr>
          <a:xfrm>
            <a:off x="2767584" y="3474720"/>
            <a:ext cx="1503761" cy="274320"/>
          </a:xfrm>
          <a:prstGeom prst="roundRect">
            <a:avLst>
              <a:gd name="adj" fmla="val 22222"/>
            </a:avLst>
          </a:prstGeom>
          <a:solidFill>
            <a:srgbClr val="F2F5F8"/>
          </a:solidFill>
          <a:ln w="7620">
            <a:solidFill>
              <a:srgbClr val="D6DEE6"/>
            </a:solidFill>
          </a:ln>
        </p:spPr>
        <p:txBody>
          <a:bodyPr rtlCol="0" anchor="ctr"/>
          <a:lstStyle/>
          <a:p>
            <a:pPr algn="ctr"/>
          </a:p>
        </p:txBody>
      </p:sp>
      <p:sp>
        <p:nvSpPr>
          <p:cNvPr id="18" name="글 agent tools · examples"/>
          <p:cNvSpPr txBox="1"/>
          <p:nvPr/>
        </p:nvSpPr>
        <p:spPr>
          <a:xfrm>
            <a:off x="2866644" y="3548177"/>
            <a:ext cx="1381841" cy="182880"/>
          </a:xfrm>
          <a:prstGeom prst="rect">
            <a:avLst/>
          </a:prstGeom>
          <a:noFill/>
        </p:spPr>
        <p:txBody>
          <a:bodyPr wrap="none" anchor="t" lIns="0" rIns="0" tIns="0" bIns="0">
            <a:noAutofit/>
          </a:bodyPr>
          <a:lstStyle/>
          <a:p>
            <a:pPr algn="l" eaLnBrk="0" latinLnBrk="0"/>
            <a:r>
              <a:rPr sz="960" b="0">
                <a:solidFill>
                  <a:srgbClr val="0F1E2E"/>
                </a:solidFill>
                <a:latin typeface="Noto Sans KR"/>
                <a:ea typeface="Noto Sans KR"/>
                <a:cs typeface="Noto Sans KR"/>
              </a:rPr>
              <a:t>agent tools · examples</a:t>
            </a:r>
          </a:p>
        </p:txBody>
      </p:sp>
      <p:sp>
        <p:nvSpPr>
          <p:cNvPr id="19" name="Rounded Rectangle 18"/>
          <p:cNvSpPr/>
          <p:nvPr/>
        </p:nvSpPr>
        <p:spPr>
          <a:xfrm>
            <a:off x="609600" y="4114800"/>
            <a:ext cx="5181600" cy="1615440"/>
          </a:xfrm>
          <a:prstGeom prst="roundRect">
            <a:avLst>
              <a:gd name="adj" fmla="val 6603"/>
            </a:avLst>
          </a:prstGeom>
          <a:solidFill>
            <a:srgbClr val="F2F5F8"/>
          </a:solidFill>
          <a:ln>
            <a:noFill/>
          </a:ln>
        </p:spPr>
        <p:txBody>
          <a:bodyPr rtlCol="0" anchor="ctr"/>
          <a:lstStyle/>
          <a:p>
            <a:pPr algn="ctr"/>
          </a:p>
        </p:txBody>
      </p:sp>
      <p:sp>
        <p:nvSpPr>
          <p:cNvPr id="20" name="글 올해 10월 3일, 같은 계약으로 세 사례를"/>
          <p:cNvSpPr txBox="1"/>
          <p:nvPr/>
        </p:nvSpPr>
        <p:spPr>
          <a:xfrm>
            <a:off x="822960" y="4303776"/>
            <a:ext cx="3441802"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올해 10월 3일, 같은 계약으로 세 사례를 추가했습니다</a:t>
            </a:r>
          </a:p>
        </p:txBody>
      </p:sp>
      <p:sp>
        <p:nvSpPr>
          <p:cNvPr id="21" name="글 서울 2022 · 포항 2022 · 안동·의"/>
          <p:cNvSpPr txBox="1"/>
          <p:nvPr/>
        </p:nvSpPr>
        <p:spPr>
          <a:xfrm>
            <a:off x="822960" y="4595165"/>
            <a:ext cx="4780361" cy="603504"/>
          </a:xfrm>
          <a:prstGeom prst="rect">
            <a:avLst/>
          </a:prstGeom>
          <a:noFill/>
        </p:spPr>
        <p:txBody>
          <a:bodyPr wrap="none" anchor="t" lIns="0" rIns="0" tIns="0" bIns="0">
            <a:noAutofit/>
          </a:bodyPr>
          <a:lstStyle/>
          <a:p>
            <a:pPr algn="l" eaLnBrk="0" latinLnBrk="0">
              <a:lnSpc>
                <a:spcPct val="129167"/>
              </a:lnSpc>
            </a:pPr>
            <a:r>
              <a:rPr sz="960" b="0">
                <a:solidFill>
                  <a:srgbClr val="566676"/>
                </a:solidFill>
                <a:latin typeface="Noto Sans KR"/>
                <a:ea typeface="Noto Sans KR"/>
                <a:cs typeface="Noto Sans KR"/>
              </a:rPr>
              <a:t>서울 2022 · 포항 2022 · 안동·의성 2026 — 백엔드 모듈 하나와 화면 하나를 공유합니다.</a:t>
            </a:r>
          </a:p>
          <a:p>
            <a:pPr algn="l" eaLnBrk="0" latinLnBrk="0">
              <a:lnSpc>
                <a:spcPct val="129167"/>
              </a:lnSpc>
            </a:pPr>
            <a:r>
              <a:rPr sz="960" b="0">
                <a:solidFill>
                  <a:srgbClr val="566676"/>
                </a:solidFill>
                <a:latin typeface="Noto Sans KR"/>
                <a:ea typeface="Noto Sans KR"/>
                <a:cs typeface="Noto Sans KR"/>
              </a:rPr>
              <a:t>익산 2024는 시각 근거가 없어 목록에만 두고 잠갔습니다. 자료가 오면 같은 계약으로 열립니다.</a:t>
            </a:r>
          </a:p>
          <a:p>
            <a:pPr algn="l" eaLnBrk="0" latinLnBrk="0">
              <a:lnSpc>
                <a:spcPct val="129167"/>
              </a:lnSpc>
            </a:pPr>
            <a:r>
              <a:rPr sz="960" b="0">
                <a:solidFill>
                  <a:srgbClr val="566676"/>
                </a:solidFill>
                <a:latin typeface="Noto Sans KR"/>
                <a:ea typeface="Noto Sans KR"/>
                <a:cs typeface="Noto Sans KR"/>
              </a:rPr>
              <a:t>관측 강우·수위가 연결되면 보도 순서 임계를 관측 기준으로 바꾸는 경로도 정해 두었습니다.</a:t>
            </a:r>
          </a:p>
        </p:txBody>
      </p:sp>
      <p:sp>
        <p:nvSpPr>
          <p:cNvPr id="22" name="Rounded Rectangle 21"/>
          <p:cNvSpPr/>
          <p:nvPr/>
        </p:nvSpPr>
        <p:spPr>
          <a:xfrm>
            <a:off x="6400800" y="1996440"/>
            <a:ext cx="5181600" cy="1143000"/>
          </a:xfrm>
          <a:prstGeom prst="roundRect">
            <a:avLst>
              <a:gd name="adj" fmla="val 9333"/>
            </a:avLst>
          </a:prstGeom>
          <a:solidFill>
            <a:srgbClr val="F2F5F8"/>
          </a:solidFill>
          <a:ln>
            <a:noFill/>
          </a:ln>
        </p:spPr>
        <p:txBody>
          <a:bodyPr rtlCol="0" anchor="ctr"/>
          <a:lstStyle/>
          <a:p>
            <a:pPr algn="ctr"/>
          </a:p>
        </p:txBody>
      </p:sp>
      <p:sp>
        <p:nvSpPr>
          <p:cNvPr id="23" name="Oval 22"/>
          <p:cNvSpPr/>
          <p:nvPr/>
        </p:nvSpPr>
        <p:spPr>
          <a:xfrm>
            <a:off x="6568440" y="2179320"/>
            <a:ext cx="335280" cy="335280"/>
          </a:xfrm>
          <a:prstGeom prst="ellipse">
            <a:avLst/>
          </a:prstGeom>
          <a:solidFill>
            <a:srgbClr val="0B8577"/>
          </a:solidFill>
          <a:ln>
            <a:noFill/>
          </a:ln>
        </p:spPr>
        <p:txBody>
          <a:bodyPr rtlCol="0" anchor="ctr"/>
          <a:lstStyle/>
          <a:p>
            <a:pPr algn="ctr"/>
          </a:p>
        </p:txBody>
      </p:sp>
      <p:sp>
        <p:nvSpPr>
          <p:cNvPr id="24" name="글 1"/>
          <p:cNvSpPr txBox="1"/>
          <p:nvPr/>
        </p:nvSpPr>
        <p:spPr>
          <a:xfrm>
            <a:off x="6648526" y="224637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1</a:t>
            </a:r>
          </a:p>
        </p:txBody>
      </p:sp>
      <p:sp>
        <p:nvSpPr>
          <p:cNvPr id="25" name="글 사례 확장"/>
          <p:cNvSpPr txBox="1"/>
          <p:nvPr/>
        </p:nvSpPr>
        <p:spPr>
          <a:xfrm>
            <a:off x="7025640" y="2232355"/>
            <a:ext cx="790712"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사례 확장</a:t>
            </a:r>
          </a:p>
        </p:txBody>
      </p:sp>
      <p:sp>
        <p:nvSpPr>
          <p:cNvPr id="26" name="글 다음 사건으로"/>
          <p:cNvSpPr txBox="1"/>
          <p:nvPr/>
        </p:nvSpPr>
        <p:spPr>
          <a:xfrm>
            <a:off x="7846832" y="2261616"/>
            <a:ext cx="952043"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다음 사건으로</a:t>
            </a:r>
          </a:p>
        </p:txBody>
      </p:sp>
      <p:sp>
        <p:nvSpPr>
          <p:cNvPr id="27" name="글 기상청 AWS·홍수통제소 API로 관측을 붙"/>
          <p:cNvSpPr txBox="1"/>
          <p:nvPr/>
        </p:nvSpPr>
        <p:spPr>
          <a:xfrm>
            <a:off x="6644640" y="2555138"/>
            <a:ext cx="5084064"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기상청 AWS·홍수통제소 API로 관측을 붙이면 포항·안동이 오송 수준으로</a:t>
            </a:r>
            <a:br/>
            <a:r>
              <a:rPr sz="1080" b="0">
                <a:solidFill>
                  <a:srgbClr val="566676"/>
                </a:solidFill>
                <a:latin typeface="Noto Sans KR"/>
                <a:ea typeface="Noto Sans KR"/>
                <a:cs typeface="Noto Sans KR"/>
              </a:rPr>
              <a:t>올라갑니다. 공식 침수범위가 오면 노출 지표가 열립니다.</a:t>
            </a:r>
          </a:p>
        </p:txBody>
      </p:sp>
      <p:sp>
        <p:nvSpPr>
          <p:cNvPr id="28" name="Rounded Rectangle 27"/>
          <p:cNvSpPr/>
          <p:nvPr/>
        </p:nvSpPr>
        <p:spPr>
          <a:xfrm>
            <a:off x="6400800" y="3276600"/>
            <a:ext cx="5181600" cy="1143000"/>
          </a:xfrm>
          <a:prstGeom prst="roundRect">
            <a:avLst>
              <a:gd name="adj" fmla="val 9333"/>
            </a:avLst>
          </a:prstGeom>
          <a:solidFill>
            <a:srgbClr val="F2F5F8"/>
          </a:solidFill>
          <a:ln>
            <a:noFill/>
          </a:ln>
        </p:spPr>
        <p:txBody>
          <a:bodyPr rtlCol="0" anchor="ctr"/>
          <a:lstStyle/>
          <a:p>
            <a:pPr algn="ctr"/>
          </a:p>
        </p:txBody>
      </p:sp>
      <p:sp>
        <p:nvSpPr>
          <p:cNvPr id="29" name="Oval 28"/>
          <p:cNvSpPr/>
          <p:nvPr/>
        </p:nvSpPr>
        <p:spPr>
          <a:xfrm>
            <a:off x="6568440" y="3459480"/>
            <a:ext cx="335280" cy="335280"/>
          </a:xfrm>
          <a:prstGeom prst="ellipse">
            <a:avLst/>
          </a:prstGeom>
          <a:solidFill>
            <a:srgbClr val="0B8577"/>
          </a:solidFill>
          <a:ln>
            <a:noFill/>
          </a:ln>
        </p:spPr>
        <p:txBody>
          <a:bodyPr rtlCol="0" anchor="ctr"/>
          <a:lstStyle/>
          <a:p>
            <a:pPr algn="ctr"/>
          </a:p>
        </p:txBody>
      </p:sp>
      <p:sp>
        <p:nvSpPr>
          <p:cNvPr id="30" name="글 2"/>
          <p:cNvSpPr txBox="1"/>
          <p:nvPr/>
        </p:nvSpPr>
        <p:spPr>
          <a:xfrm>
            <a:off x="6648526" y="352653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2</a:t>
            </a:r>
          </a:p>
        </p:txBody>
      </p:sp>
      <p:sp>
        <p:nvSpPr>
          <p:cNvPr id="31" name="글 대상 확장"/>
          <p:cNvSpPr txBox="1"/>
          <p:nvPr/>
        </p:nvSpPr>
        <p:spPr>
          <a:xfrm>
            <a:off x="7025640" y="3512515"/>
            <a:ext cx="790712"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대상 확장</a:t>
            </a:r>
          </a:p>
        </p:txBody>
      </p:sp>
      <p:sp>
        <p:nvSpPr>
          <p:cNvPr id="32" name="글 지하차도 · 지하주차장 · 임시주택"/>
          <p:cNvSpPr txBox="1"/>
          <p:nvPr/>
        </p:nvSpPr>
        <p:spPr>
          <a:xfrm>
            <a:off x="7846832" y="3541776"/>
            <a:ext cx="2217725"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지하차도 · 지하주차장 · 임시주택</a:t>
            </a:r>
          </a:p>
        </p:txBody>
      </p:sp>
      <p:sp>
        <p:nvSpPr>
          <p:cNvPr id="33" name="글 오송은 지하차도, 포항은 지하주차장, 안동은"/>
          <p:cNvSpPr txBox="1"/>
          <p:nvPr/>
        </p:nvSpPr>
        <p:spPr>
          <a:xfrm>
            <a:off x="6644640" y="3835298"/>
            <a:ext cx="5084064"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오송은 지하차도, 포항은 지하주차장, 안동은 임시주택입니다. 초점 시설만 바꾸면</a:t>
            </a:r>
            <a:br/>
            <a:r>
              <a:rPr sz="1080" b="0">
                <a:solidFill>
                  <a:srgbClr val="566676"/>
                </a:solidFill>
                <a:latin typeface="Noto Sans KR"/>
                <a:ea typeface="Noto Sans KR"/>
                <a:cs typeface="Noto Sans KR"/>
              </a:rPr>
              <a:t>같은 단계 재생이 됩니다.</a:t>
            </a:r>
          </a:p>
        </p:txBody>
      </p:sp>
      <p:sp>
        <p:nvSpPr>
          <p:cNvPr id="34" name="Rounded Rectangle 33"/>
          <p:cNvSpPr/>
          <p:nvPr/>
        </p:nvSpPr>
        <p:spPr>
          <a:xfrm>
            <a:off x="6400800" y="4556760"/>
            <a:ext cx="5181600" cy="1143000"/>
          </a:xfrm>
          <a:prstGeom prst="roundRect">
            <a:avLst>
              <a:gd name="adj" fmla="val 9333"/>
            </a:avLst>
          </a:prstGeom>
          <a:solidFill>
            <a:srgbClr val="F2F5F8"/>
          </a:solidFill>
          <a:ln>
            <a:noFill/>
          </a:ln>
        </p:spPr>
        <p:txBody>
          <a:bodyPr rtlCol="0" anchor="ctr"/>
          <a:lstStyle/>
          <a:p>
            <a:pPr algn="ctr"/>
          </a:p>
        </p:txBody>
      </p:sp>
      <p:sp>
        <p:nvSpPr>
          <p:cNvPr id="35" name="Oval 34"/>
          <p:cNvSpPr/>
          <p:nvPr/>
        </p:nvSpPr>
        <p:spPr>
          <a:xfrm>
            <a:off x="6568440" y="4739640"/>
            <a:ext cx="335280" cy="335280"/>
          </a:xfrm>
          <a:prstGeom prst="ellipse">
            <a:avLst/>
          </a:prstGeom>
          <a:solidFill>
            <a:srgbClr val="0B8577"/>
          </a:solidFill>
          <a:ln>
            <a:noFill/>
          </a:ln>
        </p:spPr>
        <p:txBody>
          <a:bodyPr rtlCol="0" anchor="ctr"/>
          <a:lstStyle/>
          <a:p>
            <a:pPr algn="ctr"/>
          </a:p>
        </p:txBody>
      </p:sp>
      <p:sp>
        <p:nvSpPr>
          <p:cNvPr id="36" name="글 3"/>
          <p:cNvSpPr txBox="1"/>
          <p:nvPr/>
        </p:nvSpPr>
        <p:spPr>
          <a:xfrm>
            <a:off x="6648526" y="480669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3</a:t>
            </a:r>
          </a:p>
        </p:txBody>
      </p:sp>
      <p:sp>
        <p:nvSpPr>
          <p:cNvPr id="37" name="글 서비스 확장"/>
          <p:cNvSpPr txBox="1"/>
          <p:nvPr/>
        </p:nvSpPr>
        <p:spPr>
          <a:xfrm>
            <a:off x="7025640" y="4792675"/>
            <a:ext cx="958962"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서비스 확장</a:t>
            </a:r>
          </a:p>
        </p:txBody>
      </p:sp>
      <p:sp>
        <p:nvSpPr>
          <p:cNvPr id="38" name="글 API · Agent 도구"/>
          <p:cNvSpPr txBox="1"/>
          <p:nvPr/>
        </p:nvSpPr>
        <p:spPr>
          <a:xfrm>
            <a:off x="8015082" y="4821936"/>
            <a:ext cx="1239317"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API · Agent 도구</a:t>
            </a:r>
          </a:p>
        </p:txBody>
      </p:sp>
      <p:sp>
        <p:nvSpPr>
          <p:cNvPr id="39" name="글 분석 API는 Swagger로 공개되고, A"/>
          <p:cNvSpPr txBox="1"/>
          <p:nvPr/>
        </p:nvSpPr>
        <p:spPr>
          <a:xfrm>
            <a:off x="6644640" y="5115458"/>
            <a:ext cx="5084064"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분석 API는 Swagger로 공개되고, Agent 도구는 사례별로 등록합니다. 다른</a:t>
            </a:r>
            <a:br/>
            <a:r>
              <a:rPr sz="1080" b="0">
                <a:solidFill>
                  <a:srgbClr val="566676"/>
                </a:solidFill>
                <a:latin typeface="Noto Sans KR"/>
                <a:ea typeface="Noto Sans KR"/>
                <a:cs typeface="Noto Sans KR"/>
              </a:rPr>
              <a:t>시스템이 같은 계산을 가져갈 수 있습니다.</a:t>
            </a:r>
          </a:p>
        </p:txBody>
      </p:sp>
      <p:sp>
        <p:nvSpPr>
          <p:cNvPr id="40" name="글 개인정보·유료자료 없이 공개자료만 쓰기 때문"/>
          <p:cNvSpPr txBox="1"/>
          <p:nvPr/>
        </p:nvSpPr>
        <p:spPr>
          <a:xfrm>
            <a:off x="6400800" y="5850636"/>
            <a:ext cx="3312262" cy="487680"/>
          </a:xfrm>
          <a:prstGeom prst="rect">
            <a:avLst/>
          </a:prstGeom>
          <a:noFill/>
        </p:spPr>
        <p:txBody>
          <a:bodyPr wrap="none" anchor="t" lIns="0" rIns="0" tIns="0" bIns="0">
            <a:noAutofit/>
          </a:bodyPr>
          <a:lstStyle/>
          <a:p>
            <a:pPr algn="l" eaLnBrk="0" latinLnBrk="0">
              <a:lnSpc>
                <a:spcPct val="120833"/>
              </a:lnSpc>
            </a:pPr>
            <a:r>
              <a:rPr sz="1200" b="1">
                <a:solidFill>
                  <a:srgbClr val="0F1E2E"/>
                </a:solidFill>
                <a:latin typeface="Noto Sans KR"/>
                <a:ea typeface="Noto Sans KR"/>
                <a:cs typeface="Noto Sans KR"/>
              </a:rPr>
              <a:t>개인정보·유료자료 없이 공개자료만 쓰기 때문에</a:t>
            </a:r>
          </a:p>
          <a:p>
            <a:pPr algn="l" eaLnBrk="0" latinLnBrk="0">
              <a:lnSpc>
                <a:spcPct val="120833"/>
              </a:lnSpc>
            </a:pPr>
            <a:r>
              <a:rPr sz="1200" b="1">
                <a:solidFill>
                  <a:srgbClr val="0F1E2E"/>
                </a:solidFill>
                <a:latin typeface="Noto Sans KR"/>
                <a:ea typeface="Noto Sans KR"/>
                <a:cs typeface="Noto Sans KR"/>
              </a:rPr>
              <a:t>다른 기관도 같은 계약으로 사례를 더할 수 있습니다.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70D1A"/>
        </a:solidFill>
        <a:effectLst/>
      </p:bgPr>
    </p:bg>
    <p:spTree>
      <p:nvGrpSpPr>
        <p:cNvPr id="1" name=""/>
        <p:cNvGrpSpPr/>
        <p:nvPr/>
      </p:nvGrpSpPr>
      <p:grpSpPr/>
      <p:sp>
        <p:nvSpPr>
          <p:cNvPr id="2" name="Oval 1"/>
          <p:cNvSpPr/>
          <p:nvPr/>
        </p:nvSpPr>
        <p:spPr>
          <a:xfrm>
            <a:off x="754380" y="1074420"/>
            <a:ext cx="76200" cy="76200"/>
          </a:xfrm>
          <a:prstGeom prst="ellipse">
            <a:avLst/>
          </a:prstGeom>
          <a:solidFill>
            <a:srgbClr val="991B1B"/>
          </a:solidFill>
          <a:ln>
            <a:noFill/>
          </a:ln>
        </p:spPr>
        <p:txBody>
          <a:bodyPr rtlCol="0" anchor="ctr"/>
          <a:lstStyle/>
          <a:p>
            <a:pPr algn="ctr"/>
          </a:p>
        </p:txBody>
      </p:sp>
      <p:sp>
        <p:nvSpPr>
          <p:cNvPr id="3" name="글 정리"/>
          <p:cNvSpPr txBox="1"/>
          <p:nvPr/>
        </p:nvSpPr>
        <p:spPr>
          <a:xfrm>
            <a:off x="914400" y="1026566"/>
            <a:ext cx="328574" cy="205740"/>
          </a:xfrm>
          <a:prstGeom prst="rect">
            <a:avLst/>
          </a:prstGeom>
          <a:noFill/>
        </p:spPr>
        <p:txBody>
          <a:bodyPr wrap="none" anchor="t" lIns="0" rIns="0" tIns="0" bIns="0">
            <a:noAutofit/>
          </a:bodyPr>
          <a:lstStyle/>
          <a:p>
            <a:pPr algn="l" eaLnBrk="0" latinLnBrk="0"/>
            <a:r>
              <a:rPr sz="1080" b="1">
                <a:solidFill>
                  <a:srgbClr val="AEBBCB"/>
                </a:solidFill>
                <a:latin typeface="Noto Sans KR"/>
                <a:ea typeface="Noto Sans KR"/>
                <a:cs typeface="Noto Sans KR"/>
              </a:rPr>
              <a:t>정리</a:t>
            </a:r>
          </a:p>
        </p:txBody>
      </p:sp>
      <p:sp>
        <p:nvSpPr>
          <p:cNvPr id="4" name="글 물이 들어오기 전에,"/>
          <p:cNvSpPr txBox="1"/>
          <p:nvPr/>
        </p:nvSpPr>
        <p:spPr>
          <a:xfrm>
            <a:off x="731520" y="1420368"/>
            <a:ext cx="3797351" cy="1325880"/>
          </a:xfrm>
          <a:prstGeom prst="rect">
            <a:avLst/>
          </a:prstGeom>
          <a:noFill/>
        </p:spPr>
        <p:txBody>
          <a:bodyPr wrap="none" anchor="t" lIns="0" rIns="0" tIns="0" bIns="0">
            <a:noAutofit/>
          </a:bodyPr>
          <a:lstStyle/>
          <a:p>
            <a:pPr algn="l" eaLnBrk="0" latinLnBrk="0">
              <a:lnSpc>
                <a:spcPct val="108333"/>
              </a:lnSpc>
            </a:pPr>
            <a:r>
              <a:rPr sz="3600" b="1">
                <a:solidFill>
                  <a:srgbClr val="FFFFFF"/>
                </a:solidFill>
                <a:latin typeface="Noto Sans KR"/>
                <a:ea typeface="Noto Sans KR"/>
                <a:cs typeface="Noto Sans KR"/>
              </a:rPr>
              <a:t>물이 들어오기 전에,</a:t>
            </a:r>
          </a:p>
          <a:p>
            <a:pPr algn="l" eaLnBrk="0" latinLnBrk="0">
              <a:lnSpc>
                <a:spcPct val="108333"/>
              </a:lnSpc>
            </a:pPr>
            <a:r>
              <a:rPr sz="3600" b="1">
                <a:solidFill>
                  <a:srgbClr val="FFFFFF"/>
                </a:solidFill>
                <a:latin typeface="Noto Sans KR"/>
                <a:ea typeface="Noto Sans KR"/>
                <a:cs typeface="Noto Sans KR"/>
              </a:rPr>
              <a:t>몇 분이 있었는지</a:t>
            </a:r>
          </a:p>
        </p:txBody>
      </p:sp>
      <p:sp>
        <p:nvSpPr>
          <p:cNvPr id="5" name="글 흩어진 기록을 재생하면 더 이른 대응의 근거"/>
          <p:cNvSpPr txBox="1"/>
          <p:nvPr/>
        </p:nvSpPr>
        <p:spPr>
          <a:xfrm>
            <a:off x="762000" y="2826106"/>
            <a:ext cx="3886322" cy="251460"/>
          </a:xfrm>
          <a:prstGeom prst="rect">
            <a:avLst/>
          </a:prstGeom>
          <a:noFill/>
        </p:spPr>
        <p:txBody>
          <a:bodyPr wrap="none" anchor="t" lIns="0" rIns="0" tIns="0" bIns="0">
            <a:noAutofit/>
          </a:bodyPr>
          <a:lstStyle/>
          <a:p>
            <a:pPr algn="l" eaLnBrk="0" latinLnBrk="0"/>
            <a:r>
              <a:rPr sz="1320" b="0">
                <a:solidFill>
                  <a:srgbClr val="9DB2C6"/>
                </a:solidFill>
                <a:latin typeface="Noto Sans KR"/>
                <a:ea typeface="Noto Sans KR"/>
                <a:cs typeface="Noto Sans KR"/>
              </a:rPr>
              <a:t>흩어진 기록을 재생하면 더 이른 대응의 근거가 보입니다</a:t>
            </a:r>
          </a:p>
        </p:txBody>
      </p:sp>
      <p:sp>
        <p:nvSpPr>
          <p:cNvPr id="6" name="글 18"/>
          <p:cNvSpPr txBox="1"/>
          <p:nvPr/>
        </p:nvSpPr>
        <p:spPr>
          <a:xfrm>
            <a:off x="731520" y="3435096"/>
            <a:ext cx="1155192" cy="1371600"/>
          </a:xfrm>
          <a:prstGeom prst="rect">
            <a:avLst/>
          </a:prstGeom>
          <a:noFill/>
        </p:spPr>
        <p:txBody>
          <a:bodyPr wrap="none" anchor="t" lIns="0" rIns="0" tIns="0" bIns="0">
            <a:noAutofit/>
          </a:bodyPr>
          <a:lstStyle/>
          <a:p>
            <a:pPr algn="l" eaLnBrk="0" latinLnBrk="0"/>
            <a:r>
              <a:rPr sz="7200" b="1">
                <a:solidFill>
                  <a:srgbClr val="F87171"/>
                </a:solidFill>
                <a:latin typeface="Noto Sans KR"/>
                <a:ea typeface="Noto Sans KR"/>
                <a:cs typeface="Noto Sans KR"/>
              </a:rPr>
              <a:t>18</a:t>
            </a:r>
          </a:p>
        </p:txBody>
      </p:sp>
      <p:sp>
        <p:nvSpPr>
          <p:cNvPr id="7" name="글 분"/>
          <p:cNvSpPr txBox="1"/>
          <p:nvPr/>
        </p:nvSpPr>
        <p:spPr>
          <a:xfrm>
            <a:off x="1871472" y="4020312"/>
            <a:ext cx="356616" cy="457200"/>
          </a:xfrm>
          <a:prstGeom prst="rect">
            <a:avLst/>
          </a:prstGeom>
          <a:noFill/>
        </p:spPr>
        <p:txBody>
          <a:bodyPr wrap="none" anchor="t" lIns="0" rIns="0" tIns="0" bIns="0">
            <a:noAutofit/>
          </a:bodyPr>
          <a:lstStyle/>
          <a:p>
            <a:pPr algn="l" eaLnBrk="0" latinLnBrk="0"/>
            <a:r>
              <a:rPr sz="2400" b="1">
                <a:solidFill>
                  <a:srgbClr val="F87171"/>
                </a:solidFill>
                <a:latin typeface="Noto Sans KR"/>
                <a:ea typeface="Noto Sans KR"/>
                <a:cs typeface="Noto Sans KR"/>
              </a:rPr>
              <a:t>분</a:t>
            </a:r>
          </a:p>
        </p:txBody>
      </p:sp>
      <p:cxnSp>
        <p:nvCxnSpPr>
          <p:cNvPr id="8" name="Connector 7"/>
          <p:cNvCxnSpPr/>
          <p:nvPr/>
        </p:nvCxnSpPr>
        <p:spPr>
          <a:xfrm>
            <a:off x="2496312" y="3581400"/>
            <a:ext cx="0" cy="838200"/>
          </a:xfrm>
          <a:prstGeom prst="line">
            <a:avLst/>
          </a:prstGeom>
          <a:ln w="15240">
            <a:solidFill>
              <a:srgbClr val="991B1B"/>
            </a:solidFill>
          </a:ln>
        </p:spPr>
      </p:cxnSp>
      <p:sp>
        <p:nvSpPr>
          <p:cNvPr id="9" name="글 제방 붕괴 시점에 통제했다면"/>
          <p:cNvSpPr txBox="1"/>
          <p:nvPr/>
        </p:nvSpPr>
        <p:spPr>
          <a:xfrm>
            <a:off x="2709672" y="3696005"/>
            <a:ext cx="2398365" cy="297180"/>
          </a:xfrm>
          <a:prstGeom prst="rect">
            <a:avLst/>
          </a:prstGeom>
          <a:noFill/>
        </p:spPr>
        <p:txBody>
          <a:bodyPr wrap="none" anchor="t" lIns="0" rIns="0" tIns="0" bIns="0">
            <a:noAutofit/>
          </a:bodyPr>
          <a:lstStyle/>
          <a:p>
            <a:pPr algn="l" eaLnBrk="0" latinLnBrk="0"/>
            <a:r>
              <a:rPr sz="1560" b="1">
                <a:solidFill>
                  <a:srgbClr val="FFFFFF"/>
                </a:solidFill>
                <a:latin typeface="Noto Sans KR"/>
                <a:ea typeface="Noto Sans KR"/>
                <a:cs typeface="Noto Sans KR"/>
              </a:rPr>
              <a:t>제방 붕괴 시점에 통제했다면</a:t>
            </a:r>
          </a:p>
        </p:txBody>
      </p:sp>
      <p:sp>
        <p:nvSpPr>
          <p:cNvPr id="10" name="글 지하차도 유입 전 남는 시간 · 피해 감소량"/>
          <p:cNvSpPr txBox="1"/>
          <p:nvPr/>
        </p:nvSpPr>
        <p:spPr>
          <a:xfrm>
            <a:off x="2709672" y="4044086"/>
            <a:ext cx="3048869" cy="205740"/>
          </a:xfrm>
          <a:prstGeom prst="rect">
            <a:avLst/>
          </a:prstGeom>
          <a:noFill/>
        </p:spPr>
        <p:txBody>
          <a:bodyPr wrap="none" anchor="t" lIns="0" rIns="0" tIns="0" bIns="0">
            <a:noAutofit/>
          </a:bodyPr>
          <a:lstStyle/>
          <a:p>
            <a:pPr algn="l" eaLnBrk="0" latinLnBrk="0"/>
            <a:r>
              <a:rPr sz="1080" b="0">
                <a:solidFill>
                  <a:srgbClr val="9DB2C6"/>
                </a:solidFill>
                <a:latin typeface="Noto Sans KR"/>
                <a:ea typeface="Noto Sans KR"/>
                <a:cs typeface="Noto Sans KR"/>
              </a:rPr>
              <a:t>지하차도 유입 전 남는 시간 · 피해 감소량이 아닙니다</a:t>
            </a:r>
          </a:p>
        </p:txBody>
      </p:sp>
      <p:cxnSp>
        <p:nvCxnSpPr>
          <p:cNvPr id="11" name="Connector 10"/>
          <p:cNvCxnSpPr/>
          <p:nvPr/>
        </p:nvCxnSpPr>
        <p:spPr>
          <a:xfrm>
            <a:off x="762000" y="4785360"/>
            <a:ext cx="5257800" cy="0"/>
          </a:xfrm>
          <a:prstGeom prst="line">
            <a:avLst/>
          </a:prstGeom>
          <a:ln w="11430">
            <a:solidFill>
              <a:srgbClr val="22324A"/>
            </a:solidFill>
          </a:ln>
        </p:spPr>
      </p:cxnSp>
      <p:sp>
        <p:nvSpPr>
          <p:cNvPr id="12" name="글 4개 사례"/>
          <p:cNvSpPr txBox="1"/>
          <p:nvPr/>
        </p:nvSpPr>
        <p:spPr>
          <a:xfrm>
            <a:off x="762000" y="5052974"/>
            <a:ext cx="839389" cy="320040"/>
          </a:xfrm>
          <a:prstGeom prst="rect">
            <a:avLst/>
          </a:prstGeom>
          <a:noFill/>
        </p:spPr>
        <p:txBody>
          <a:bodyPr wrap="none" anchor="t" lIns="0" rIns="0" tIns="0" bIns="0">
            <a:noAutofit/>
          </a:bodyPr>
          <a:lstStyle/>
          <a:p>
            <a:pPr algn="l" eaLnBrk="0" latinLnBrk="0"/>
            <a:r>
              <a:rPr sz="1680" b="1">
                <a:solidFill>
                  <a:srgbClr val="FFFFFF"/>
                </a:solidFill>
                <a:latin typeface="Noto Sans KR"/>
                <a:ea typeface="Noto Sans KR"/>
                <a:cs typeface="Noto Sans KR"/>
              </a:rPr>
              <a:t>4개 사례</a:t>
            </a:r>
          </a:p>
        </p:txBody>
      </p:sp>
      <p:sp>
        <p:nvSpPr>
          <p:cNvPr id="13" name="글 같은 틀로 재생·비교"/>
          <p:cNvSpPr txBox="1"/>
          <p:nvPr/>
        </p:nvSpPr>
        <p:spPr>
          <a:xfrm>
            <a:off x="762000" y="5369357"/>
            <a:ext cx="1096548" cy="182880"/>
          </a:xfrm>
          <a:prstGeom prst="rect">
            <a:avLst/>
          </a:prstGeom>
          <a:noFill/>
        </p:spPr>
        <p:txBody>
          <a:bodyPr wrap="none" anchor="t" lIns="0" rIns="0" tIns="0" bIns="0">
            <a:noAutofit/>
          </a:bodyPr>
          <a:lstStyle/>
          <a:p>
            <a:pPr algn="l" eaLnBrk="0" latinLnBrk="0"/>
            <a:r>
              <a:rPr sz="960" b="0">
                <a:solidFill>
                  <a:srgbClr val="8FA0B3"/>
                </a:solidFill>
                <a:latin typeface="Noto Sans KR"/>
                <a:ea typeface="Noto Sans KR"/>
                <a:cs typeface="Noto Sans KR"/>
              </a:rPr>
              <a:t>같은 틀로 재생·비교</a:t>
            </a:r>
          </a:p>
        </p:txBody>
      </p:sp>
      <p:sp>
        <p:nvSpPr>
          <p:cNvPr id="14" name="글 자료 9종"/>
          <p:cNvSpPr txBox="1"/>
          <p:nvPr/>
        </p:nvSpPr>
        <p:spPr>
          <a:xfrm>
            <a:off x="2590800" y="5052974"/>
            <a:ext cx="839389" cy="320040"/>
          </a:xfrm>
          <a:prstGeom prst="rect">
            <a:avLst/>
          </a:prstGeom>
          <a:noFill/>
        </p:spPr>
        <p:txBody>
          <a:bodyPr wrap="none" anchor="t" lIns="0" rIns="0" tIns="0" bIns="0">
            <a:noAutofit/>
          </a:bodyPr>
          <a:lstStyle/>
          <a:p>
            <a:pPr algn="l" eaLnBrk="0" latinLnBrk="0"/>
            <a:r>
              <a:rPr sz="1680" b="1">
                <a:solidFill>
                  <a:srgbClr val="FFFFFF"/>
                </a:solidFill>
                <a:latin typeface="Noto Sans KR"/>
                <a:ea typeface="Noto Sans KR"/>
                <a:cs typeface="Noto Sans KR"/>
              </a:rPr>
              <a:t>자료 9종</a:t>
            </a:r>
          </a:p>
        </p:txBody>
      </p:sp>
      <p:sp>
        <p:nvSpPr>
          <p:cNvPr id="15" name="글 출처·시점·해시 기록"/>
          <p:cNvSpPr txBox="1"/>
          <p:nvPr/>
        </p:nvSpPr>
        <p:spPr>
          <a:xfrm>
            <a:off x="2590800" y="5369357"/>
            <a:ext cx="1137636" cy="182880"/>
          </a:xfrm>
          <a:prstGeom prst="rect">
            <a:avLst/>
          </a:prstGeom>
          <a:noFill/>
        </p:spPr>
        <p:txBody>
          <a:bodyPr wrap="none" anchor="t" lIns="0" rIns="0" tIns="0" bIns="0">
            <a:noAutofit/>
          </a:bodyPr>
          <a:lstStyle/>
          <a:p>
            <a:pPr algn="l" eaLnBrk="0" latinLnBrk="0"/>
            <a:r>
              <a:rPr sz="960" b="0">
                <a:solidFill>
                  <a:srgbClr val="8FA0B3"/>
                </a:solidFill>
                <a:latin typeface="Noto Sans KR"/>
                <a:ea typeface="Noto Sans KR"/>
                <a:cs typeface="Noto Sans KR"/>
              </a:rPr>
              <a:t>출처·시점·해시 기록</a:t>
            </a:r>
          </a:p>
        </p:txBody>
      </p:sp>
      <p:sp>
        <p:nvSpPr>
          <p:cNvPr id="16" name="글 154 테스트"/>
          <p:cNvSpPr txBox="1"/>
          <p:nvPr/>
        </p:nvSpPr>
        <p:spPr>
          <a:xfrm>
            <a:off x="4419600" y="5052974"/>
            <a:ext cx="1091154" cy="320040"/>
          </a:xfrm>
          <a:prstGeom prst="rect">
            <a:avLst/>
          </a:prstGeom>
          <a:noFill/>
        </p:spPr>
        <p:txBody>
          <a:bodyPr wrap="none" anchor="t" lIns="0" rIns="0" tIns="0" bIns="0">
            <a:noAutofit/>
          </a:bodyPr>
          <a:lstStyle/>
          <a:p>
            <a:pPr algn="l" eaLnBrk="0" latinLnBrk="0"/>
            <a:r>
              <a:rPr sz="1680" b="1">
                <a:solidFill>
                  <a:srgbClr val="FFFFFF"/>
                </a:solidFill>
                <a:latin typeface="Noto Sans KR"/>
                <a:ea typeface="Noto Sans KR"/>
                <a:cs typeface="Noto Sans KR"/>
              </a:rPr>
              <a:t>154 테스트</a:t>
            </a:r>
          </a:p>
        </p:txBody>
      </p:sp>
      <p:sp>
        <p:nvSpPr>
          <p:cNvPr id="17" name="글 계산과 화면을 고정"/>
          <p:cNvSpPr txBox="1"/>
          <p:nvPr/>
        </p:nvSpPr>
        <p:spPr>
          <a:xfrm>
            <a:off x="4419600" y="5369357"/>
            <a:ext cx="1028151" cy="182880"/>
          </a:xfrm>
          <a:prstGeom prst="rect">
            <a:avLst/>
          </a:prstGeom>
          <a:noFill/>
        </p:spPr>
        <p:txBody>
          <a:bodyPr wrap="none" anchor="t" lIns="0" rIns="0" tIns="0" bIns="0">
            <a:noAutofit/>
          </a:bodyPr>
          <a:lstStyle/>
          <a:p>
            <a:pPr algn="l" eaLnBrk="0" latinLnBrk="0"/>
            <a:r>
              <a:rPr sz="960" b="0">
                <a:solidFill>
                  <a:srgbClr val="8FA0B3"/>
                </a:solidFill>
                <a:latin typeface="Noto Sans KR"/>
                <a:ea typeface="Noto Sans KR"/>
                <a:cs typeface="Noto Sans KR"/>
              </a:rPr>
              <a:t>계산과 화면을 고정</a:t>
            </a:r>
          </a:p>
        </p:txBody>
      </p:sp>
      <p:sp>
        <p:nvSpPr>
          <p:cNvPr id="18" name="글 floodops.duckdns.org"/>
          <p:cNvSpPr txBox="1"/>
          <p:nvPr/>
        </p:nvSpPr>
        <p:spPr>
          <a:xfrm>
            <a:off x="762000" y="5935066"/>
            <a:ext cx="1895094" cy="251460"/>
          </a:xfrm>
          <a:prstGeom prst="rect">
            <a:avLst/>
          </a:prstGeom>
          <a:noFill/>
        </p:spPr>
        <p:txBody>
          <a:bodyPr wrap="none" anchor="t" lIns="0" rIns="0" tIns="0" bIns="0">
            <a:noAutofit/>
          </a:bodyPr>
          <a:lstStyle/>
          <a:p>
            <a:pPr algn="l" eaLnBrk="0" latinLnBrk="0"/>
            <a:r>
              <a:rPr sz="1320" b="1">
                <a:solidFill>
                  <a:srgbClr val="F87171"/>
                </a:solidFill>
                <a:latin typeface="Noto Sans KR"/>
                <a:ea typeface="Noto Sans KR"/>
                <a:cs typeface="Noto Sans KR"/>
              </a:rPr>
              <a:t>floodops.duckdns.org</a:t>
            </a:r>
          </a:p>
        </p:txBody>
      </p:sp>
      <p:sp>
        <p:nvSpPr>
          <p:cNvPr id="19" name="글 감사합니다"/>
          <p:cNvSpPr txBox="1"/>
          <p:nvPr/>
        </p:nvSpPr>
        <p:spPr>
          <a:xfrm>
            <a:off x="4892040" y="5876544"/>
            <a:ext cx="1127760" cy="342900"/>
          </a:xfrm>
          <a:prstGeom prst="rect">
            <a:avLst/>
          </a:prstGeom>
          <a:noFill/>
        </p:spPr>
        <p:txBody>
          <a:bodyPr wrap="none" anchor="t" lIns="0" rIns="0" tIns="0" bIns="0">
            <a:noAutofit/>
          </a:bodyPr>
          <a:lstStyle/>
          <a:p>
            <a:pPr algn="r" eaLnBrk="0" latinLnBrk="0"/>
            <a:r>
              <a:rPr sz="1800" b="1">
                <a:solidFill>
                  <a:srgbClr val="FFFFFF"/>
                </a:solidFill>
                <a:latin typeface="Noto Sans KR"/>
                <a:ea typeface="Noto Sans KR"/>
                <a:cs typeface="Noto Sans KR"/>
              </a:rPr>
              <a:t>감사합니다</a:t>
            </a:r>
          </a:p>
        </p:txBody>
      </p:sp>
      <p:pic>
        <p:nvPicPr>
          <p:cNvPr id="20" name="사건 단계 재생 패널" descr="22-close-1.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05600" y="685800"/>
            <a:ext cx="4876800" cy="5486400"/>
          </a:xfrm>
          <a:prstGeom prst="rect">
            <a:avLst/>
          </a:prstGeom>
        </p:spPr>
      </p:pic>
      <p:sp>
        <p:nvSpPr>
          <p:cNvPr id="21" name="글 STAGE REPLAY"/>
          <p:cNvSpPr txBox="1"/>
          <p:nvPr/>
        </p:nvSpPr>
        <p:spPr>
          <a:xfrm>
            <a:off x="6949440" y="834542"/>
            <a:ext cx="790621" cy="148590"/>
          </a:xfrm>
          <a:prstGeom prst="rect">
            <a:avLst/>
          </a:prstGeom>
          <a:noFill/>
        </p:spPr>
        <p:txBody>
          <a:bodyPr wrap="none" anchor="t" lIns="0" rIns="0" tIns="0" bIns="0">
            <a:noAutofit/>
          </a:bodyPr>
          <a:lstStyle/>
          <a:p>
            <a:pPr algn="l" eaLnBrk="0" latinLnBrk="0"/>
            <a:r>
              <a:rPr sz="780" b="1">
                <a:solidFill>
                  <a:srgbClr val="F87171"/>
                </a:solidFill>
                <a:latin typeface="Noto Sans KR"/>
                <a:ea typeface="Noto Sans KR"/>
                <a:cs typeface="Noto Sans KR"/>
              </a:rPr>
              <a:t>STAGE REPLAY</a:t>
            </a:r>
          </a:p>
        </p:txBody>
      </p:sp>
      <p:sp>
        <p:nvSpPr>
          <p:cNvPr id="22" name="글 사건 단계 재생 · 2023 오송 궁평2지하"/>
          <p:cNvSpPr txBox="1"/>
          <p:nvPr/>
        </p:nvSpPr>
        <p:spPr>
          <a:xfrm>
            <a:off x="6949440" y="988162"/>
            <a:ext cx="2379939" cy="194310"/>
          </a:xfrm>
          <a:prstGeom prst="rect">
            <a:avLst/>
          </a:prstGeom>
          <a:noFill/>
        </p:spPr>
        <p:txBody>
          <a:bodyPr wrap="none" anchor="t" lIns="0" rIns="0" tIns="0" bIns="0">
            <a:noAutofit/>
          </a:bodyPr>
          <a:lstStyle/>
          <a:p>
            <a:pPr algn="l" eaLnBrk="0" latinLnBrk="0"/>
            <a:r>
              <a:rPr sz="1019" b="1">
                <a:solidFill>
                  <a:srgbClr val="E2E8F0"/>
                </a:solidFill>
                <a:latin typeface="Noto Sans KR"/>
                <a:ea typeface="Noto Sans KR"/>
                <a:cs typeface="Noto Sans KR"/>
              </a:rPr>
              <a:t>사건 단계 재생 · 2023 오송 궁평2지하차도</a:t>
            </a:r>
          </a:p>
        </p:txBody>
      </p:sp>
      <p:sp>
        <p:nvSpPr>
          <p:cNvPr id="23" name="글 OSONG · HAND"/>
          <p:cNvSpPr txBox="1"/>
          <p:nvPr/>
        </p:nvSpPr>
        <p:spPr>
          <a:xfrm>
            <a:off x="10599603" y="1024738"/>
            <a:ext cx="738957" cy="137160"/>
          </a:xfrm>
          <a:prstGeom prst="rect">
            <a:avLst/>
          </a:prstGeom>
          <a:noFill/>
        </p:spPr>
        <p:txBody>
          <a:bodyPr wrap="none" anchor="t" lIns="0" rIns="0" tIns="0" bIns="0">
            <a:noAutofit/>
          </a:bodyPr>
          <a:lstStyle/>
          <a:p>
            <a:pPr algn="r" eaLnBrk="0" latinLnBrk="0"/>
            <a:r>
              <a:rPr sz="719" b="0">
                <a:solidFill>
                  <a:srgbClr val="6F8197"/>
                </a:solidFill>
                <a:latin typeface="Noto Sans KR"/>
                <a:ea typeface="Noto Sans KR"/>
                <a:cs typeface="Noto Sans KR"/>
              </a:rPr>
              <a:t>OSONG · HAND</a:t>
            </a:r>
          </a:p>
        </p:txBody>
      </p:sp>
      <p:sp>
        <p:nvSpPr>
          <p:cNvPr id="24" name="글 궁평2지하차도"/>
          <p:cNvSpPr txBox="1"/>
          <p:nvPr/>
        </p:nvSpPr>
        <p:spPr>
          <a:xfrm>
            <a:off x="7537399" y="3188665"/>
            <a:ext cx="728015" cy="160020"/>
          </a:xfrm>
          <a:prstGeom prst="rect">
            <a:avLst/>
          </a:prstGeom>
          <a:noFill/>
        </p:spPr>
        <p:txBody>
          <a:bodyPr wrap="none" anchor="t" lIns="0" rIns="0" tIns="0" bIns="0">
            <a:noAutofit/>
          </a:bodyPr>
          <a:lstStyle/>
          <a:p>
            <a:pPr algn="r" eaLnBrk="0" latinLnBrk="0"/>
            <a:r>
              <a:rPr sz="840" b="1">
                <a:solidFill>
                  <a:srgbClr val="FFFFFF"/>
                </a:solidFill>
                <a:latin typeface="Noto Sans KR"/>
                <a:ea typeface="Noto Sans KR"/>
                <a:cs typeface="Noto Sans KR"/>
              </a:rPr>
              <a:t>궁평2지하차도</a:t>
            </a:r>
          </a:p>
        </p:txBody>
      </p:sp>
      <p:sp>
        <p:nvSpPr>
          <p:cNvPr id="25" name="글 미호강"/>
          <p:cNvSpPr txBox="1"/>
          <p:nvPr/>
        </p:nvSpPr>
        <p:spPr>
          <a:xfrm>
            <a:off x="10789920" y="1650187"/>
            <a:ext cx="370637" cy="160020"/>
          </a:xfrm>
          <a:prstGeom prst="rect">
            <a:avLst/>
          </a:prstGeom>
          <a:noFill/>
        </p:spPr>
        <p:txBody>
          <a:bodyPr wrap="none" anchor="t" lIns="0" rIns="0" tIns="0" bIns="0">
            <a:noAutofit/>
          </a:bodyPr>
          <a:lstStyle/>
          <a:p>
            <a:pPr algn="l" eaLnBrk="0" latinLnBrk="0"/>
            <a:r>
              <a:rPr sz="840" b="1">
                <a:solidFill>
                  <a:srgbClr val="7DD3FC"/>
                </a:solidFill>
                <a:latin typeface="Noto Sans KR"/>
                <a:ea typeface="Noto Sans KR"/>
                <a:cs typeface="Noto Sans KR"/>
              </a:rPr>
              <a:t>미호강</a:t>
            </a:r>
          </a:p>
        </p:txBody>
      </p:sp>
      <p:sp>
        <p:nvSpPr>
          <p:cNvPr id="26" name="글 04:10"/>
          <p:cNvSpPr txBox="1"/>
          <p:nvPr/>
        </p:nvSpPr>
        <p:spPr>
          <a:xfrm>
            <a:off x="70866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04:10</a:t>
            </a:r>
          </a:p>
        </p:txBody>
      </p:sp>
      <p:sp>
        <p:nvSpPr>
          <p:cNvPr id="27" name="글 06:40"/>
          <p:cNvSpPr txBox="1"/>
          <p:nvPr/>
        </p:nvSpPr>
        <p:spPr>
          <a:xfrm>
            <a:off x="79248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06:40</a:t>
            </a:r>
          </a:p>
        </p:txBody>
      </p:sp>
      <p:sp>
        <p:nvSpPr>
          <p:cNvPr id="28" name="글 07:50"/>
          <p:cNvSpPr txBox="1"/>
          <p:nvPr/>
        </p:nvSpPr>
        <p:spPr>
          <a:xfrm>
            <a:off x="90678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07:50</a:t>
            </a:r>
          </a:p>
        </p:txBody>
      </p:sp>
      <p:sp>
        <p:nvSpPr>
          <p:cNvPr id="29" name="글 08:09"/>
          <p:cNvSpPr txBox="1"/>
          <p:nvPr/>
        </p:nvSpPr>
        <p:spPr>
          <a:xfrm>
            <a:off x="9592742" y="5352898"/>
            <a:ext cx="321716" cy="137160"/>
          </a:xfrm>
          <a:prstGeom prst="rect">
            <a:avLst/>
          </a:prstGeom>
          <a:noFill/>
        </p:spPr>
        <p:txBody>
          <a:bodyPr wrap="none" anchor="t" lIns="0" rIns="0" tIns="0" bIns="0">
            <a:noAutofit/>
          </a:bodyPr>
          <a:lstStyle/>
          <a:p>
            <a:pPr algn="ctr" eaLnBrk="0" latinLnBrk="0"/>
            <a:r>
              <a:rPr sz="719" b="1">
                <a:solidFill>
                  <a:srgbClr val="F87171"/>
                </a:solidFill>
                <a:latin typeface="Noto Sans KR"/>
                <a:ea typeface="Noto Sans KR"/>
                <a:cs typeface="Noto Sans KR"/>
              </a:rPr>
              <a:t>08:09</a:t>
            </a:r>
          </a:p>
        </p:txBody>
      </p:sp>
      <p:sp>
        <p:nvSpPr>
          <p:cNvPr id="30" name="글 08:27"/>
          <p:cNvSpPr txBox="1"/>
          <p:nvPr/>
        </p:nvSpPr>
        <p:spPr>
          <a:xfrm>
            <a:off x="102108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08:27</a:t>
            </a:r>
          </a:p>
        </p:txBody>
      </p:sp>
      <p:sp>
        <p:nvSpPr>
          <p:cNvPr id="31" name="글 08:35"/>
          <p:cNvSpPr txBox="1"/>
          <p:nvPr/>
        </p:nvSpPr>
        <p:spPr>
          <a:xfrm>
            <a:off x="105156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08:35</a:t>
            </a:r>
          </a:p>
        </p:txBody>
      </p:sp>
      <p:sp>
        <p:nvSpPr>
          <p:cNvPr id="32" name="글 08:40"/>
          <p:cNvSpPr txBox="1"/>
          <p:nvPr/>
        </p:nvSpPr>
        <p:spPr>
          <a:xfrm>
            <a:off x="108966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08:40</a:t>
            </a:r>
          </a:p>
        </p:txBody>
      </p:sp>
      <p:sp>
        <p:nvSpPr>
          <p:cNvPr id="33" name="글 지하차도 유입 시작 · 08:27"/>
          <p:cNvSpPr txBox="1"/>
          <p:nvPr/>
        </p:nvSpPr>
        <p:spPr>
          <a:xfrm>
            <a:off x="7239000" y="4850587"/>
            <a:ext cx="1307821" cy="160020"/>
          </a:xfrm>
          <a:prstGeom prst="rect">
            <a:avLst/>
          </a:prstGeom>
          <a:noFill/>
        </p:spPr>
        <p:txBody>
          <a:bodyPr wrap="none" anchor="t" lIns="0" rIns="0" tIns="0" bIns="0">
            <a:noAutofit/>
          </a:bodyPr>
          <a:lstStyle/>
          <a:p>
            <a:pPr algn="l" eaLnBrk="0" latinLnBrk="0"/>
            <a:r>
              <a:rPr sz="840" b="1">
                <a:solidFill>
                  <a:srgbClr val="E2E8F0"/>
                </a:solidFill>
                <a:latin typeface="Noto Sans KR"/>
                <a:ea typeface="Noto Sans KR"/>
                <a:cs typeface="Noto Sans KR"/>
              </a:rPr>
              <a:t>지하차도 유입 시작 · 08:27</a:t>
            </a:r>
          </a:p>
        </p:txBody>
      </p:sp>
      <p:sp>
        <p:nvSpPr>
          <p:cNvPr id="34" name="글 완전 침수까지 13분"/>
          <p:cNvSpPr txBox="1"/>
          <p:nvPr/>
        </p:nvSpPr>
        <p:spPr>
          <a:xfrm>
            <a:off x="10111466" y="4850587"/>
            <a:ext cx="937534" cy="160020"/>
          </a:xfrm>
          <a:prstGeom prst="rect">
            <a:avLst/>
          </a:prstGeom>
          <a:noFill/>
        </p:spPr>
        <p:txBody>
          <a:bodyPr wrap="none" anchor="t" lIns="0" rIns="0" tIns="0" bIns="0">
            <a:noAutofit/>
          </a:bodyPr>
          <a:lstStyle/>
          <a:p>
            <a:pPr algn="r" eaLnBrk="0" latinLnBrk="0"/>
            <a:r>
              <a:rPr sz="840" b="1">
                <a:solidFill>
                  <a:srgbClr val="F87171"/>
                </a:solidFill>
                <a:latin typeface="Noto Sans KR"/>
                <a:ea typeface="Noto Sans KR"/>
                <a:cs typeface="Noto Sans KR"/>
              </a:rPr>
              <a:t>완전 침수까지 13분</a:t>
            </a:r>
          </a:p>
        </p:txBody>
      </p:sp>
      <p:sp>
        <p:nvSpPr>
          <p:cNvPr id="35" name="글 침수 추정 범위(HAND 근사)"/>
          <p:cNvSpPr txBox="1"/>
          <p:nvPr/>
        </p:nvSpPr>
        <p:spPr>
          <a:xfrm>
            <a:off x="7330440" y="5757062"/>
            <a:ext cx="1210932" cy="148590"/>
          </a:xfrm>
          <a:prstGeom prst="rect">
            <a:avLst/>
          </a:prstGeom>
          <a:noFill/>
        </p:spPr>
        <p:txBody>
          <a:bodyPr wrap="none" anchor="t" lIns="0" rIns="0" tIns="0" bIns="0">
            <a:noAutofit/>
          </a:bodyPr>
          <a:lstStyle/>
          <a:p>
            <a:pPr algn="l" eaLnBrk="0" latinLnBrk="0"/>
            <a:r>
              <a:rPr sz="780" b="0">
                <a:solidFill>
                  <a:srgbClr val="AEBBCB"/>
                </a:solidFill>
                <a:latin typeface="Noto Sans KR"/>
                <a:ea typeface="Noto Sans KR"/>
                <a:cs typeface="Noto Sans KR"/>
              </a:rPr>
              <a:t>침수 추정 범위(HAND 근사)</a:t>
            </a:r>
          </a:p>
        </p:txBody>
      </p:sp>
      <p:sp>
        <p:nvSpPr>
          <p:cNvPr id="36" name="글 관측 수위 기준 하천"/>
          <p:cNvSpPr txBox="1"/>
          <p:nvPr/>
        </p:nvSpPr>
        <p:spPr>
          <a:xfrm>
            <a:off x="8702040" y="5757062"/>
            <a:ext cx="871850" cy="148590"/>
          </a:xfrm>
          <a:prstGeom prst="rect">
            <a:avLst/>
          </a:prstGeom>
          <a:noFill/>
        </p:spPr>
        <p:txBody>
          <a:bodyPr wrap="none" anchor="t" lIns="0" rIns="0" tIns="0" bIns="0">
            <a:noAutofit/>
          </a:bodyPr>
          <a:lstStyle/>
          <a:p>
            <a:pPr algn="l" eaLnBrk="0" latinLnBrk="0"/>
            <a:r>
              <a:rPr sz="780" b="0">
                <a:solidFill>
                  <a:srgbClr val="AEBBCB"/>
                </a:solidFill>
                <a:latin typeface="Noto Sans KR"/>
                <a:ea typeface="Noto Sans KR"/>
                <a:cs typeface="Noto Sans KR"/>
              </a:rPr>
              <a:t>관측 수위 기준 하천</a:t>
            </a:r>
          </a:p>
        </p:txBody>
      </p:sp>
      <p:sp>
        <p:nvSpPr>
          <p:cNvPr id="37" name="글 통제 판단 지점"/>
          <p:cNvSpPr txBox="1"/>
          <p:nvPr/>
        </p:nvSpPr>
        <p:spPr>
          <a:xfrm>
            <a:off x="9814560" y="5757062"/>
            <a:ext cx="667390" cy="148590"/>
          </a:xfrm>
          <a:prstGeom prst="rect">
            <a:avLst/>
          </a:prstGeom>
          <a:noFill/>
        </p:spPr>
        <p:txBody>
          <a:bodyPr wrap="none" anchor="t" lIns="0" rIns="0" tIns="0" bIns="0">
            <a:noAutofit/>
          </a:bodyPr>
          <a:lstStyle/>
          <a:p>
            <a:pPr algn="l" eaLnBrk="0" latinLnBrk="0"/>
            <a:r>
              <a:rPr sz="780" b="0">
                <a:solidFill>
                  <a:srgbClr val="AEBBCB"/>
                </a:solidFill>
                <a:latin typeface="Noto Sans KR"/>
                <a:ea typeface="Noto Sans KR"/>
                <a:cs typeface="Noto Sans KR"/>
              </a:rPr>
              <a:t>통제 판단 지점</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23"/>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23</a:t>
            </a:r>
          </a:p>
        </p:txBody>
      </p:sp>
      <p:sp>
        <p:nvSpPr>
          <p:cNvPr id="3" name="글 부록"/>
          <p:cNvSpPr txBox="1"/>
          <p:nvPr/>
        </p:nvSpPr>
        <p:spPr>
          <a:xfrm>
            <a:off x="896112" y="509016"/>
            <a:ext cx="356616"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부록</a:t>
            </a:r>
          </a:p>
        </p:txBody>
      </p:sp>
      <p:sp>
        <p:nvSpPr>
          <p:cNvPr id="4" name="글 활용 데이터 9종과 이용 조건"/>
          <p:cNvSpPr txBox="1"/>
          <p:nvPr/>
        </p:nvSpPr>
        <p:spPr>
          <a:xfrm>
            <a:off x="609600" y="853440"/>
            <a:ext cx="4502658"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활용 데이터 9종과 이용 조건</a:t>
            </a:r>
          </a:p>
        </p:txBody>
      </p:sp>
      <p:sp>
        <p:nvSpPr>
          <p:cNvPr id="5" name="글 모두 공개자료 · 출처·시점·SHA-256은"/>
          <p:cNvSpPr txBox="1"/>
          <p:nvPr/>
        </p:nvSpPr>
        <p:spPr>
          <a:xfrm>
            <a:off x="609600" y="1409395"/>
            <a:ext cx="6426525"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모두 공개자료 · 출처·시점·SHA-256은 data/manifests/source-availability.yml</a:t>
            </a:r>
          </a:p>
        </p:txBody>
      </p:sp>
      <p:sp>
        <p:nvSpPr>
          <p:cNvPr id="6" name="글 데이터"/>
          <p:cNvSpPr txBox="1"/>
          <p:nvPr/>
        </p:nvSpPr>
        <p:spPr>
          <a:xfrm>
            <a:off x="990600" y="1895246"/>
            <a:ext cx="454762"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데이터</a:t>
            </a:r>
          </a:p>
        </p:txBody>
      </p:sp>
      <p:sp>
        <p:nvSpPr>
          <p:cNvPr id="7" name="글 제공기관"/>
          <p:cNvSpPr txBox="1"/>
          <p:nvPr/>
        </p:nvSpPr>
        <p:spPr>
          <a:xfrm>
            <a:off x="4267200" y="1895246"/>
            <a:ext cx="580949"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제공기관</a:t>
            </a:r>
          </a:p>
        </p:txBody>
      </p:sp>
      <p:sp>
        <p:nvSpPr>
          <p:cNvPr id="8" name="글 자료 시점"/>
          <p:cNvSpPr txBox="1"/>
          <p:nvPr/>
        </p:nvSpPr>
        <p:spPr>
          <a:xfrm>
            <a:off x="6553200" y="1895246"/>
            <a:ext cx="612084"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자료 시점</a:t>
            </a:r>
          </a:p>
        </p:txBody>
      </p:sp>
      <p:sp>
        <p:nvSpPr>
          <p:cNvPr id="9" name="글 쓰임 · 조건"/>
          <p:cNvSpPr txBox="1"/>
          <p:nvPr/>
        </p:nvSpPr>
        <p:spPr>
          <a:xfrm>
            <a:off x="8229600" y="1895246"/>
            <a:ext cx="724418"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쓰임 · 조건</a:t>
            </a:r>
          </a:p>
        </p:txBody>
      </p:sp>
      <p:cxnSp>
        <p:nvCxnSpPr>
          <p:cNvPr id="10" name="Connector 9"/>
          <p:cNvCxnSpPr/>
          <p:nvPr/>
        </p:nvCxnSpPr>
        <p:spPr>
          <a:xfrm>
            <a:off x="609600" y="2148840"/>
            <a:ext cx="10972800" cy="0"/>
          </a:xfrm>
          <a:prstGeom prst="line">
            <a:avLst/>
          </a:prstGeom>
          <a:ln w="11430">
            <a:solidFill>
              <a:srgbClr val="0F1E2E"/>
            </a:solidFill>
          </a:ln>
        </p:spPr>
      </p:cxnSp>
      <p:sp>
        <p:nvSpPr>
          <p:cNvPr id="11" name="Rounded Rectangle 10"/>
          <p:cNvSpPr/>
          <p:nvPr/>
        </p:nvSpPr>
        <p:spPr>
          <a:xfrm>
            <a:off x="548640" y="2209800"/>
            <a:ext cx="11094720" cy="457200"/>
          </a:xfrm>
          <a:prstGeom prst="roundRect">
            <a:avLst>
              <a:gd name="adj" fmla="val 10000"/>
            </a:avLst>
          </a:prstGeom>
          <a:solidFill>
            <a:srgbClr val="F2F5F8"/>
          </a:solidFill>
          <a:ln>
            <a:noFill/>
          </a:ln>
        </p:spPr>
        <p:txBody>
          <a:bodyPr rtlCol="0" anchor="ctr"/>
          <a:lstStyle/>
          <a:p>
            <a:pPr algn="ctr"/>
          </a:p>
        </p:txBody>
      </p:sp>
      <p:sp>
        <p:nvSpPr>
          <p:cNvPr id="12" name="글 1"/>
          <p:cNvSpPr txBox="1"/>
          <p:nvPr/>
        </p:nvSpPr>
        <p:spPr>
          <a:xfrm>
            <a:off x="609600" y="23451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1</a:t>
            </a:r>
          </a:p>
        </p:txBody>
      </p:sp>
      <p:sp>
        <p:nvSpPr>
          <p:cNvPr id="13" name="글 AWS 강우 10분 (오송)"/>
          <p:cNvSpPr txBox="1"/>
          <p:nvPr/>
        </p:nvSpPr>
        <p:spPr>
          <a:xfrm>
            <a:off x="990600" y="2345131"/>
            <a:ext cx="1436698"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AWS 강우 10분 (오송)</a:t>
            </a:r>
          </a:p>
        </p:txBody>
      </p:sp>
      <p:sp>
        <p:nvSpPr>
          <p:cNvPr id="14" name="글 기상청"/>
          <p:cNvSpPr txBox="1"/>
          <p:nvPr/>
        </p:nvSpPr>
        <p:spPr>
          <a:xfrm>
            <a:off x="4267200" y="2345131"/>
            <a:ext cx="475793"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기상청</a:t>
            </a:r>
          </a:p>
        </p:txBody>
      </p:sp>
      <p:sp>
        <p:nvSpPr>
          <p:cNvPr id="15" name="글 2023-07-14~17"/>
          <p:cNvSpPr txBox="1"/>
          <p:nvPr/>
        </p:nvSpPr>
        <p:spPr>
          <a:xfrm>
            <a:off x="6553200" y="2345131"/>
            <a:ext cx="106055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2023-07-14~17</a:t>
            </a:r>
          </a:p>
        </p:txBody>
      </p:sp>
      <p:sp>
        <p:nvSpPr>
          <p:cNvPr id="16" name="글 관측 입력 · 공공누리"/>
          <p:cNvSpPr txBox="1"/>
          <p:nvPr/>
        </p:nvSpPr>
        <p:spPr>
          <a:xfrm>
            <a:off x="8229600" y="2345131"/>
            <a:ext cx="132029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관측 입력 · 공공누리</a:t>
            </a:r>
          </a:p>
        </p:txBody>
      </p:sp>
      <p:sp>
        <p:nvSpPr>
          <p:cNvPr id="17" name="글 2"/>
          <p:cNvSpPr txBox="1"/>
          <p:nvPr/>
        </p:nvSpPr>
        <p:spPr>
          <a:xfrm>
            <a:off x="609600" y="28023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2</a:t>
            </a:r>
          </a:p>
        </p:txBody>
      </p:sp>
      <p:sp>
        <p:nvSpPr>
          <p:cNvPr id="18" name="글 미호강교 수위 10분"/>
          <p:cNvSpPr txBox="1"/>
          <p:nvPr/>
        </p:nvSpPr>
        <p:spPr>
          <a:xfrm>
            <a:off x="990600" y="2802331"/>
            <a:ext cx="1245154"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미호강교 수위 10분</a:t>
            </a:r>
          </a:p>
        </p:txBody>
      </p:sp>
      <p:sp>
        <p:nvSpPr>
          <p:cNvPr id="19" name="글 한강홍수통제소 Open API"/>
          <p:cNvSpPr txBox="1"/>
          <p:nvPr/>
        </p:nvSpPr>
        <p:spPr>
          <a:xfrm>
            <a:off x="4267200" y="2802331"/>
            <a:ext cx="166125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한강홍수통제소 Open API</a:t>
            </a:r>
          </a:p>
        </p:txBody>
      </p:sp>
      <p:sp>
        <p:nvSpPr>
          <p:cNvPr id="20" name="글 2023-07-14~17"/>
          <p:cNvSpPr txBox="1"/>
          <p:nvPr/>
        </p:nvSpPr>
        <p:spPr>
          <a:xfrm>
            <a:off x="6553200" y="2802331"/>
            <a:ext cx="106055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2023-07-14~17</a:t>
            </a:r>
          </a:p>
        </p:txBody>
      </p:sp>
      <p:sp>
        <p:nvSpPr>
          <p:cNvPr id="21" name="글 HAND 임계 · 상대 상승분만"/>
          <p:cNvSpPr txBox="1"/>
          <p:nvPr/>
        </p:nvSpPr>
        <p:spPr>
          <a:xfrm>
            <a:off x="8229600" y="2802331"/>
            <a:ext cx="175043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HAND 임계 · 상대 상승분만</a:t>
            </a:r>
          </a:p>
        </p:txBody>
      </p:sp>
      <p:sp>
        <p:nvSpPr>
          <p:cNvPr id="22" name="Rounded Rectangle 21"/>
          <p:cNvSpPr/>
          <p:nvPr/>
        </p:nvSpPr>
        <p:spPr>
          <a:xfrm>
            <a:off x="548640" y="3124200"/>
            <a:ext cx="11094720" cy="457200"/>
          </a:xfrm>
          <a:prstGeom prst="roundRect">
            <a:avLst>
              <a:gd name="adj" fmla="val 10000"/>
            </a:avLst>
          </a:prstGeom>
          <a:solidFill>
            <a:srgbClr val="F2F5F8"/>
          </a:solidFill>
          <a:ln>
            <a:noFill/>
          </a:ln>
        </p:spPr>
        <p:txBody>
          <a:bodyPr rtlCol="0" anchor="ctr"/>
          <a:lstStyle/>
          <a:p>
            <a:pPr algn="ctr"/>
          </a:p>
        </p:txBody>
      </p:sp>
      <p:sp>
        <p:nvSpPr>
          <p:cNvPr id="23" name="글 3"/>
          <p:cNvSpPr txBox="1"/>
          <p:nvPr/>
        </p:nvSpPr>
        <p:spPr>
          <a:xfrm>
            <a:off x="609600" y="32595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3</a:t>
            </a:r>
          </a:p>
        </p:txBody>
      </p:sp>
      <p:sp>
        <p:nvSpPr>
          <p:cNvPr id="24" name="글 하천망"/>
          <p:cNvSpPr txBox="1"/>
          <p:nvPr/>
        </p:nvSpPr>
        <p:spPr>
          <a:xfrm>
            <a:off x="990600" y="3259531"/>
            <a:ext cx="475793"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하천망</a:t>
            </a:r>
          </a:p>
        </p:txBody>
      </p:sp>
      <p:sp>
        <p:nvSpPr>
          <p:cNvPr id="25" name="글 WAMIS(국가수자원관리)"/>
          <p:cNvSpPr txBox="1"/>
          <p:nvPr/>
        </p:nvSpPr>
        <p:spPr>
          <a:xfrm>
            <a:off x="4267200" y="3259531"/>
            <a:ext cx="156786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WAMIS(국가수자원관리)</a:t>
            </a:r>
          </a:p>
        </p:txBody>
      </p:sp>
      <p:sp>
        <p:nvSpPr>
          <p:cNvPr id="26" name="글 2023 조회"/>
          <p:cNvSpPr txBox="1"/>
          <p:nvPr/>
        </p:nvSpPr>
        <p:spPr>
          <a:xfrm>
            <a:off x="6553200" y="3259531"/>
            <a:ext cx="69643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2023 조회</a:t>
            </a:r>
          </a:p>
        </p:txBody>
      </p:sp>
      <p:sp>
        <p:nvSpPr>
          <p:cNvPr id="27" name="글 배수·연결 조건"/>
          <p:cNvSpPr txBox="1"/>
          <p:nvPr/>
        </p:nvSpPr>
        <p:spPr>
          <a:xfrm>
            <a:off x="8229600" y="3259531"/>
            <a:ext cx="98903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배수·연결 조건</a:t>
            </a:r>
          </a:p>
        </p:txBody>
      </p:sp>
      <p:sp>
        <p:nvSpPr>
          <p:cNvPr id="28" name="글 4"/>
          <p:cNvSpPr txBox="1"/>
          <p:nvPr/>
        </p:nvSpPr>
        <p:spPr>
          <a:xfrm>
            <a:off x="609600" y="37167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4</a:t>
            </a:r>
          </a:p>
        </p:txBody>
      </p:sp>
      <p:sp>
        <p:nvSpPr>
          <p:cNvPr id="29" name="글 행정경계"/>
          <p:cNvSpPr txBox="1"/>
          <p:nvPr/>
        </p:nvSpPr>
        <p:spPr>
          <a:xfrm>
            <a:off x="990600" y="3716731"/>
            <a:ext cx="608990"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행정경계</a:t>
            </a:r>
          </a:p>
        </p:txBody>
      </p:sp>
      <p:sp>
        <p:nvSpPr>
          <p:cNvPr id="30" name="글 SGIS(국가데이터처)"/>
          <p:cNvSpPr txBox="1"/>
          <p:nvPr/>
        </p:nvSpPr>
        <p:spPr>
          <a:xfrm>
            <a:off x="4267200" y="3716731"/>
            <a:ext cx="128800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SGIS(국가데이터처)</a:t>
            </a:r>
          </a:p>
        </p:txBody>
      </p:sp>
      <p:sp>
        <p:nvSpPr>
          <p:cNvPr id="31" name="글 2023"/>
          <p:cNvSpPr txBox="1"/>
          <p:nvPr/>
        </p:nvSpPr>
        <p:spPr>
          <a:xfrm>
            <a:off x="6553200" y="3716731"/>
            <a:ext cx="397612"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2023</a:t>
            </a:r>
          </a:p>
        </p:txBody>
      </p:sp>
      <p:sp>
        <p:nvSpPr>
          <p:cNvPr id="32" name="글 분석 범위"/>
          <p:cNvSpPr txBox="1"/>
          <p:nvPr/>
        </p:nvSpPr>
        <p:spPr>
          <a:xfrm>
            <a:off x="8229600" y="3716731"/>
            <a:ext cx="64142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분석 범위</a:t>
            </a:r>
          </a:p>
        </p:txBody>
      </p:sp>
      <p:sp>
        <p:nvSpPr>
          <p:cNvPr id="33" name="Rounded Rectangle 32"/>
          <p:cNvSpPr/>
          <p:nvPr/>
        </p:nvSpPr>
        <p:spPr>
          <a:xfrm>
            <a:off x="548640" y="4038600"/>
            <a:ext cx="11094720" cy="457200"/>
          </a:xfrm>
          <a:prstGeom prst="roundRect">
            <a:avLst>
              <a:gd name="adj" fmla="val 10000"/>
            </a:avLst>
          </a:prstGeom>
          <a:solidFill>
            <a:srgbClr val="F2F5F8"/>
          </a:solidFill>
          <a:ln>
            <a:noFill/>
          </a:ln>
        </p:spPr>
        <p:txBody>
          <a:bodyPr rtlCol="0" anchor="ctr"/>
          <a:lstStyle/>
          <a:p>
            <a:pPr algn="ctr"/>
          </a:p>
        </p:txBody>
      </p:sp>
      <p:sp>
        <p:nvSpPr>
          <p:cNvPr id="34" name="글 5"/>
          <p:cNvSpPr txBox="1"/>
          <p:nvPr/>
        </p:nvSpPr>
        <p:spPr>
          <a:xfrm>
            <a:off x="609600" y="41739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5</a:t>
            </a:r>
          </a:p>
        </p:txBody>
      </p:sp>
      <p:sp>
        <p:nvSpPr>
          <p:cNvPr id="35" name="글 Copernicus DEM GLO-30"/>
          <p:cNvSpPr txBox="1"/>
          <p:nvPr/>
        </p:nvSpPr>
        <p:spPr>
          <a:xfrm>
            <a:off x="990600" y="4173931"/>
            <a:ext cx="1784459"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Copernicus DEM GLO-30</a:t>
            </a:r>
          </a:p>
        </p:txBody>
      </p:sp>
      <p:sp>
        <p:nvSpPr>
          <p:cNvPr id="36" name="글 ESA · AWS Open Data"/>
          <p:cNvSpPr txBox="1"/>
          <p:nvPr/>
        </p:nvSpPr>
        <p:spPr>
          <a:xfrm>
            <a:off x="4267200" y="4173931"/>
            <a:ext cx="1531094"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ESA · AWS Open Data</a:t>
            </a:r>
          </a:p>
        </p:txBody>
      </p:sp>
      <p:sp>
        <p:nvSpPr>
          <p:cNvPr id="37" name="글 2021 release"/>
          <p:cNvSpPr txBox="1"/>
          <p:nvPr/>
        </p:nvSpPr>
        <p:spPr>
          <a:xfrm>
            <a:off x="6553200" y="4173931"/>
            <a:ext cx="917227"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2021 release</a:t>
            </a:r>
          </a:p>
        </p:txBody>
      </p:sp>
      <p:sp>
        <p:nvSpPr>
          <p:cNvPr id="38" name="글 격자 지형 · 4개 타일 · 2026-10 "/>
          <p:cNvSpPr txBox="1"/>
          <p:nvPr/>
        </p:nvSpPr>
        <p:spPr>
          <a:xfrm>
            <a:off x="8229600" y="4173931"/>
            <a:ext cx="227714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격자 지형 · 4개 타일 · 2026-10 취득</a:t>
            </a:r>
          </a:p>
        </p:txBody>
      </p:sp>
      <p:sp>
        <p:nvSpPr>
          <p:cNvPr id="39" name="글 6"/>
          <p:cNvSpPr txBox="1"/>
          <p:nvPr/>
        </p:nvSpPr>
        <p:spPr>
          <a:xfrm>
            <a:off x="609600" y="46311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6</a:t>
            </a:r>
          </a:p>
        </p:txBody>
      </p:sp>
      <p:sp>
        <p:nvSpPr>
          <p:cNvPr id="40" name="글 GIS건물통합정보"/>
          <p:cNvSpPr txBox="1"/>
          <p:nvPr/>
        </p:nvSpPr>
        <p:spPr>
          <a:xfrm>
            <a:off x="990600" y="4631131"/>
            <a:ext cx="1117313"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GIS건물통합정보</a:t>
            </a:r>
          </a:p>
        </p:txBody>
      </p:sp>
      <p:sp>
        <p:nvSpPr>
          <p:cNvPr id="41" name="글 국토교통부"/>
          <p:cNvSpPr txBox="1"/>
          <p:nvPr/>
        </p:nvSpPr>
        <p:spPr>
          <a:xfrm>
            <a:off x="4267200" y="4631131"/>
            <a:ext cx="74218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국토교통부</a:t>
            </a:r>
          </a:p>
        </p:txBody>
      </p:sp>
      <p:sp>
        <p:nvSpPr>
          <p:cNvPr id="42" name="글 2023-07 · 2026-08-09"/>
          <p:cNvSpPr txBox="1"/>
          <p:nvPr/>
        </p:nvSpPr>
        <p:spPr>
          <a:xfrm>
            <a:off x="6553200" y="4631131"/>
            <a:ext cx="1497940"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2023-07 · 2026-08-09</a:t>
            </a:r>
          </a:p>
        </p:txBody>
      </p:sp>
      <p:sp>
        <p:nvSpPr>
          <p:cNvPr id="43" name="글 건물 재고 · 이용허락 제한 없음"/>
          <p:cNvSpPr txBox="1"/>
          <p:nvPr/>
        </p:nvSpPr>
        <p:spPr>
          <a:xfrm>
            <a:off x="8229600" y="4631131"/>
            <a:ext cx="191794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건물 재고 · 이용허락 제한 없음</a:t>
            </a:r>
          </a:p>
        </p:txBody>
      </p:sp>
      <p:sp>
        <p:nvSpPr>
          <p:cNvPr id="44" name="Rounded Rectangle 43"/>
          <p:cNvSpPr/>
          <p:nvPr/>
        </p:nvSpPr>
        <p:spPr>
          <a:xfrm>
            <a:off x="548640" y="4953000"/>
            <a:ext cx="11094720" cy="457200"/>
          </a:xfrm>
          <a:prstGeom prst="roundRect">
            <a:avLst>
              <a:gd name="adj" fmla="val 10000"/>
            </a:avLst>
          </a:prstGeom>
          <a:solidFill>
            <a:srgbClr val="F2F5F8"/>
          </a:solidFill>
          <a:ln>
            <a:noFill/>
          </a:ln>
        </p:spPr>
        <p:txBody>
          <a:bodyPr rtlCol="0" anchor="ctr"/>
          <a:lstStyle/>
          <a:p>
            <a:pPr algn="ctr"/>
          </a:p>
        </p:txBody>
      </p:sp>
      <p:sp>
        <p:nvSpPr>
          <p:cNvPr id="45" name="글 7"/>
          <p:cNvSpPr txBox="1"/>
          <p:nvPr/>
        </p:nvSpPr>
        <p:spPr>
          <a:xfrm>
            <a:off x="609600" y="50883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7</a:t>
            </a:r>
          </a:p>
        </p:txBody>
      </p:sp>
      <p:sp>
        <p:nvSpPr>
          <p:cNvPr id="46" name="글 OpenStreetMap attic"/>
          <p:cNvSpPr txBox="1"/>
          <p:nvPr/>
        </p:nvSpPr>
        <p:spPr>
          <a:xfrm>
            <a:off x="990600" y="5088331"/>
            <a:ext cx="1564538"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OpenStreetMap attic</a:t>
            </a:r>
          </a:p>
        </p:txBody>
      </p:sp>
      <p:sp>
        <p:nvSpPr>
          <p:cNvPr id="47" name="글 OSM contributors"/>
          <p:cNvSpPr txBox="1"/>
          <p:nvPr/>
        </p:nvSpPr>
        <p:spPr>
          <a:xfrm>
            <a:off x="4267200" y="5088331"/>
            <a:ext cx="126397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OSM contributors</a:t>
            </a:r>
          </a:p>
        </p:txBody>
      </p:sp>
      <p:sp>
        <p:nvSpPr>
          <p:cNvPr id="48" name="글 사건일 스냅샷"/>
          <p:cNvSpPr txBox="1"/>
          <p:nvPr/>
        </p:nvSpPr>
        <p:spPr>
          <a:xfrm>
            <a:off x="6553200" y="5088331"/>
            <a:ext cx="90781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사건일 스냅샷</a:t>
            </a:r>
          </a:p>
        </p:txBody>
      </p:sp>
      <p:sp>
        <p:nvSpPr>
          <p:cNvPr id="49" name="글 도로·하천·시설 · ODbL"/>
          <p:cNvSpPr txBox="1"/>
          <p:nvPr/>
        </p:nvSpPr>
        <p:spPr>
          <a:xfrm>
            <a:off x="8229600" y="5088331"/>
            <a:ext cx="1559037"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도로·하천·시설 · ODbL</a:t>
            </a:r>
          </a:p>
        </p:txBody>
      </p:sp>
      <p:sp>
        <p:nvSpPr>
          <p:cNvPr id="50" name="글 8"/>
          <p:cNvSpPr txBox="1"/>
          <p:nvPr/>
        </p:nvSpPr>
        <p:spPr>
          <a:xfrm>
            <a:off x="609600" y="55455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8</a:t>
            </a:r>
          </a:p>
        </p:txBody>
      </p:sp>
      <p:sp>
        <p:nvSpPr>
          <p:cNvPr id="51" name="글 침수흔적도 · 강우량 10분"/>
          <p:cNvSpPr txBox="1"/>
          <p:nvPr/>
        </p:nvSpPr>
        <p:spPr>
          <a:xfrm>
            <a:off x="990600" y="5545531"/>
            <a:ext cx="1630124"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침수흔적도 · 강우량 10분</a:t>
            </a:r>
          </a:p>
        </p:txBody>
      </p:sp>
      <p:sp>
        <p:nvSpPr>
          <p:cNvPr id="52" name="글 서울특별시"/>
          <p:cNvSpPr txBox="1"/>
          <p:nvPr/>
        </p:nvSpPr>
        <p:spPr>
          <a:xfrm>
            <a:off x="4267200" y="5545531"/>
            <a:ext cx="74218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서울특별시</a:t>
            </a:r>
          </a:p>
        </p:txBody>
      </p:sp>
      <p:sp>
        <p:nvSpPr>
          <p:cNvPr id="53" name="글 2022"/>
          <p:cNvSpPr txBox="1"/>
          <p:nvPr/>
        </p:nvSpPr>
        <p:spPr>
          <a:xfrm>
            <a:off x="6553200" y="5545531"/>
            <a:ext cx="397612"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2022</a:t>
            </a:r>
          </a:p>
        </p:txBody>
      </p:sp>
      <p:sp>
        <p:nvSpPr>
          <p:cNvPr id="54" name="글 관측 침수 · 공공누리 제1유형"/>
          <p:cNvSpPr txBox="1"/>
          <p:nvPr/>
        </p:nvSpPr>
        <p:spPr>
          <a:xfrm>
            <a:off x="8229600" y="5545531"/>
            <a:ext cx="183267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관측 침수 · 공공누리 제1유형</a:t>
            </a:r>
          </a:p>
        </p:txBody>
      </p:sp>
      <p:sp>
        <p:nvSpPr>
          <p:cNvPr id="55" name="Rounded Rectangle 54"/>
          <p:cNvSpPr/>
          <p:nvPr/>
        </p:nvSpPr>
        <p:spPr>
          <a:xfrm>
            <a:off x="548640" y="5867400"/>
            <a:ext cx="11094720" cy="457200"/>
          </a:xfrm>
          <a:prstGeom prst="roundRect">
            <a:avLst>
              <a:gd name="adj" fmla="val 10000"/>
            </a:avLst>
          </a:prstGeom>
          <a:solidFill>
            <a:srgbClr val="F2F5F8"/>
          </a:solidFill>
          <a:ln>
            <a:noFill/>
          </a:ln>
        </p:spPr>
        <p:txBody>
          <a:bodyPr rtlCol="0" anchor="ctr"/>
          <a:lstStyle/>
          <a:p>
            <a:pPr algn="ctr"/>
          </a:p>
        </p:txBody>
      </p:sp>
      <p:sp>
        <p:nvSpPr>
          <p:cNvPr id="56" name="글 9"/>
          <p:cNvSpPr txBox="1"/>
          <p:nvPr/>
        </p:nvSpPr>
        <p:spPr>
          <a:xfrm>
            <a:off x="609600" y="60027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9</a:t>
            </a:r>
          </a:p>
        </p:txBody>
      </p:sp>
      <p:sp>
        <p:nvSpPr>
          <p:cNvPr id="57" name="글 침수흔적 WMS"/>
          <p:cNvSpPr txBox="1"/>
          <p:nvPr/>
        </p:nvSpPr>
        <p:spPr>
          <a:xfrm>
            <a:off x="990600" y="6002731"/>
            <a:ext cx="988169"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침수흔적 WMS</a:t>
            </a:r>
          </a:p>
        </p:txBody>
      </p:sp>
      <p:sp>
        <p:nvSpPr>
          <p:cNvPr id="58" name="글 행안부 생활안전지도"/>
          <p:cNvSpPr txBox="1"/>
          <p:nvPr/>
        </p:nvSpPr>
        <p:spPr>
          <a:xfrm>
            <a:off x="4267200" y="6002731"/>
            <a:ext cx="130740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행안부 생활안전지도</a:t>
            </a:r>
          </a:p>
        </p:txBody>
      </p:sp>
      <p:sp>
        <p:nvSpPr>
          <p:cNvPr id="59" name="글 2023 조회"/>
          <p:cNvSpPr txBox="1"/>
          <p:nvPr/>
        </p:nvSpPr>
        <p:spPr>
          <a:xfrm>
            <a:off x="6553200" y="6002731"/>
            <a:ext cx="69643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2023 조회</a:t>
            </a:r>
          </a:p>
        </p:txBody>
      </p:sp>
      <p:sp>
        <p:nvSpPr>
          <p:cNvPr id="60" name="글 래스터 참고 · 벡터 범위 아님"/>
          <p:cNvSpPr txBox="1"/>
          <p:nvPr/>
        </p:nvSpPr>
        <p:spPr>
          <a:xfrm>
            <a:off x="8229600" y="6002731"/>
            <a:ext cx="178474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래스터 참고 · 벡터 범위 아님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24"/>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24</a:t>
            </a:r>
          </a:p>
        </p:txBody>
      </p:sp>
      <p:sp>
        <p:nvSpPr>
          <p:cNvPr id="3" name="글 부록"/>
          <p:cNvSpPr txBox="1"/>
          <p:nvPr/>
        </p:nvSpPr>
        <p:spPr>
          <a:xfrm>
            <a:off x="896112" y="509016"/>
            <a:ext cx="356616"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부록</a:t>
            </a:r>
          </a:p>
        </p:txBody>
      </p:sp>
      <p:sp>
        <p:nvSpPr>
          <p:cNvPr id="4" name="글 출처"/>
          <p:cNvSpPr txBox="1"/>
          <p:nvPr/>
        </p:nvSpPr>
        <p:spPr>
          <a:xfrm>
            <a:off x="609600" y="853440"/>
            <a:ext cx="777240"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출처</a:t>
            </a:r>
          </a:p>
        </p:txBody>
      </p:sp>
      <p:sp>
        <p:nvSpPr>
          <p:cNvPr id="5" name="글 장 번호별 자료·화면 기준"/>
          <p:cNvSpPr txBox="1"/>
          <p:nvPr/>
        </p:nvSpPr>
        <p:spPr>
          <a:xfrm>
            <a:off x="609600" y="1409395"/>
            <a:ext cx="1984187"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장 번호별 자료·화면 기준</a:t>
            </a:r>
          </a:p>
        </p:txBody>
      </p:sp>
      <p:sp>
        <p:nvSpPr>
          <p:cNvPr id="6" name="글 01"/>
          <p:cNvSpPr txBox="1"/>
          <p:nvPr/>
        </p:nvSpPr>
        <p:spPr>
          <a:xfrm>
            <a:off x="609600" y="2001317"/>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01</a:t>
            </a:r>
          </a:p>
        </p:txBody>
      </p:sp>
      <p:sp>
        <p:nvSpPr>
          <p:cNvPr id="7" name="글 표지·정리 그림: 사건 단계 재생 패널(자체"/>
          <p:cNvSpPr txBox="1"/>
          <p:nvPr/>
        </p:nvSpPr>
        <p:spPr>
          <a:xfrm>
            <a:off x="868680" y="1970837"/>
            <a:ext cx="5374843" cy="213360"/>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표지·정리 그림: 사건 단계 재생 패널(자체 제작 도식) · 시각은 오송 재구성 타임라인</a:t>
            </a:r>
          </a:p>
        </p:txBody>
      </p:sp>
      <p:sp>
        <p:nvSpPr>
          <p:cNvPr id="8" name="글 03"/>
          <p:cNvSpPr txBox="1"/>
          <p:nvPr/>
        </p:nvSpPr>
        <p:spPr>
          <a:xfrm>
            <a:off x="609600" y="2269541"/>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03</a:t>
            </a:r>
          </a:p>
        </p:txBody>
      </p:sp>
      <p:sp>
        <p:nvSpPr>
          <p:cNvPr id="9" name="글 오송 사건 시각은 국무조정실 감찰 결과 발표"/>
          <p:cNvSpPr txBox="1"/>
          <p:nvPr/>
        </p:nvSpPr>
        <p:spPr>
          <a:xfrm>
            <a:off x="868680" y="2239061"/>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오송 사건 시각은 국무조정실 감찰 결과 발표(2023-07-28)와 사건 재구성 타임라인(출처 쪽수 확인</a:t>
            </a:r>
            <a:br/>
            <a:r>
              <a:rPr sz="960" b="0">
                <a:solidFill>
                  <a:srgbClr val="566676"/>
                </a:solidFill>
                <a:latin typeface="Noto Sans KR"/>
                <a:ea typeface="Noto Sans KR"/>
                <a:cs typeface="Noto Sans KR"/>
              </a:rPr>
              <a:t>필요) · 사망자 수는 국무조정실·소방 발표 보도 · 서울·포항은 언론 보도</a:t>
            </a:r>
          </a:p>
        </p:txBody>
      </p:sp>
      <p:sp>
        <p:nvSpPr>
          <p:cNvPr id="10" name="글 04"/>
          <p:cNvSpPr txBox="1"/>
          <p:nvPr/>
        </p:nvSpPr>
        <p:spPr>
          <a:xfrm>
            <a:off x="609600" y="2714549"/>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04</a:t>
            </a:r>
          </a:p>
        </p:txBody>
      </p:sp>
      <p:sp>
        <p:nvSpPr>
          <p:cNvPr id="11" name="글 06:40은 국무조정실 감찰 결과 발표(보관"/>
          <p:cNvSpPr txBox="1"/>
          <p:nvPr/>
        </p:nvSpPr>
        <p:spPr>
          <a:xfrm>
            <a:off x="868680" y="2684069"/>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06:40은 국무조정실 감찰 결과 발표(보관된 홍수통제소 10분 자료로는 06:50 계획홍수위 EL 29.023</a:t>
            </a:r>
            <a:br/>
            <a:r>
              <a:rPr sz="960" b="0">
                <a:solidFill>
                  <a:srgbClr val="566676"/>
                </a:solidFill>
                <a:latin typeface="Noto Sans KR"/>
                <a:ea typeface="Noto Sans KR"/>
                <a:cs typeface="Noto Sans KR"/>
              </a:rPr>
              <a:t>m, DQ-009) · 나머지는 사건 재구성 타임라인으로 원문 쪽수 확인 필요(DQ-005)</a:t>
            </a:r>
          </a:p>
        </p:txBody>
      </p:sp>
      <p:sp>
        <p:nvSpPr>
          <p:cNvPr id="12" name="글 05"/>
          <p:cNvSpPr txBox="1"/>
          <p:nvPr/>
        </p:nvSpPr>
        <p:spPr>
          <a:xfrm>
            <a:off x="609600" y="3159557"/>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05</a:t>
            </a:r>
          </a:p>
        </p:txBody>
      </p:sp>
      <p:sp>
        <p:nvSpPr>
          <p:cNvPr id="13" name="글 data/manifests/source-av"/>
          <p:cNvSpPr txBox="1"/>
          <p:nvPr/>
        </p:nvSpPr>
        <p:spPr>
          <a:xfrm>
            <a:off x="868680" y="3129077"/>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data/manifests/source-availability.yml(자료별 출처·시점·SHA-256) ·</a:t>
            </a:r>
            <a:br/>
            <a:r>
              <a:rPr sz="960" b="0">
                <a:solidFill>
                  <a:srgbClr val="566676"/>
                </a:solidFill>
                <a:latin typeface="Noto Sans KR"/>
                <a:ea typeface="Noto Sans KR"/>
                <a:cs typeface="Noto Sans KR"/>
              </a:rPr>
              <a:t>docs/DATA_GUIDE.md</a:t>
            </a:r>
          </a:p>
        </p:txBody>
      </p:sp>
      <p:sp>
        <p:nvSpPr>
          <p:cNvPr id="14" name="글 06"/>
          <p:cNvSpPr txBox="1"/>
          <p:nvPr/>
        </p:nvSpPr>
        <p:spPr>
          <a:xfrm>
            <a:off x="609600" y="3604565"/>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06</a:t>
            </a:r>
          </a:p>
        </p:txBody>
      </p:sp>
      <p:sp>
        <p:nvSpPr>
          <p:cNvPr id="15" name="글 data/scripts/*.py(처리 스크립"/>
          <p:cNvSpPr txBox="1"/>
          <p:nvPr/>
        </p:nvSpPr>
        <p:spPr>
          <a:xfrm>
            <a:off x="868680" y="3574085"/>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data/scripts/*.py(처리 스크립트) · backend/app/osong_repository.py ·</a:t>
            </a:r>
            <a:br/>
            <a:r>
              <a:rPr sz="960" b="0">
                <a:solidFill>
                  <a:srgbClr val="566676"/>
                </a:solidFill>
                <a:latin typeface="Noto Sans KR"/>
                <a:ea typeface="Noto Sans KR"/>
                <a:cs typeface="Noto Sans KR"/>
              </a:rPr>
              <a:t>docs/ARCHITECTURE.md</a:t>
            </a:r>
          </a:p>
        </p:txBody>
      </p:sp>
      <p:sp>
        <p:nvSpPr>
          <p:cNvPr id="16" name="글 07"/>
          <p:cNvSpPr txBox="1"/>
          <p:nvPr/>
        </p:nvSpPr>
        <p:spPr>
          <a:xfrm>
            <a:off x="609600" y="4049573"/>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07</a:t>
            </a:r>
          </a:p>
        </p:txBody>
      </p:sp>
      <p:sp>
        <p:nvSpPr>
          <p:cNvPr id="17" name="글 POST /api/events/osong-2"/>
          <p:cNvSpPr txBox="1"/>
          <p:nvPr/>
        </p:nvSpPr>
        <p:spPr>
          <a:xfrm>
            <a:off x="868680" y="4019093"/>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POST /api/events/osong-2023/analysis/closure-timing (2026-10-10 로컬 API) · 분류</a:t>
            </a:r>
            <a:br/>
            <a:r>
              <a:rPr sz="960" b="0">
                <a:solidFill>
                  <a:srgbClr val="566676"/>
                </a:solidFill>
                <a:latin typeface="Noto Sans KR"/>
                <a:ea typeface="Noto Sans KR"/>
                <a:cs typeface="Noto Sans KR"/>
              </a:rPr>
              <a:t>PREEMPTIVE_BEFORE_LEVEE_FAILURE 등은 응답 필드</a:t>
            </a:r>
          </a:p>
        </p:txBody>
      </p:sp>
      <p:sp>
        <p:nvSpPr>
          <p:cNvPr id="18" name="글 08"/>
          <p:cNvSpPr txBox="1"/>
          <p:nvPr/>
        </p:nvSpPr>
        <p:spPr>
          <a:xfrm>
            <a:off x="609600" y="4494581"/>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08</a:t>
            </a:r>
          </a:p>
        </p:txBody>
      </p:sp>
      <p:sp>
        <p:nvSpPr>
          <p:cNvPr id="19" name="글 data/processed/osong/oso"/>
          <p:cNvSpPr txBox="1"/>
          <p:nvPr/>
        </p:nvSpPr>
        <p:spPr>
          <a:xfrm>
            <a:off x="868680" y="4464101"/>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data/processed/osong/osong_hand_reconstruction_validation.json(2026-09-30 재생성)</a:t>
            </a:r>
            <a:br/>
            <a:r>
              <a:rPr sz="960" b="0">
                <a:solidFill>
                  <a:srgbClr val="566676"/>
                </a:solidFill>
                <a:latin typeface="Noto Sans KR"/>
                <a:ea typeface="Noto Sans KR"/>
                <a:cs typeface="Noto Sans KR"/>
              </a:rPr>
              <a:t>· 면적 비율은 TODO.md DQ-008 2026-10-03 재산출</a:t>
            </a:r>
          </a:p>
        </p:txBody>
      </p:sp>
      <p:sp>
        <p:nvSpPr>
          <p:cNvPr id="20" name="글 09"/>
          <p:cNvSpPr txBox="1"/>
          <p:nvPr/>
        </p:nvSpPr>
        <p:spPr>
          <a:xfrm>
            <a:off x="609600" y="4939589"/>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09</a:t>
            </a:r>
          </a:p>
        </p:txBody>
      </p:sp>
      <p:sp>
        <p:nvSpPr>
          <p:cNvPr id="21" name="글 GET /api/cases/lead-time"/>
          <p:cNvSpPr txBox="1"/>
          <p:nvPr/>
        </p:nvSpPr>
        <p:spPr>
          <a:xfrm>
            <a:off x="868680" y="4909109"/>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GET /api/cases/lead-times (2026-10-10 로컬 API) · 오송은 재구성 시각, 서울은 관측</a:t>
            </a:r>
            <a:br/>
            <a:r>
              <a:rPr sz="960" b="0">
                <a:solidFill>
                  <a:srgbClr val="566676"/>
                </a:solidFill>
                <a:latin typeface="Noto Sans KR"/>
                <a:ea typeface="Noto Sans KR"/>
                <a:cs typeface="Noto Sans KR"/>
              </a:rPr>
              <a:t>임계+보도, 포항·안동은 언론 보도 시각</a:t>
            </a:r>
          </a:p>
        </p:txBody>
      </p:sp>
      <p:sp>
        <p:nvSpPr>
          <p:cNvPr id="22" name="글 10"/>
          <p:cNvSpPr txBox="1"/>
          <p:nvPr/>
        </p:nvSpPr>
        <p:spPr>
          <a:xfrm>
            <a:off x="609600" y="5384597"/>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10</a:t>
            </a:r>
          </a:p>
        </p:txBody>
      </p:sp>
      <p:sp>
        <p:nvSpPr>
          <p:cNvPr id="23" name="글 docs/DATA_GUIDE.md 사례 표 "/>
          <p:cNvSpPr txBox="1"/>
          <p:nvPr/>
        </p:nvSpPr>
        <p:spPr>
          <a:xfrm>
            <a:off x="868680" y="5354117"/>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docs/DATA_GUIDE.md 사례 표 · docs/data-quality.md DQ-010·011·012 ·</a:t>
            </a:r>
            <a:br/>
            <a:r>
              <a:rPr sz="960" b="0">
                <a:solidFill>
                  <a:srgbClr val="566676"/>
                </a:solidFill>
                <a:latin typeface="Noto Sans KR"/>
                <a:ea typeface="Noto Sans KR"/>
                <a:cs typeface="Noto Sans KR"/>
              </a:rPr>
              <a:t>src/dark/Landing.tsx READY_EVENTS</a:t>
            </a:r>
          </a:p>
        </p:txBody>
      </p:sp>
      <p:sp>
        <p:nvSpPr>
          <p:cNvPr id="24" name="글 11"/>
          <p:cNvSpPr txBox="1"/>
          <p:nvPr/>
        </p:nvSpPr>
        <p:spPr>
          <a:xfrm>
            <a:off x="609600" y="5829605"/>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11</a:t>
            </a:r>
          </a:p>
        </p:txBody>
      </p:sp>
      <p:sp>
        <p:nvSpPr>
          <p:cNvPr id="25" name="글 docs/data-quality.md DQ-"/>
          <p:cNvSpPr txBox="1"/>
          <p:nvPr/>
        </p:nvSpPr>
        <p:spPr>
          <a:xfrm>
            <a:off x="868680" y="5799125"/>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docs/data-quality.md DQ-008·012 · backend/tests/agent_intent_cases.json(15문항) ·</a:t>
            </a:r>
            <a:br/>
            <a:r>
              <a:rPr sz="960" b="0">
                <a:solidFill>
                  <a:srgbClr val="566676"/>
                </a:solidFill>
                <a:latin typeface="Noto Sans KR"/>
                <a:ea typeface="Noto Sans KR"/>
                <a:cs typeface="Noto Sans KR"/>
              </a:rPr>
              <a:t>48.7%는 2026-10-03 AOI 클립 재산출(TODO.md)</a:t>
            </a:r>
          </a:p>
        </p:txBody>
      </p:sp>
      <p:sp>
        <p:nvSpPr>
          <p:cNvPr id="26" name="글 12"/>
          <p:cNvSpPr txBox="1"/>
          <p:nvPr/>
        </p:nvSpPr>
        <p:spPr>
          <a:xfrm>
            <a:off x="6324600" y="2001317"/>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12</a:t>
            </a:r>
          </a:p>
        </p:txBody>
      </p:sp>
      <p:sp>
        <p:nvSpPr>
          <p:cNvPr id="27" name="글 오송 관제 «출처·한계» 탭 · 2026-1"/>
          <p:cNvSpPr txBox="1"/>
          <p:nvPr/>
        </p:nvSpPr>
        <p:spPr>
          <a:xfrm>
            <a:off x="6583680" y="1970837"/>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오송 관제 «출처·한계» 탭 · 2026-10-10 로컬 캡처(1600×1000) · Playwright E2E가</a:t>
            </a:r>
            <a:br/>
            <a:r>
              <a:rPr sz="960" b="0">
                <a:solidFill>
                  <a:srgbClr val="566676"/>
                </a:solidFill>
                <a:latin typeface="Noto Sans KR"/>
                <a:ea typeface="Noto Sans KR"/>
                <a:cs typeface="Noto Sans KR"/>
              </a:rPr>
              <a:t>출처·시점·역할·한계 표시를 검사</a:t>
            </a:r>
          </a:p>
        </p:txBody>
      </p:sp>
      <p:sp>
        <p:nvSpPr>
          <p:cNvPr id="28" name="글 13"/>
          <p:cNvSpPr txBox="1"/>
          <p:nvPr/>
        </p:nvSpPr>
        <p:spPr>
          <a:xfrm>
            <a:off x="6324600" y="2446325"/>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13</a:t>
            </a:r>
          </a:p>
        </p:txBody>
      </p:sp>
      <p:sp>
        <p:nvSpPr>
          <p:cNvPr id="29" name="글 backend/app/agent_tools."/>
          <p:cNvSpPr txBox="1"/>
          <p:nvPr/>
        </p:nvSpPr>
        <p:spPr>
          <a:xfrm>
            <a:off x="6583680" y="2415845"/>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backend/app/agent_tools.py · agent_cases.py · agent_runner.py · GET</a:t>
            </a:r>
            <a:br/>
            <a:r>
              <a:rPr sz="960" b="0">
                <a:solidFill>
                  <a:srgbClr val="566676"/>
                </a:solidFill>
                <a:latin typeface="Noto Sans KR"/>
                <a:ea typeface="Noto Sans KR"/>
                <a:cs typeface="Noto Sans KR"/>
              </a:rPr>
              <a:t>/api/agent/examples?event_id=pohang-2022 (2026-10-10) · 평가셋 15문항</a:t>
            </a:r>
          </a:p>
        </p:txBody>
      </p:sp>
      <p:sp>
        <p:nvSpPr>
          <p:cNvPr id="30" name="글 14"/>
          <p:cNvSpPr txBox="1"/>
          <p:nvPr/>
        </p:nvSpPr>
        <p:spPr>
          <a:xfrm>
            <a:off x="6324600" y="2891333"/>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14</a:t>
            </a:r>
          </a:p>
        </p:txBody>
      </p:sp>
      <p:sp>
        <p:nvSpPr>
          <p:cNvPr id="31" name="글 docs/DEPLOY_AWS.md(2026-"/>
          <p:cNvSpPr txBox="1"/>
          <p:nvPr/>
        </p:nvSpPr>
        <p:spPr>
          <a:xfrm>
            <a:off x="6583680" y="2860853"/>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docs/DEPLOY_AWS.md(2026-10-01 배포, 2026-10-09 재배포 체크리스트) ·</a:t>
            </a:r>
            <a:br/>
            <a:r>
              <a:rPr sz="960" b="0">
                <a:solidFill>
                  <a:srgbClr val="566676"/>
                </a:solidFill>
                <a:latin typeface="Noto Sans KR"/>
                <a:ea typeface="Noto Sans KR"/>
                <a:cs typeface="Noto Sans KR"/>
              </a:rPr>
              <a:t>backend/app/layer_payload.py · 공개 /health: backend ok, database demo-in-memory</a:t>
            </a:r>
          </a:p>
        </p:txBody>
      </p:sp>
      <p:sp>
        <p:nvSpPr>
          <p:cNvPr id="32" name="글 15"/>
          <p:cNvSpPr txBox="1"/>
          <p:nvPr/>
        </p:nvSpPr>
        <p:spPr>
          <a:xfrm>
            <a:off x="6324600" y="3336341"/>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15</a:t>
            </a:r>
          </a:p>
        </p:txBody>
      </p:sp>
      <p:sp>
        <p:nvSpPr>
          <p:cNvPr id="33" name="글 오송 관제 화면 · 08:27 지하차도 유입"/>
          <p:cNvSpPr txBox="1"/>
          <p:nvPr/>
        </p:nvSpPr>
        <p:spPr>
          <a:xfrm>
            <a:off x="6583680" y="3305861"/>
            <a:ext cx="5374843" cy="213360"/>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오송 관제 화면 · 08:27 지하차도 유입 단계 · 2026-10-10 로컬 캡처</a:t>
            </a:r>
          </a:p>
        </p:txBody>
      </p:sp>
      <p:sp>
        <p:nvSpPr>
          <p:cNvPr id="34" name="글 16"/>
          <p:cNvSpPr txBox="1"/>
          <p:nvPr/>
        </p:nvSpPr>
        <p:spPr>
          <a:xfrm>
            <a:off x="6324600" y="3604565"/>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16</a:t>
            </a:r>
          </a:p>
        </p:txBody>
      </p:sp>
      <p:sp>
        <p:nvSpPr>
          <p:cNvPr id="35" name="글 오송 시나리오 비교 · 08:09 통제 가정"/>
          <p:cNvSpPr txBox="1"/>
          <p:nvPr/>
        </p:nvSpPr>
        <p:spPr>
          <a:xfrm>
            <a:off x="6583680" y="3574085"/>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오송 시나리오 비교 · 08:09 통제 가정 · 2026-10-10 로컬 캡처 · Playwright E2E가 «18분 전»과</a:t>
            </a:r>
            <a:br/>
            <a:r>
              <a:rPr sz="960" b="0">
                <a:solidFill>
                  <a:srgbClr val="566676"/>
                </a:solidFill>
                <a:latin typeface="Noto Sans KR"/>
                <a:ea typeface="Noto Sans KR"/>
                <a:cs typeface="Noto Sans KR"/>
              </a:rPr>
              <a:t>한계 문구를 검사</a:t>
            </a:r>
          </a:p>
        </p:txBody>
      </p:sp>
      <p:sp>
        <p:nvSpPr>
          <p:cNvPr id="36" name="글 17"/>
          <p:cNvSpPr txBox="1"/>
          <p:nvPr/>
        </p:nvSpPr>
        <p:spPr>
          <a:xfrm>
            <a:off x="6324600" y="4049573"/>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17</a:t>
            </a:r>
          </a:p>
        </p:txBody>
      </p:sp>
      <p:sp>
        <p:nvSpPr>
          <p:cNvPr id="37" name="글 서울 20:59 · 포항 06:45 · 안동"/>
          <p:cNvSpPr txBox="1"/>
          <p:nvPr/>
        </p:nvSpPr>
        <p:spPr>
          <a:xfrm>
            <a:off x="6583680" y="4019093"/>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서울 20:59 · 포항 06:45 · 안동 00:30 단계 · 2026-10-10 로컬 캡처 · 셀 수는</a:t>
            </a:r>
            <a:br/>
            <a:r>
              <a:rPr sz="960" b="0">
                <a:solidFill>
                  <a:srgbClr val="566676"/>
                </a:solidFill>
                <a:latin typeface="Noto Sans KR"/>
                <a:ea typeface="Noto Sans KR"/>
                <a:cs typeface="Noto Sans KR"/>
              </a:rPr>
              <a:t>docs/data-quality.md DQ-012</a:t>
            </a:r>
          </a:p>
        </p:txBody>
      </p:sp>
      <p:sp>
        <p:nvSpPr>
          <p:cNvPr id="38" name="글 18"/>
          <p:cNvSpPr txBox="1"/>
          <p:nvPr/>
        </p:nvSpPr>
        <p:spPr>
          <a:xfrm>
            <a:off x="6324600" y="4494581"/>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18</a:t>
            </a:r>
          </a:p>
        </p:txBody>
      </p:sp>
      <p:sp>
        <p:nvSpPr>
          <p:cNvPr id="39" name="글 제출 상세기획서의 주사용자 정의 · docs"/>
          <p:cNvSpPr txBox="1"/>
          <p:nvPr/>
        </p:nvSpPr>
        <p:spPr>
          <a:xfrm>
            <a:off x="6583680" y="4464101"/>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제출 상세기획서의 주사용자 정의 · docs/MARKET_VALIDATION.md(인터뷰·파일럿 계획,</a:t>
            </a:r>
            <a:br/>
            <a:r>
              <a:rPr sz="960" b="0">
                <a:solidFill>
                  <a:srgbClr val="566676"/>
                </a:solidFill>
                <a:latin typeface="Noto Sans KR"/>
                <a:ea typeface="Noto Sans KR"/>
                <a:cs typeface="Noto Sans KR"/>
              </a:rPr>
              <a:t>미실행)</a:t>
            </a:r>
          </a:p>
        </p:txBody>
      </p:sp>
      <p:sp>
        <p:nvSpPr>
          <p:cNvPr id="40" name="글 19"/>
          <p:cNvSpPr txBox="1"/>
          <p:nvPr/>
        </p:nvSpPr>
        <p:spPr>
          <a:xfrm>
            <a:off x="6324600" y="4939589"/>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19</a:t>
            </a:r>
          </a:p>
        </p:txBody>
      </p:sp>
      <p:sp>
        <p:nvSpPr>
          <p:cNvPr id="41" name="글 python -m pytest backend"/>
          <p:cNvSpPr txBox="1"/>
          <p:nvPr/>
        </p:nvSpPr>
        <p:spPr>
          <a:xfrm>
            <a:off x="6583680" y="4909109"/>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python -m pytest backend/tests -q 154 passed · npx playwright test 9 passed · npm run</a:t>
            </a:r>
            <a:br/>
            <a:r>
              <a:rPr sz="960" b="0">
                <a:solidFill>
                  <a:srgbClr val="566676"/>
                </a:solidFill>
                <a:latin typeface="Noto Sans KR"/>
                <a:ea typeface="Noto Sans KR"/>
                <a:cs typeface="Noto Sans KR"/>
              </a:rPr>
              <a:t>build 통과 (2026-10-10) · 공개 /health backend ok</a:t>
            </a:r>
          </a:p>
        </p:txBody>
      </p:sp>
      <p:sp>
        <p:nvSpPr>
          <p:cNvPr id="42" name="글 20"/>
          <p:cNvSpPr txBox="1"/>
          <p:nvPr/>
        </p:nvSpPr>
        <p:spPr>
          <a:xfrm>
            <a:off x="6324600" y="5384597"/>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20</a:t>
            </a:r>
          </a:p>
        </p:txBody>
      </p:sp>
      <p:sp>
        <p:nvSpPr>
          <p:cNvPr id="43" name="글 data/manifests/source-av"/>
          <p:cNvSpPr txBox="1"/>
          <p:nvPr/>
        </p:nvSpPr>
        <p:spPr>
          <a:xfrm>
            <a:off x="6583680" y="5354117"/>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data/manifests/source-availability.yml · docs/data-quality.md · AGENTS.md ·</a:t>
            </a:r>
            <a:br/>
            <a:r>
              <a:rPr sz="960" b="0">
                <a:solidFill>
                  <a:srgbClr val="566676"/>
                </a:solidFill>
                <a:latin typeface="Noto Sans KR"/>
                <a:ea typeface="Noto Sans KR"/>
                <a:cs typeface="Noto Sans KR"/>
              </a:rPr>
              <a:t>WORKLOG.md</a:t>
            </a:r>
          </a:p>
        </p:txBody>
      </p:sp>
      <p:sp>
        <p:nvSpPr>
          <p:cNvPr id="44" name="글 21"/>
          <p:cNvSpPr txBox="1"/>
          <p:nvPr/>
        </p:nvSpPr>
        <p:spPr>
          <a:xfrm>
            <a:off x="6324600" y="5829605"/>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21</a:t>
            </a:r>
          </a:p>
        </p:txBody>
      </p:sp>
      <p:sp>
        <p:nvSpPr>
          <p:cNvPr id="45" name="글 backend/app/timeline_cas"/>
          <p:cNvSpPr txBox="1"/>
          <p:nvPr/>
        </p:nvSpPr>
        <p:spPr>
          <a:xfrm>
            <a:off x="6583680" y="5799125"/>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backend/app/timeline_cases.py · agent_cases.py · data/manifests/event-catalog.yml ·</a:t>
            </a:r>
            <a:br/>
            <a:r>
              <a:rPr sz="960" b="0">
                <a:solidFill>
                  <a:srgbClr val="566676"/>
                </a:solidFill>
                <a:latin typeface="Noto Sans KR"/>
                <a:ea typeface="Noto Sans KR"/>
                <a:cs typeface="Noto Sans KR"/>
              </a:rPr>
              <a:t>TODO.md(2026-10-03 사례 확장 기록)</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FloodOps — 과거 홍수를 재생하고 대응 시점을 비교하는 디지털 트윈</dc:title>
  <dc:subject>FloodOps 최종발표</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